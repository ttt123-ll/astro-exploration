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me-final.png"/>
          <p:cNvPicPr>
            <a:picLocks noChangeAspect="1"/>
          </p:cNvPicPr>
          <p:nvPr/>
        </p:nvPicPr>
        <p:blipFill>
          <a:blip r:embed="rId2"/>
          <a:srcRect t="4999" b="49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>
              <a:alpha val="56000"/>
            </a:srgbClr>
          </a:solidFill>
          <a:ln>
            <a:solidFill>
              <a:srgbClr val="071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629400" cy="6858000"/>
          </a:xfrm>
          <a:prstGeom prst="rect">
            <a:avLst/>
          </a:prstGeom>
          <a:solidFill>
            <a:srgbClr val="07111F"/>
          </a:solidFill>
          <a:ln>
            <a:solidFill>
              <a:srgbClr val="071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621792"/>
            <a:ext cx="5074920" cy="292608"/>
          </a:xfrm>
          <a:prstGeom prst="roundRect">
            <a:avLst>
              <a:gd name="adj" fmla="val 10000"/>
            </a:avLst>
          </a:prstGeom>
          <a:solidFill>
            <a:srgbClr val="1026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653796"/>
            <a:ext cx="492861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传智杯 AI WEB 网页开发挑战赛（RAG 知识问答方向）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55778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>
                <a:solidFill>
                  <a:srgbClr val="F2F6FF"/>
                </a:solidFill>
                <a:latin typeface="Microsoft YaHei"/>
              </a:rPr>
              <a:t>宇宙探索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536192"/>
            <a:ext cx="256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39696"/>
            <a:ext cx="6126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>
                <a:solidFill>
                  <a:srgbClr val="F2F6FF"/>
                </a:solidFill>
                <a:latin typeface="Microsoft YaHei"/>
              </a:rPr>
              <a:t>天文科普网站系统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953512"/>
            <a:ext cx="1143000" cy="0"/>
          </a:xfrm>
          <a:prstGeom prst="line">
            <a:avLst/>
          </a:prstGeom>
          <a:ln w="31750">
            <a:solidFill>
              <a:srgbClr val="79C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6656" y="32004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>
                <a:solidFill>
                  <a:srgbClr val="F2F6FF"/>
                </a:solidFill>
                <a:latin typeface="Microsoft YaHei"/>
              </a:rPr>
              <a:t>AI Native 天文科普平台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21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>
                <a:solidFill>
                  <a:srgbClr val="A8B8CE"/>
                </a:solidFill>
                <a:latin typeface="Microsoft YaHei"/>
              </a:rPr>
              <a:t>（RAG + Function Calling + 3D）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3672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项目 3 分钟　·　AI 技术 3 分钟　·　工程与总结 2 分钟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910328"/>
            <a:ext cx="5138928" cy="841248"/>
          </a:xfrm>
          <a:prstGeom prst="roundRect">
            <a:avLst>
              <a:gd name="adj" fmla="val 10000"/>
            </a:avLst>
          </a:prstGeom>
          <a:solidFill>
            <a:srgbClr val="101D2D">
              <a:alpha val="57000"/>
            </a:srgbClr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509320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团队：唐乐乐、张妍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43153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A8B8CE"/>
                </a:solidFill>
                <a:latin typeface="Microsoft YaHei"/>
              </a:rPr>
              <a:t>指导教师：隋雪莉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96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00" b="1">
                <a:solidFill>
                  <a:srgbClr val="F2F6FF"/>
                </a:solidFill>
                <a:latin typeface="Microsoft YaHei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30579" y="6349920"/>
            <a:ext cx="16459" cy="16459"/>
          </a:xfrm>
          <a:prstGeom prst="ellipse">
            <a:avLst/>
          </a:prstGeom>
          <a:solidFill>
            <a:srgbClr val="79C7FF">
              <a:alpha val="4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40017" y="1222920"/>
            <a:ext cx="27432" cy="27432"/>
          </a:xfrm>
          <a:prstGeom prst="ellipse">
            <a:avLst/>
          </a:prstGeom>
          <a:solidFill>
            <a:srgbClr val="9A8BFF">
              <a:alpha val="7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66251" y="344992"/>
            <a:ext cx="21945" cy="21945"/>
          </a:xfrm>
          <a:prstGeom prst="ellipse">
            <a:avLst/>
          </a:prstGeom>
          <a:solidFill>
            <a:srgbClr val="9A8BFF">
              <a:alpha val="7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27026" y="4869808"/>
            <a:ext cx="27432" cy="27432"/>
          </a:xfrm>
          <a:prstGeom prst="ellipse">
            <a:avLst/>
          </a:prstGeom>
          <a:solidFill>
            <a:srgbClr val="D9E8FF">
              <a:alpha val="9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38654" y="1875739"/>
            <a:ext cx="16459" cy="16459"/>
          </a:xfrm>
          <a:prstGeom prst="ellipse">
            <a:avLst/>
          </a:prstGeom>
          <a:solidFill>
            <a:srgbClr val="79C7FF">
              <a:alpha val="5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77474" y="2206400"/>
            <a:ext cx="36576" cy="36576"/>
          </a:xfrm>
          <a:prstGeom prst="ellipse">
            <a:avLst/>
          </a:prstGeom>
          <a:solidFill>
            <a:srgbClr val="9A8BFF">
              <a:alpha val="9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72889" y="1192667"/>
            <a:ext cx="21945" cy="21945"/>
          </a:xfrm>
          <a:prstGeom prst="ellipse">
            <a:avLst/>
          </a:prstGeom>
          <a:solidFill>
            <a:srgbClr val="79C7FF">
              <a:alpha val="4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1485" y="2250364"/>
            <a:ext cx="21945" cy="21945"/>
          </a:xfrm>
          <a:prstGeom prst="ellipse">
            <a:avLst/>
          </a:prstGeom>
          <a:solidFill>
            <a:srgbClr val="D9E8FF">
              <a:alpha val="6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23737" y="3492010"/>
            <a:ext cx="21945" cy="21945"/>
          </a:xfrm>
          <a:prstGeom prst="ellipse">
            <a:avLst/>
          </a:prstGeom>
          <a:solidFill>
            <a:srgbClr val="9A8BFF">
              <a:alpha val="8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78949" y="3568567"/>
            <a:ext cx="27432" cy="27432"/>
          </a:xfrm>
          <a:prstGeom prst="ellipse">
            <a:avLst/>
          </a:prstGeom>
          <a:solidFill>
            <a:srgbClr val="D9E8FF">
              <a:alpha val="5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49895" y="5764890"/>
            <a:ext cx="36576" cy="36576"/>
          </a:xfrm>
          <a:prstGeom prst="ellipse">
            <a:avLst/>
          </a:prstGeom>
          <a:solidFill>
            <a:srgbClr val="79C7FF">
              <a:alpha val="8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02483" y="4972369"/>
            <a:ext cx="21945" cy="21945"/>
          </a:xfrm>
          <a:prstGeom prst="ellipse">
            <a:avLst/>
          </a:prstGeom>
          <a:solidFill>
            <a:srgbClr val="9A8BFF">
              <a:alpha val="5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58730" y="3407105"/>
            <a:ext cx="27432" cy="27432"/>
          </a:xfrm>
          <a:prstGeom prst="ellipse">
            <a:avLst/>
          </a:prstGeom>
          <a:solidFill>
            <a:srgbClr val="D9E8FF">
              <a:alpha val="9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55856" y="6055954"/>
            <a:ext cx="27432" cy="27432"/>
          </a:xfrm>
          <a:prstGeom prst="ellipse">
            <a:avLst/>
          </a:prstGeom>
          <a:solidFill>
            <a:srgbClr val="D9E8FF">
              <a:alpha val="8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05083" y="4874817"/>
            <a:ext cx="36576" cy="36576"/>
          </a:xfrm>
          <a:prstGeom prst="ellipse">
            <a:avLst/>
          </a:prstGeom>
          <a:solidFill>
            <a:srgbClr val="D9E8FF">
              <a:alpha val="4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46601" y="5473344"/>
            <a:ext cx="21945" cy="21945"/>
          </a:xfrm>
          <a:prstGeom prst="ellipse">
            <a:avLst/>
          </a:prstGeom>
          <a:solidFill>
            <a:srgbClr val="D9E8FF">
              <a:alpha val="5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9101" y="3268354"/>
            <a:ext cx="27432" cy="27432"/>
          </a:xfrm>
          <a:prstGeom prst="ellipse">
            <a:avLst/>
          </a:prstGeom>
          <a:solidFill>
            <a:srgbClr val="D9E8FF">
              <a:alpha val="8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46482" y="3518413"/>
            <a:ext cx="36576" cy="36576"/>
          </a:xfrm>
          <a:prstGeom prst="ellipse">
            <a:avLst/>
          </a:prstGeom>
          <a:solidFill>
            <a:srgbClr val="9A8BFF">
              <a:alpha val="8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13810" y="3479858"/>
            <a:ext cx="16459" cy="16459"/>
          </a:xfrm>
          <a:prstGeom prst="ellipse">
            <a:avLst/>
          </a:prstGeom>
          <a:solidFill>
            <a:srgbClr val="9A8BFF">
              <a:alpha val="8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37526" y="5475818"/>
            <a:ext cx="16459" cy="16459"/>
          </a:xfrm>
          <a:prstGeom prst="ellipse">
            <a:avLst/>
          </a:prstGeom>
          <a:solidFill>
            <a:srgbClr val="79C7FF">
              <a:alpha val="7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18132" y="1907729"/>
            <a:ext cx="21945" cy="21945"/>
          </a:xfrm>
          <a:prstGeom prst="ellipse">
            <a:avLst/>
          </a:prstGeom>
          <a:solidFill>
            <a:srgbClr val="D9E8FF">
              <a:alpha val="9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51580" y="5076257"/>
            <a:ext cx="21945" cy="21945"/>
          </a:xfrm>
          <a:prstGeom prst="ellipse">
            <a:avLst/>
          </a:prstGeom>
          <a:solidFill>
            <a:srgbClr val="9A8BFF">
              <a:alpha val="5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65985" y="6321963"/>
            <a:ext cx="16459" cy="16459"/>
          </a:xfrm>
          <a:prstGeom prst="ellipse">
            <a:avLst/>
          </a:prstGeom>
          <a:solidFill>
            <a:srgbClr val="9A8BFF">
              <a:alpha val="9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1454" y="319570"/>
            <a:ext cx="27432" cy="27432"/>
          </a:xfrm>
          <a:prstGeom prst="ellipse">
            <a:avLst/>
          </a:prstGeom>
          <a:solidFill>
            <a:srgbClr val="9A8BFF">
              <a:alpha val="4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110565" y="264067"/>
            <a:ext cx="16459" cy="16459"/>
          </a:xfrm>
          <a:prstGeom prst="ellipse">
            <a:avLst/>
          </a:prstGeom>
          <a:solidFill>
            <a:srgbClr val="79C7FF">
              <a:alpha val="3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4277" y="6157694"/>
            <a:ext cx="27432" cy="27432"/>
          </a:xfrm>
          <a:prstGeom prst="ellipse">
            <a:avLst/>
          </a:prstGeom>
          <a:solidFill>
            <a:srgbClr val="9A8BFF">
              <a:alpha val="4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30209" y="1144144"/>
            <a:ext cx="21945" cy="21945"/>
          </a:xfrm>
          <a:prstGeom prst="ellipse">
            <a:avLst/>
          </a:prstGeom>
          <a:solidFill>
            <a:srgbClr val="D9E8FF">
              <a:alpha val="7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60235" y="3990532"/>
            <a:ext cx="21945" cy="21945"/>
          </a:xfrm>
          <a:prstGeom prst="ellipse">
            <a:avLst/>
          </a:prstGeom>
          <a:solidFill>
            <a:srgbClr val="79C7FF">
              <a:alpha val="3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7166" y="6288274"/>
            <a:ext cx="16459" cy="16459"/>
          </a:xfrm>
          <a:prstGeom prst="ellipse">
            <a:avLst/>
          </a:prstGeom>
          <a:solidFill>
            <a:srgbClr val="9A8BFF">
              <a:alpha val="5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61908" y="2140040"/>
            <a:ext cx="16459" cy="16459"/>
          </a:xfrm>
          <a:prstGeom prst="ellipse">
            <a:avLst/>
          </a:prstGeom>
          <a:solidFill>
            <a:srgbClr val="9A8BFF">
              <a:alpha val="8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26204" y="4202111"/>
            <a:ext cx="21945" cy="21945"/>
          </a:xfrm>
          <a:prstGeom prst="ellipse">
            <a:avLst/>
          </a:prstGeom>
          <a:solidFill>
            <a:srgbClr val="9A8BFF">
              <a:alpha val="4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50882" y="4635319"/>
            <a:ext cx="16459" cy="16459"/>
          </a:xfrm>
          <a:prstGeom prst="ellipse">
            <a:avLst/>
          </a:prstGeom>
          <a:solidFill>
            <a:srgbClr val="79C7FF">
              <a:alpha val="6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532929" y="6351677"/>
            <a:ext cx="36576" cy="36576"/>
          </a:xfrm>
          <a:prstGeom prst="ellipse">
            <a:avLst/>
          </a:prstGeom>
          <a:solidFill>
            <a:srgbClr val="9A8BFF">
              <a:alpha val="6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045592" y="5866782"/>
            <a:ext cx="27432" cy="27432"/>
          </a:xfrm>
          <a:prstGeom prst="ellipse">
            <a:avLst/>
          </a:prstGeom>
          <a:solidFill>
            <a:srgbClr val="9A8BFF">
              <a:alpha val="5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60018" y="2873264"/>
            <a:ext cx="16459" cy="16459"/>
          </a:xfrm>
          <a:prstGeom prst="ellipse">
            <a:avLst/>
          </a:prstGeom>
          <a:solidFill>
            <a:srgbClr val="D9E8FF">
              <a:alpha val="7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565922" y="4524488"/>
            <a:ext cx="27432" cy="27432"/>
          </a:xfrm>
          <a:prstGeom prst="ellipse">
            <a:avLst/>
          </a:prstGeom>
          <a:solidFill>
            <a:srgbClr val="79C7FF">
              <a:alpha val="4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057823" y="740918"/>
            <a:ext cx="21945" cy="21945"/>
          </a:xfrm>
          <a:prstGeom prst="ellipse">
            <a:avLst/>
          </a:prstGeom>
          <a:solidFill>
            <a:srgbClr val="D9E8FF">
              <a:alpha val="9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857494" y="6259743"/>
            <a:ext cx="21945" cy="21945"/>
          </a:xfrm>
          <a:prstGeom prst="ellipse">
            <a:avLst/>
          </a:prstGeom>
          <a:solidFill>
            <a:srgbClr val="79C7FF">
              <a:alpha val="8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机会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问题与机会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87782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1700784"/>
            <a:ext cx="3493008" cy="202996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86384" y="1984248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1901952"/>
            <a:ext cx="2798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内容分散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8" y="2395728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2F6FF"/>
                </a:solidFill>
                <a:latin typeface="Microsoft YaHei"/>
              </a:rPr>
              <a:t>天文内容分散（百科/图集/视频/新闻），用户难以按问题组织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34256" y="1700784"/>
            <a:ext cx="3493008" cy="202996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53712" y="1984248"/>
            <a:ext cx="82296" cy="82296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27448" y="1901952"/>
            <a:ext cx="2798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准确性要求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62856" y="2395728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2F6FF"/>
                </a:solidFill>
                <a:latin typeface="Microsoft YaHei"/>
              </a:rPr>
              <a:t>通用大模型在垂直领域易编造，科普对准确性要求高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01583" y="1700784"/>
            <a:ext cx="3493008" cy="202996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21040" y="1984248"/>
            <a:ext cx="82296" cy="82296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94776" y="1901952"/>
            <a:ext cx="2798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产品机会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30183" y="2395728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2F6FF"/>
                </a:solidFill>
                <a:latin typeface="Microsoft YaHei"/>
              </a:rPr>
              <a:t>内容体系 + 可溯源问答 + 3D 互动 + 断网可用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4078224"/>
            <a:ext cx="11137392" cy="1298448"/>
          </a:xfrm>
          <a:prstGeom prst="roundRect">
            <a:avLst>
              <a:gd name="adj" fmla="val 10000"/>
            </a:avLst>
          </a:prstGeom>
          <a:solidFill>
            <a:srgbClr val="10213A"/>
          </a:solidFill>
          <a:ln>
            <a:solidFill>
              <a:srgbClr val="345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" y="4334256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A8B8CE"/>
                </a:solidFill>
                <a:latin typeface="Microsoft YaHei"/>
              </a:rPr>
              <a:t>让天文知识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16352" y="4251960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「看得见、问得清、查得到」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973073" y="3692759"/>
            <a:ext cx="27432" cy="27432"/>
          </a:xfrm>
          <a:prstGeom prst="ellipse">
            <a:avLst/>
          </a:prstGeom>
          <a:solidFill>
            <a:srgbClr val="D9E8FF">
              <a:alpha val="6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94103" y="541149"/>
            <a:ext cx="16459" cy="16459"/>
          </a:xfrm>
          <a:prstGeom prst="ellipse">
            <a:avLst/>
          </a:prstGeom>
          <a:solidFill>
            <a:srgbClr val="9A8BFF">
              <a:alpha val="5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701067" y="1372109"/>
            <a:ext cx="36576" cy="36576"/>
          </a:xfrm>
          <a:prstGeom prst="ellipse">
            <a:avLst/>
          </a:prstGeom>
          <a:solidFill>
            <a:srgbClr val="D9E8FF">
              <a:alpha val="8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87320" y="2724334"/>
            <a:ext cx="21945" cy="21945"/>
          </a:xfrm>
          <a:prstGeom prst="ellipse">
            <a:avLst/>
          </a:prstGeom>
          <a:solidFill>
            <a:srgbClr val="79C7FF">
              <a:alpha val="7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4100" y="6205132"/>
            <a:ext cx="36576" cy="36576"/>
          </a:xfrm>
          <a:prstGeom prst="ellipse">
            <a:avLst/>
          </a:prstGeom>
          <a:solidFill>
            <a:srgbClr val="D9E8FF">
              <a:alpha val="3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38622" y="531290"/>
            <a:ext cx="16459" cy="16459"/>
          </a:xfrm>
          <a:prstGeom prst="ellipse">
            <a:avLst/>
          </a:prstGeom>
          <a:solidFill>
            <a:srgbClr val="9A8BFF">
              <a:alpha val="8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6738" y="5808082"/>
            <a:ext cx="36576" cy="36576"/>
          </a:xfrm>
          <a:prstGeom prst="ellipse">
            <a:avLst/>
          </a:prstGeom>
          <a:solidFill>
            <a:srgbClr val="D9E8FF">
              <a:alpha val="8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03011" y="2661618"/>
            <a:ext cx="36576" cy="36576"/>
          </a:xfrm>
          <a:prstGeom prst="ellipse">
            <a:avLst/>
          </a:prstGeom>
          <a:solidFill>
            <a:srgbClr val="9A8BFF">
              <a:alpha val="8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81890" y="3036970"/>
            <a:ext cx="21945" cy="21945"/>
          </a:xfrm>
          <a:prstGeom prst="ellipse">
            <a:avLst/>
          </a:prstGeom>
          <a:solidFill>
            <a:srgbClr val="9A8BFF">
              <a:alpha val="4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4834" y="3367882"/>
            <a:ext cx="27432" cy="27432"/>
          </a:xfrm>
          <a:prstGeom prst="ellipse">
            <a:avLst/>
          </a:prstGeom>
          <a:solidFill>
            <a:srgbClr val="D9E8FF">
              <a:alpha val="6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0468" y="5740259"/>
            <a:ext cx="36576" cy="36576"/>
          </a:xfrm>
          <a:prstGeom prst="ellipse">
            <a:avLst/>
          </a:prstGeom>
          <a:solidFill>
            <a:srgbClr val="D9E8FF">
              <a:alpha val="8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35672" y="2420010"/>
            <a:ext cx="36576" cy="36576"/>
          </a:xfrm>
          <a:prstGeom prst="ellipse">
            <a:avLst/>
          </a:prstGeom>
          <a:solidFill>
            <a:srgbClr val="D9E8FF">
              <a:alpha val="4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12871" y="4599680"/>
            <a:ext cx="16459" cy="16459"/>
          </a:xfrm>
          <a:prstGeom prst="ellipse">
            <a:avLst/>
          </a:prstGeom>
          <a:solidFill>
            <a:srgbClr val="9A8BFF">
              <a:alpha val="7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36978" y="1183523"/>
            <a:ext cx="27432" cy="27432"/>
          </a:xfrm>
          <a:prstGeom prst="ellipse">
            <a:avLst/>
          </a:prstGeom>
          <a:solidFill>
            <a:srgbClr val="D9E8FF">
              <a:alpha val="9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53369" y="794929"/>
            <a:ext cx="21945" cy="21945"/>
          </a:xfrm>
          <a:prstGeom prst="ellipse">
            <a:avLst/>
          </a:prstGeom>
          <a:solidFill>
            <a:srgbClr val="D9E8FF">
              <a:alpha val="8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912385" y="1868129"/>
            <a:ext cx="16459" cy="16459"/>
          </a:xfrm>
          <a:prstGeom prst="ellipse">
            <a:avLst/>
          </a:prstGeom>
          <a:solidFill>
            <a:srgbClr val="79C7FF">
              <a:alpha val="6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13913" y="6626294"/>
            <a:ext cx="16459" cy="16459"/>
          </a:xfrm>
          <a:prstGeom prst="ellipse">
            <a:avLst/>
          </a:prstGeom>
          <a:solidFill>
            <a:srgbClr val="9A8BFF">
              <a:alpha val="8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1000" y="6015922"/>
            <a:ext cx="16459" cy="16459"/>
          </a:xfrm>
          <a:prstGeom prst="ellipse">
            <a:avLst/>
          </a:prstGeom>
          <a:solidFill>
            <a:srgbClr val="9A8BFF">
              <a:alpha val="6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99141" y="5855746"/>
            <a:ext cx="16459" cy="16459"/>
          </a:xfrm>
          <a:prstGeom prst="ellipse">
            <a:avLst/>
          </a:prstGeom>
          <a:solidFill>
            <a:srgbClr val="D9E8FF">
              <a:alpha val="7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13844" y="2597073"/>
            <a:ext cx="27432" cy="27432"/>
          </a:xfrm>
          <a:prstGeom prst="ellipse">
            <a:avLst/>
          </a:prstGeom>
          <a:solidFill>
            <a:srgbClr val="D9E8FF">
              <a:alpha val="9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23577" y="1947058"/>
            <a:ext cx="21945" cy="21945"/>
          </a:xfrm>
          <a:prstGeom prst="ellipse">
            <a:avLst/>
          </a:prstGeom>
          <a:solidFill>
            <a:srgbClr val="79C7FF">
              <a:alpha val="5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3355" y="821550"/>
            <a:ext cx="16459" cy="16459"/>
          </a:xfrm>
          <a:prstGeom prst="ellipse">
            <a:avLst/>
          </a:prstGeom>
          <a:solidFill>
            <a:srgbClr val="79C7FF">
              <a:alpha val="6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12414" y="1843692"/>
            <a:ext cx="16459" cy="16459"/>
          </a:xfrm>
          <a:prstGeom prst="ellipse">
            <a:avLst/>
          </a:prstGeom>
          <a:solidFill>
            <a:srgbClr val="9A8BFF">
              <a:alpha val="5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29757" y="1020422"/>
            <a:ext cx="36576" cy="36576"/>
          </a:xfrm>
          <a:prstGeom prst="ellipse">
            <a:avLst/>
          </a:prstGeom>
          <a:solidFill>
            <a:srgbClr val="9A8BFF">
              <a:alpha val="6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03983" y="2652298"/>
            <a:ext cx="16459" cy="16459"/>
          </a:xfrm>
          <a:prstGeom prst="ellipse">
            <a:avLst/>
          </a:prstGeom>
          <a:solidFill>
            <a:srgbClr val="D9E8FF">
              <a:alpha val="9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8253" y="1895884"/>
            <a:ext cx="21945" cy="21945"/>
          </a:xfrm>
          <a:prstGeom prst="ellipse">
            <a:avLst/>
          </a:prstGeom>
          <a:solidFill>
            <a:srgbClr val="9A8BFF">
              <a:alpha val="6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789937" y="3540663"/>
            <a:ext cx="27432" cy="27432"/>
          </a:xfrm>
          <a:prstGeom prst="ellipse">
            <a:avLst/>
          </a:prstGeom>
          <a:solidFill>
            <a:srgbClr val="79C7FF">
              <a:alpha val="8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85377" y="3928033"/>
            <a:ext cx="16459" cy="16459"/>
          </a:xfrm>
          <a:prstGeom prst="ellipse">
            <a:avLst/>
          </a:prstGeom>
          <a:solidFill>
            <a:srgbClr val="9A8BFF">
              <a:alpha val="7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58914" y="987124"/>
            <a:ext cx="27432" cy="27432"/>
          </a:xfrm>
          <a:prstGeom prst="ellipse">
            <a:avLst/>
          </a:prstGeom>
          <a:solidFill>
            <a:srgbClr val="9A8BFF">
              <a:alpha val="5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32411" y="2430982"/>
            <a:ext cx="27432" cy="27432"/>
          </a:xfrm>
          <a:prstGeom prst="ellipse">
            <a:avLst/>
          </a:prstGeom>
          <a:solidFill>
            <a:srgbClr val="D9E8FF">
              <a:alpha val="6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01516" y="508546"/>
            <a:ext cx="16459" cy="16459"/>
          </a:xfrm>
          <a:prstGeom prst="ellipse">
            <a:avLst/>
          </a:prstGeom>
          <a:solidFill>
            <a:srgbClr val="9A8BFF">
              <a:alpha val="5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20906" y="2075853"/>
            <a:ext cx="27432" cy="27432"/>
          </a:xfrm>
          <a:prstGeom prst="ellipse">
            <a:avLst/>
          </a:prstGeom>
          <a:solidFill>
            <a:srgbClr val="79C7FF">
              <a:alpha val="5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344806" y="5100862"/>
            <a:ext cx="27432" cy="27432"/>
          </a:xfrm>
          <a:prstGeom prst="ellipse">
            <a:avLst/>
          </a:prstGeom>
          <a:solidFill>
            <a:srgbClr val="9A8BFF">
              <a:alpha val="8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31921" y="5194129"/>
            <a:ext cx="16459" cy="16459"/>
          </a:xfrm>
          <a:prstGeom prst="ellipse">
            <a:avLst/>
          </a:prstGeom>
          <a:solidFill>
            <a:srgbClr val="D9E8FF">
              <a:alpha val="7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98494" y="2150778"/>
            <a:ext cx="21945" cy="21945"/>
          </a:xfrm>
          <a:prstGeom prst="ellipse">
            <a:avLst/>
          </a:prstGeom>
          <a:solidFill>
            <a:srgbClr val="D9E8FF">
              <a:alpha val="8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347440" y="2267768"/>
            <a:ext cx="36576" cy="36576"/>
          </a:xfrm>
          <a:prstGeom prst="ellipse">
            <a:avLst/>
          </a:prstGeom>
          <a:solidFill>
            <a:srgbClr val="D9E8FF">
              <a:alpha val="7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93412" y="4064703"/>
            <a:ext cx="27432" cy="27432"/>
          </a:xfrm>
          <a:prstGeom prst="ellipse">
            <a:avLst/>
          </a:prstGeom>
          <a:solidFill>
            <a:srgbClr val="D9E8FF">
              <a:alpha val="8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812138" y="5440961"/>
            <a:ext cx="21945" cy="21945"/>
          </a:xfrm>
          <a:prstGeom prst="ellipse">
            <a:avLst/>
          </a:prstGeom>
          <a:solidFill>
            <a:srgbClr val="79C7FF">
              <a:alpha val="5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项目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作品总览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131673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home-final.png"/>
          <p:cNvPicPr>
            <a:picLocks noChangeAspect="1"/>
          </p:cNvPicPr>
          <p:nvPr/>
        </p:nvPicPr>
        <p:blipFill>
          <a:blip r:embed="rId2"/>
          <a:srcRect t="14082" b="14082"/>
          <a:stretch>
            <a:fillRect/>
          </a:stretch>
        </p:blipFill>
        <p:spPr>
          <a:xfrm>
            <a:off x="566928" y="1591056"/>
            <a:ext cx="2688336" cy="120700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566928" y="2532888"/>
            <a:ext cx="2688336" cy="265176"/>
          </a:xfrm>
          <a:prstGeom prst="rect">
            <a:avLst/>
          </a:prstGeom>
          <a:solidFill>
            <a:srgbClr val="07111F">
              <a:alpha val="15000"/>
            </a:srgbClr>
          </a:solidFill>
          <a:ln>
            <a:solidFill>
              <a:srgbClr val="071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2578608"/>
            <a:ext cx="2423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F2F6FF"/>
                </a:solidFill>
                <a:latin typeface="Microsoft YaHei"/>
              </a:rPr>
              <a:t>首页</a:t>
            </a:r>
          </a:p>
        </p:txBody>
      </p:sp>
      <p:pic>
        <p:nvPicPr>
          <p:cNvPr id="50" name="Picture 49" descr="new-encyclopedia.png"/>
          <p:cNvPicPr>
            <a:picLocks noChangeAspect="1"/>
          </p:cNvPicPr>
          <p:nvPr/>
        </p:nvPicPr>
        <p:blipFill>
          <a:blip r:embed="rId3"/>
          <a:srcRect t="14082" b="14082"/>
          <a:stretch>
            <a:fillRect/>
          </a:stretch>
        </p:blipFill>
        <p:spPr>
          <a:xfrm>
            <a:off x="3493008" y="1591056"/>
            <a:ext cx="2688336" cy="1207008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3493008" y="2532888"/>
            <a:ext cx="2688336" cy="265176"/>
          </a:xfrm>
          <a:prstGeom prst="rect">
            <a:avLst/>
          </a:prstGeom>
          <a:solidFill>
            <a:srgbClr val="07111F">
              <a:alpha val="15000"/>
            </a:srgbClr>
          </a:solidFill>
          <a:ln>
            <a:solidFill>
              <a:srgbClr val="071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11880" y="2578608"/>
            <a:ext cx="2423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F2F6FF"/>
                </a:solidFill>
                <a:latin typeface="Microsoft YaHei"/>
              </a:rPr>
              <a:t>百科</a:t>
            </a:r>
          </a:p>
        </p:txBody>
      </p:sp>
      <p:pic>
        <p:nvPicPr>
          <p:cNvPr id="53" name="Picture 52" descr="3d-fixed-nolog.png"/>
          <p:cNvPicPr>
            <a:picLocks noChangeAspect="1"/>
          </p:cNvPicPr>
          <p:nvPr/>
        </p:nvPicPr>
        <p:blipFill>
          <a:blip r:embed="rId4"/>
          <a:srcRect t="14082" b="14082"/>
          <a:stretch>
            <a:fillRect/>
          </a:stretch>
        </p:blipFill>
        <p:spPr>
          <a:xfrm>
            <a:off x="566928" y="3072384"/>
            <a:ext cx="2688336" cy="1207008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566928" y="4014216"/>
            <a:ext cx="2688336" cy="265176"/>
          </a:xfrm>
          <a:prstGeom prst="rect">
            <a:avLst/>
          </a:prstGeom>
          <a:solidFill>
            <a:srgbClr val="07111F">
              <a:alpha val="15000"/>
            </a:srgbClr>
          </a:solidFill>
          <a:ln>
            <a:solidFill>
              <a:srgbClr val="071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4059936"/>
            <a:ext cx="2423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F2F6FF"/>
                </a:solidFill>
                <a:latin typeface="Microsoft YaHei"/>
              </a:rPr>
              <a:t>3D</a:t>
            </a:r>
          </a:p>
        </p:txBody>
      </p:sp>
      <p:pic>
        <p:nvPicPr>
          <p:cNvPr id="56" name="Picture 55" descr="new-community.png"/>
          <p:cNvPicPr>
            <a:picLocks noChangeAspect="1"/>
          </p:cNvPicPr>
          <p:nvPr/>
        </p:nvPicPr>
        <p:blipFill>
          <a:blip r:embed="rId5"/>
          <a:srcRect t="14082" b="14082"/>
          <a:stretch>
            <a:fillRect/>
          </a:stretch>
        </p:blipFill>
        <p:spPr>
          <a:xfrm>
            <a:off x="3493008" y="3072384"/>
            <a:ext cx="2688336" cy="120700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3493008" y="4014216"/>
            <a:ext cx="2688336" cy="265176"/>
          </a:xfrm>
          <a:prstGeom prst="rect">
            <a:avLst/>
          </a:prstGeom>
          <a:solidFill>
            <a:srgbClr val="07111F">
              <a:alpha val="15000"/>
            </a:srgbClr>
          </a:solidFill>
          <a:ln>
            <a:solidFill>
              <a:srgbClr val="071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11880" y="4059936"/>
            <a:ext cx="2423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F2F6FF"/>
                </a:solidFill>
                <a:latin typeface="Microsoft YaHei"/>
              </a:rPr>
              <a:t>社区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601968" y="1591056"/>
            <a:ext cx="5102352" cy="91440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30568" y="1837943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04304" y="1755648"/>
            <a:ext cx="43982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2F6FF"/>
                </a:solidFill>
                <a:latin typeface="Microsoft YaHei"/>
              </a:rPr>
              <a:t>20+ 页面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30568" y="209397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太阳系、百科、星座、图集、时间线、近地天体、深空天体、视频、新闻、社区、工具、AI、后台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01968" y="2670048"/>
            <a:ext cx="5102352" cy="621792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830568" y="2916936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04304" y="2834640"/>
            <a:ext cx="43982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2F6FF"/>
                </a:solidFill>
                <a:latin typeface="Microsoft YaHei"/>
              </a:rPr>
              <a:t>三种部署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92440" y="285292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Docker 离线包 / 免安装演示包 / 源码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601968" y="3456432"/>
            <a:ext cx="2432304" cy="86868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729983" y="3602736"/>
            <a:ext cx="41148" cy="576071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76288" y="3593592"/>
            <a:ext cx="20299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>
                <a:solidFill>
                  <a:srgbClr val="F2F6FF"/>
                </a:solidFill>
                <a:latin typeface="Microsoft YaHei"/>
              </a:rPr>
              <a:t>149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76288" y="4114800"/>
            <a:ext cx="2029968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知识块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26296" y="3456432"/>
            <a:ext cx="2432304" cy="86868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354312" y="3602736"/>
            <a:ext cx="41148" cy="576071"/>
          </a:xfrm>
          <a:prstGeom prst="rect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00616" y="3593592"/>
            <a:ext cx="20299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>
                <a:solidFill>
                  <a:srgbClr val="F2F6FF"/>
                </a:solidFill>
                <a:latin typeface="Microsoft YaHei"/>
              </a:rPr>
              <a:t>90%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0616" y="4114800"/>
            <a:ext cx="2029968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Hit@1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601968" y="4498848"/>
            <a:ext cx="2432304" cy="86868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729983" y="4645152"/>
            <a:ext cx="41148" cy="576071"/>
          </a:xfrm>
          <a:prstGeom prst="rect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76288" y="4636008"/>
            <a:ext cx="20299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>
                <a:solidFill>
                  <a:srgbClr val="F2F6FF"/>
                </a:solidFill>
                <a:latin typeface="Microsoft YaHei"/>
              </a:rPr>
              <a:t>500+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76288" y="5157216"/>
            <a:ext cx="2029968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测试断言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226296" y="4498848"/>
            <a:ext cx="2432304" cy="86868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354312" y="4645152"/>
            <a:ext cx="41148" cy="576071"/>
          </a:xfrm>
          <a:prstGeom prst="rect">
            <a:avLst/>
          </a:prstGeom>
          <a:solidFill>
            <a:srgbClr val="FFC277"/>
          </a:solidFill>
          <a:ln>
            <a:solidFill>
              <a:srgbClr val="FFC2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500616" y="4636008"/>
            <a:ext cx="20299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>
                <a:solidFill>
                  <a:srgbClr val="F2F6FF"/>
                </a:solidFill>
                <a:latin typeface="Microsoft YaHei"/>
              </a:rPr>
              <a:t>76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00616" y="5157216"/>
            <a:ext cx="2029968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次提交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950233" y="788940"/>
            <a:ext cx="36576" cy="36576"/>
          </a:xfrm>
          <a:prstGeom prst="ellipse">
            <a:avLst/>
          </a:prstGeom>
          <a:solidFill>
            <a:srgbClr val="9A8BFF">
              <a:alpha val="4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10918" y="240197"/>
            <a:ext cx="27432" cy="27432"/>
          </a:xfrm>
          <a:prstGeom prst="ellipse">
            <a:avLst/>
          </a:prstGeom>
          <a:solidFill>
            <a:srgbClr val="79C7FF">
              <a:alpha val="4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38238" y="2481465"/>
            <a:ext cx="21945" cy="21945"/>
          </a:xfrm>
          <a:prstGeom prst="ellipse">
            <a:avLst/>
          </a:prstGeom>
          <a:solidFill>
            <a:srgbClr val="79C7FF">
              <a:alpha val="5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92250" y="6215930"/>
            <a:ext cx="27432" cy="27432"/>
          </a:xfrm>
          <a:prstGeom prst="ellipse">
            <a:avLst/>
          </a:prstGeom>
          <a:solidFill>
            <a:srgbClr val="9A8BFF">
              <a:alpha val="4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01361" y="2016629"/>
            <a:ext cx="27432" cy="27432"/>
          </a:xfrm>
          <a:prstGeom prst="ellipse">
            <a:avLst/>
          </a:prstGeom>
          <a:solidFill>
            <a:srgbClr val="79C7FF">
              <a:alpha val="8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57324" y="4531995"/>
            <a:ext cx="21945" cy="21945"/>
          </a:xfrm>
          <a:prstGeom prst="ellipse">
            <a:avLst/>
          </a:prstGeom>
          <a:solidFill>
            <a:srgbClr val="79C7FF">
              <a:alpha val="5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81084" y="697954"/>
            <a:ext cx="27432" cy="27432"/>
          </a:xfrm>
          <a:prstGeom prst="ellipse">
            <a:avLst/>
          </a:prstGeom>
          <a:solidFill>
            <a:srgbClr val="79C7FF">
              <a:alpha val="9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16338" y="4750609"/>
            <a:ext cx="27432" cy="27432"/>
          </a:xfrm>
          <a:prstGeom prst="ellipse">
            <a:avLst/>
          </a:prstGeom>
          <a:solidFill>
            <a:srgbClr val="D9E8FF">
              <a:alpha val="4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70310" y="4052776"/>
            <a:ext cx="36576" cy="36576"/>
          </a:xfrm>
          <a:prstGeom prst="ellipse">
            <a:avLst/>
          </a:prstGeom>
          <a:solidFill>
            <a:srgbClr val="9A8BFF">
              <a:alpha val="4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16592" y="1819214"/>
            <a:ext cx="16459" cy="16459"/>
          </a:xfrm>
          <a:prstGeom prst="ellipse">
            <a:avLst/>
          </a:prstGeom>
          <a:solidFill>
            <a:srgbClr val="79C7FF">
              <a:alpha val="3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50968" y="6676764"/>
            <a:ext cx="36576" cy="36576"/>
          </a:xfrm>
          <a:prstGeom prst="ellipse">
            <a:avLst/>
          </a:prstGeom>
          <a:solidFill>
            <a:srgbClr val="D9E8FF">
              <a:alpha val="5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65927" y="4545672"/>
            <a:ext cx="16459" cy="16459"/>
          </a:xfrm>
          <a:prstGeom prst="ellipse">
            <a:avLst/>
          </a:prstGeom>
          <a:solidFill>
            <a:srgbClr val="9A8BFF">
              <a:alpha val="9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52461" y="4274991"/>
            <a:ext cx="27432" cy="27432"/>
          </a:xfrm>
          <a:prstGeom prst="ellipse">
            <a:avLst/>
          </a:prstGeom>
          <a:solidFill>
            <a:srgbClr val="79C7FF">
              <a:alpha val="5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32233" y="3985992"/>
            <a:ext cx="21945" cy="21945"/>
          </a:xfrm>
          <a:prstGeom prst="ellipse">
            <a:avLst/>
          </a:prstGeom>
          <a:solidFill>
            <a:srgbClr val="9A8BFF">
              <a:alpha val="4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0918" y="4772043"/>
            <a:ext cx="27432" cy="27432"/>
          </a:xfrm>
          <a:prstGeom prst="ellipse">
            <a:avLst/>
          </a:prstGeom>
          <a:solidFill>
            <a:srgbClr val="D9E8FF">
              <a:alpha val="7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11117" y="913894"/>
            <a:ext cx="21945" cy="21945"/>
          </a:xfrm>
          <a:prstGeom prst="ellipse">
            <a:avLst/>
          </a:prstGeom>
          <a:solidFill>
            <a:srgbClr val="9A8BFF">
              <a:alpha val="6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3151" y="2460655"/>
            <a:ext cx="16459" cy="16459"/>
          </a:xfrm>
          <a:prstGeom prst="ellipse">
            <a:avLst/>
          </a:prstGeom>
          <a:solidFill>
            <a:srgbClr val="9A8BFF">
              <a:alpha val="8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83929" y="2263395"/>
            <a:ext cx="27432" cy="27432"/>
          </a:xfrm>
          <a:prstGeom prst="ellipse">
            <a:avLst/>
          </a:prstGeom>
          <a:solidFill>
            <a:srgbClr val="9A8BFF">
              <a:alpha val="5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649424" y="5213656"/>
            <a:ext cx="36576" cy="36576"/>
          </a:xfrm>
          <a:prstGeom prst="ellipse">
            <a:avLst/>
          </a:prstGeom>
          <a:solidFill>
            <a:srgbClr val="D9E8FF">
              <a:alpha val="7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84712" y="2041447"/>
            <a:ext cx="21945" cy="21945"/>
          </a:xfrm>
          <a:prstGeom prst="ellipse">
            <a:avLst/>
          </a:prstGeom>
          <a:solidFill>
            <a:srgbClr val="9A8BFF">
              <a:alpha val="5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63138" y="2622288"/>
            <a:ext cx="21945" cy="21945"/>
          </a:xfrm>
          <a:prstGeom prst="ellipse">
            <a:avLst/>
          </a:prstGeom>
          <a:solidFill>
            <a:srgbClr val="9A8BFF">
              <a:alpha val="7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49141" y="404658"/>
            <a:ext cx="21945" cy="21945"/>
          </a:xfrm>
          <a:prstGeom prst="ellipse">
            <a:avLst/>
          </a:prstGeom>
          <a:solidFill>
            <a:srgbClr val="9A8BFF">
              <a:alpha val="8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22889" y="6674876"/>
            <a:ext cx="16459" cy="16459"/>
          </a:xfrm>
          <a:prstGeom prst="ellipse">
            <a:avLst/>
          </a:prstGeom>
          <a:solidFill>
            <a:srgbClr val="9A8BFF">
              <a:alpha val="4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189561" y="1478585"/>
            <a:ext cx="16459" cy="16459"/>
          </a:xfrm>
          <a:prstGeom prst="ellipse">
            <a:avLst/>
          </a:prstGeom>
          <a:solidFill>
            <a:srgbClr val="79C7FF">
              <a:alpha val="3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21712" y="4030538"/>
            <a:ext cx="21945" cy="21945"/>
          </a:xfrm>
          <a:prstGeom prst="ellipse">
            <a:avLst/>
          </a:prstGeom>
          <a:solidFill>
            <a:srgbClr val="D9E8FF">
              <a:alpha val="3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46788" y="3945808"/>
            <a:ext cx="27432" cy="27432"/>
          </a:xfrm>
          <a:prstGeom prst="ellipse">
            <a:avLst/>
          </a:prstGeom>
          <a:solidFill>
            <a:srgbClr val="79C7FF">
              <a:alpha val="4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86386" y="2038136"/>
            <a:ext cx="36576" cy="36576"/>
          </a:xfrm>
          <a:prstGeom prst="ellipse">
            <a:avLst/>
          </a:prstGeom>
          <a:solidFill>
            <a:srgbClr val="D9E8FF">
              <a:alpha val="4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30828" y="1702071"/>
            <a:ext cx="36576" cy="36576"/>
          </a:xfrm>
          <a:prstGeom prst="ellipse">
            <a:avLst/>
          </a:prstGeom>
          <a:solidFill>
            <a:srgbClr val="9A8BFF">
              <a:alpha val="3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47798" y="3029603"/>
            <a:ext cx="36576" cy="36576"/>
          </a:xfrm>
          <a:prstGeom prst="ellipse">
            <a:avLst/>
          </a:prstGeom>
          <a:solidFill>
            <a:srgbClr val="79C7FF">
              <a:alpha val="6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4171" y="352046"/>
            <a:ext cx="27432" cy="27432"/>
          </a:xfrm>
          <a:prstGeom prst="ellipse">
            <a:avLst/>
          </a:prstGeom>
          <a:solidFill>
            <a:srgbClr val="79C7FF">
              <a:alpha val="6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616754" y="1633630"/>
            <a:ext cx="27432" cy="27432"/>
          </a:xfrm>
          <a:prstGeom prst="ellipse">
            <a:avLst/>
          </a:prstGeom>
          <a:solidFill>
            <a:srgbClr val="79C7FF">
              <a:alpha val="5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48208" y="6219601"/>
            <a:ext cx="16459" cy="16459"/>
          </a:xfrm>
          <a:prstGeom prst="ellipse">
            <a:avLst/>
          </a:prstGeom>
          <a:solidFill>
            <a:srgbClr val="D9E8FF">
              <a:alpha val="6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10675" y="4408656"/>
            <a:ext cx="16459" cy="16459"/>
          </a:xfrm>
          <a:prstGeom prst="ellipse">
            <a:avLst/>
          </a:prstGeom>
          <a:solidFill>
            <a:srgbClr val="9A8BFF">
              <a:alpha val="5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244386" y="1498366"/>
            <a:ext cx="21945" cy="21945"/>
          </a:xfrm>
          <a:prstGeom prst="ellipse">
            <a:avLst/>
          </a:prstGeom>
          <a:solidFill>
            <a:srgbClr val="9A8BFF">
              <a:alpha val="5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65791" y="5373410"/>
            <a:ext cx="27432" cy="27432"/>
          </a:xfrm>
          <a:prstGeom prst="ellipse">
            <a:avLst/>
          </a:prstGeom>
          <a:solidFill>
            <a:srgbClr val="9A8BFF">
              <a:alpha val="6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02232" y="5385871"/>
            <a:ext cx="27432" cy="27432"/>
          </a:xfrm>
          <a:prstGeom prst="ellipse">
            <a:avLst/>
          </a:prstGeom>
          <a:solidFill>
            <a:srgbClr val="9A8BFF">
              <a:alpha val="9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10938" y="3377803"/>
            <a:ext cx="27432" cy="27432"/>
          </a:xfrm>
          <a:prstGeom prst="ellipse">
            <a:avLst/>
          </a:prstGeom>
          <a:solidFill>
            <a:srgbClr val="D9E8FF">
              <a:alpha val="7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16448" y="2708963"/>
            <a:ext cx="21945" cy="21945"/>
          </a:xfrm>
          <a:prstGeom prst="ellipse">
            <a:avLst/>
          </a:prstGeom>
          <a:solidFill>
            <a:srgbClr val="9A8BFF">
              <a:alpha val="7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工程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系统架构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175564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87552" y="1591056"/>
            <a:ext cx="10040112" cy="621792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87552" y="1591056"/>
            <a:ext cx="118872" cy="621792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0" y="174650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79C7FF"/>
                </a:solidFill>
                <a:latin typeface="Microsoft YaHei"/>
              </a:rPr>
              <a:t>前端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175564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F2F6FF"/>
                </a:solidFill>
                <a:latin typeface="Microsoft YaHei"/>
              </a:rPr>
              <a:t>Vue 3 + Vite + Router + Pinia + Three.js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007608" y="2221991"/>
            <a:ext cx="0" cy="201169"/>
          </a:xfrm>
          <a:prstGeom prst="line">
            <a:avLst/>
          </a:prstGeom>
          <a:ln w="17780">
            <a:solidFill>
              <a:srgbClr val="79C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961888" y="2368296"/>
            <a:ext cx="91440" cy="91440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87552" y="2432304"/>
            <a:ext cx="10040112" cy="621792"/>
          </a:xfrm>
          <a:prstGeom prst="roundRect">
            <a:avLst>
              <a:gd name="adj" fmla="val 10000"/>
            </a:avLst>
          </a:prstGeom>
          <a:solidFill>
            <a:srgbClr val="1324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7552" y="2432304"/>
            <a:ext cx="118872" cy="621792"/>
          </a:xfrm>
          <a:prstGeom prst="rect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80160" y="258775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9A8BFF"/>
                </a:solidFill>
                <a:latin typeface="Microsoft YaHei"/>
              </a:rPr>
              <a:t>后端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59689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F2F6FF"/>
                </a:solidFill>
                <a:latin typeface="Microsoft YaHei"/>
              </a:rPr>
              <a:t>Express + MySQL + JWT；安全中间件（CSP/限流/参数化）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007608" y="3063240"/>
            <a:ext cx="0" cy="201168"/>
          </a:xfrm>
          <a:prstGeom prst="line">
            <a:avLst/>
          </a:prstGeom>
          <a:ln w="17780">
            <a:solidFill>
              <a:srgbClr val="9A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961888" y="3209544"/>
            <a:ext cx="91440" cy="91440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87552" y="3273552"/>
            <a:ext cx="10040112" cy="621792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3273552"/>
            <a:ext cx="118872" cy="621792"/>
          </a:xfrm>
          <a:prstGeom prst="rect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80160" y="34290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54D9D2"/>
                </a:solidFill>
                <a:latin typeface="Microsoft YaHei"/>
              </a:rPr>
              <a:t>AI 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34381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F2F6FF"/>
                </a:solidFill>
                <a:latin typeface="Microsoft YaHei"/>
              </a:rPr>
              <a:t>意图 → RAG 检索 → Prompt → LLM/本地知识库 → SSE 流式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7608" y="3904487"/>
            <a:ext cx="0" cy="201169"/>
          </a:xfrm>
          <a:prstGeom prst="line">
            <a:avLst/>
          </a:prstGeom>
          <a:ln w="17780">
            <a:solidFill>
              <a:srgbClr val="54D9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5961888" y="4050791"/>
            <a:ext cx="91440" cy="91440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87552" y="4114800"/>
            <a:ext cx="10040112" cy="621792"/>
          </a:xfrm>
          <a:prstGeom prst="roundRect">
            <a:avLst>
              <a:gd name="adj" fmla="val 10000"/>
            </a:avLst>
          </a:prstGeom>
          <a:solidFill>
            <a:srgbClr val="1324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87552" y="4114800"/>
            <a:ext cx="118872" cy="621792"/>
          </a:xfrm>
          <a:prstGeom prst="rect">
            <a:avLst/>
          </a:prstGeom>
          <a:solidFill>
            <a:srgbClr val="FFC277"/>
          </a:solidFill>
          <a:ln>
            <a:solidFill>
              <a:srgbClr val="FFC2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80160" y="42702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C277"/>
                </a:solidFill>
                <a:latin typeface="Microsoft YaHei"/>
              </a:rPr>
              <a:t>数据 / 部署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427939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F2F6FF"/>
                </a:solidFill>
                <a:latin typeface="Microsoft YaHei"/>
              </a:rPr>
              <a:t>Docker Compose（App + MySQL）离线可跑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560513" y="4993416"/>
            <a:ext cx="16459" cy="16459"/>
          </a:xfrm>
          <a:prstGeom prst="ellipse">
            <a:avLst/>
          </a:prstGeom>
          <a:solidFill>
            <a:srgbClr val="9A8BFF">
              <a:alpha val="8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379495" y="4382368"/>
            <a:ext cx="21945" cy="21945"/>
          </a:xfrm>
          <a:prstGeom prst="ellipse">
            <a:avLst/>
          </a:prstGeom>
          <a:solidFill>
            <a:srgbClr val="79C7FF">
              <a:alpha val="5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727231" y="1733084"/>
            <a:ext cx="16459" cy="16459"/>
          </a:xfrm>
          <a:prstGeom prst="ellipse">
            <a:avLst/>
          </a:prstGeom>
          <a:solidFill>
            <a:srgbClr val="D9E8FF">
              <a:alpha val="5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3446" y="1536607"/>
            <a:ext cx="27432" cy="27432"/>
          </a:xfrm>
          <a:prstGeom prst="ellipse">
            <a:avLst/>
          </a:prstGeom>
          <a:solidFill>
            <a:srgbClr val="79C7FF">
              <a:alpha val="9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74995" y="2673658"/>
            <a:ext cx="16459" cy="16459"/>
          </a:xfrm>
          <a:prstGeom prst="ellipse">
            <a:avLst/>
          </a:prstGeom>
          <a:solidFill>
            <a:srgbClr val="79C7FF">
              <a:alpha val="7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95573" y="943875"/>
            <a:ext cx="16459" cy="16459"/>
          </a:xfrm>
          <a:prstGeom prst="ellipse">
            <a:avLst/>
          </a:prstGeom>
          <a:solidFill>
            <a:srgbClr val="79C7FF">
              <a:alpha val="4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56366" y="6430897"/>
            <a:ext cx="21945" cy="21945"/>
          </a:xfrm>
          <a:prstGeom prst="ellipse">
            <a:avLst/>
          </a:prstGeom>
          <a:solidFill>
            <a:srgbClr val="79C7FF">
              <a:alpha val="5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75061" y="1419151"/>
            <a:ext cx="21945" cy="21945"/>
          </a:xfrm>
          <a:prstGeom prst="ellipse">
            <a:avLst/>
          </a:prstGeom>
          <a:solidFill>
            <a:srgbClr val="79C7FF">
              <a:alpha val="9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79814" y="1405916"/>
            <a:ext cx="36576" cy="36576"/>
          </a:xfrm>
          <a:prstGeom prst="ellipse">
            <a:avLst/>
          </a:prstGeom>
          <a:solidFill>
            <a:srgbClr val="9A8BFF">
              <a:alpha val="3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41595" y="1202329"/>
            <a:ext cx="21945" cy="21945"/>
          </a:xfrm>
          <a:prstGeom prst="ellipse">
            <a:avLst/>
          </a:prstGeom>
          <a:solidFill>
            <a:srgbClr val="9A8BFF">
              <a:alpha val="3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091994" y="5491230"/>
            <a:ext cx="16459" cy="16459"/>
          </a:xfrm>
          <a:prstGeom prst="ellipse">
            <a:avLst/>
          </a:prstGeom>
          <a:solidFill>
            <a:srgbClr val="D9E8FF">
              <a:alpha val="7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70802" y="544398"/>
            <a:ext cx="27432" cy="27432"/>
          </a:xfrm>
          <a:prstGeom prst="ellipse">
            <a:avLst/>
          </a:prstGeom>
          <a:solidFill>
            <a:srgbClr val="9A8BFF">
              <a:alpha val="6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36656" y="1326215"/>
            <a:ext cx="36576" cy="36576"/>
          </a:xfrm>
          <a:prstGeom prst="ellipse">
            <a:avLst/>
          </a:prstGeom>
          <a:solidFill>
            <a:srgbClr val="D9E8FF">
              <a:alpha val="4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461" y="6529471"/>
            <a:ext cx="16459" cy="16459"/>
          </a:xfrm>
          <a:prstGeom prst="ellipse">
            <a:avLst/>
          </a:prstGeom>
          <a:solidFill>
            <a:srgbClr val="D9E8FF">
              <a:alpha val="5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05922" y="228678"/>
            <a:ext cx="36576" cy="36576"/>
          </a:xfrm>
          <a:prstGeom prst="ellipse">
            <a:avLst/>
          </a:prstGeom>
          <a:solidFill>
            <a:srgbClr val="9A8BFF">
              <a:alpha val="5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31585" y="169497"/>
            <a:ext cx="16459" cy="16459"/>
          </a:xfrm>
          <a:prstGeom prst="ellipse">
            <a:avLst/>
          </a:prstGeom>
          <a:solidFill>
            <a:srgbClr val="D9E8FF">
              <a:alpha val="4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70182" y="6393155"/>
            <a:ext cx="16459" cy="16459"/>
          </a:xfrm>
          <a:prstGeom prst="ellipse">
            <a:avLst/>
          </a:prstGeom>
          <a:solidFill>
            <a:srgbClr val="79C7FF">
              <a:alpha val="9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03367" y="3152740"/>
            <a:ext cx="27432" cy="27432"/>
          </a:xfrm>
          <a:prstGeom prst="ellipse">
            <a:avLst/>
          </a:prstGeom>
          <a:solidFill>
            <a:srgbClr val="D9E8FF">
              <a:alpha val="5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80312" y="821113"/>
            <a:ext cx="27432" cy="27432"/>
          </a:xfrm>
          <a:prstGeom prst="ellipse">
            <a:avLst/>
          </a:prstGeom>
          <a:solidFill>
            <a:srgbClr val="9A8BFF">
              <a:alpha val="3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97105" y="6550815"/>
            <a:ext cx="21945" cy="21945"/>
          </a:xfrm>
          <a:prstGeom prst="ellipse">
            <a:avLst/>
          </a:prstGeom>
          <a:solidFill>
            <a:srgbClr val="9A8BFF">
              <a:alpha val="6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16620" y="6154120"/>
            <a:ext cx="27432" cy="27432"/>
          </a:xfrm>
          <a:prstGeom prst="ellipse">
            <a:avLst/>
          </a:prstGeom>
          <a:solidFill>
            <a:srgbClr val="9A8BFF">
              <a:alpha val="9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10388" y="715909"/>
            <a:ext cx="27432" cy="27432"/>
          </a:xfrm>
          <a:prstGeom prst="ellipse">
            <a:avLst/>
          </a:prstGeom>
          <a:solidFill>
            <a:srgbClr val="9A8BFF">
              <a:alpha val="4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56444" y="4236416"/>
            <a:ext cx="27432" cy="27432"/>
          </a:xfrm>
          <a:prstGeom prst="ellipse">
            <a:avLst/>
          </a:prstGeom>
          <a:solidFill>
            <a:srgbClr val="9A8BFF">
              <a:alpha val="4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19205" y="642731"/>
            <a:ext cx="36576" cy="36576"/>
          </a:xfrm>
          <a:prstGeom prst="ellipse">
            <a:avLst/>
          </a:prstGeom>
          <a:solidFill>
            <a:srgbClr val="79C7FF">
              <a:alpha val="5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962673" y="2373413"/>
            <a:ext cx="27432" cy="27432"/>
          </a:xfrm>
          <a:prstGeom prst="ellipse">
            <a:avLst/>
          </a:prstGeom>
          <a:solidFill>
            <a:srgbClr val="9A8BFF">
              <a:alpha val="7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63399" y="476486"/>
            <a:ext cx="16459" cy="16459"/>
          </a:xfrm>
          <a:prstGeom prst="ellipse">
            <a:avLst/>
          </a:prstGeom>
          <a:solidFill>
            <a:srgbClr val="9A8BFF">
              <a:alpha val="5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129036" y="969371"/>
            <a:ext cx="21945" cy="21945"/>
          </a:xfrm>
          <a:prstGeom prst="ellipse">
            <a:avLst/>
          </a:prstGeom>
          <a:solidFill>
            <a:srgbClr val="D9E8FF">
              <a:alpha val="9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28165" y="811749"/>
            <a:ext cx="36576" cy="36576"/>
          </a:xfrm>
          <a:prstGeom prst="ellipse">
            <a:avLst/>
          </a:prstGeom>
          <a:solidFill>
            <a:srgbClr val="9A8BFF">
              <a:alpha val="4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7551" y="2879125"/>
            <a:ext cx="21945" cy="21945"/>
          </a:xfrm>
          <a:prstGeom prst="ellipse">
            <a:avLst/>
          </a:prstGeom>
          <a:solidFill>
            <a:srgbClr val="9A8BFF">
              <a:alpha val="9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2046192" y="5720686"/>
            <a:ext cx="36576" cy="36576"/>
          </a:xfrm>
          <a:prstGeom prst="ellipse">
            <a:avLst/>
          </a:prstGeom>
          <a:solidFill>
            <a:srgbClr val="9A8BFF">
              <a:alpha val="7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30945" y="3263590"/>
            <a:ext cx="27432" cy="27432"/>
          </a:xfrm>
          <a:prstGeom prst="ellipse">
            <a:avLst/>
          </a:prstGeom>
          <a:solidFill>
            <a:srgbClr val="9A8BFF">
              <a:alpha val="6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884969" y="850789"/>
            <a:ext cx="21945" cy="21945"/>
          </a:xfrm>
          <a:prstGeom prst="ellipse">
            <a:avLst/>
          </a:prstGeom>
          <a:solidFill>
            <a:srgbClr val="D9E8FF">
              <a:alpha val="9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087772" y="2338163"/>
            <a:ext cx="16459" cy="16459"/>
          </a:xfrm>
          <a:prstGeom prst="ellipse">
            <a:avLst/>
          </a:prstGeom>
          <a:solidFill>
            <a:srgbClr val="9A8BFF">
              <a:alpha val="5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276739" y="3718246"/>
            <a:ext cx="27432" cy="27432"/>
          </a:xfrm>
          <a:prstGeom prst="ellipse">
            <a:avLst/>
          </a:prstGeom>
          <a:solidFill>
            <a:srgbClr val="79C7FF">
              <a:alpha val="8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13282" y="2451535"/>
            <a:ext cx="16459" cy="16459"/>
          </a:xfrm>
          <a:prstGeom prst="ellipse">
            <a:avLst/>
          </a:prstGeom>
          <a:solidFill>
            <a:srgbClr val="9A8BFF">
              <a:alpha val="5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02718" y="4509651"/>
            <a:ext cx="36576" cy="36576"/>
          </a:xfrm>
          <a:prstGeom prst="ellipse">
            <a:avLst/>
          </a:prstGeom>
          <a:solidFill>
            <a:srgbClr val="9A8BFF">
              <a:alpha val="8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827588" y="4823546"/>
            <a:ext cx="27432" cy="27432"/>
          </a:xfrm>
          <a:prstGeom prst="ellipse">
            <a:avLst/>
          </a:prstGeom>
          <a:solidFill>
            <a:srgbClr val="D9E8FF">
              <a:alpha val="4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57112" y="185971"/>
            <a:ext cx="27432" cy="27432"/>
          </a:xfrm>
          <a:prstGeom prst="ellipse">
            <a:avLst/>
          </a:prstGeom>
          <a:solidFill>
            <a:srgbClr val="9A8BFF">
              <a:alpha val="7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AI · RAG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RAG 技术方案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219455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1792" y="1773936"/>
            <a:ext cx="4572000" cy="59436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04672" y="1975104"/>
            <a:ext cx="182880" cy="182880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33856" y="186537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52 篇文档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52344" y="1883664"/>
            <a:ext cx="2240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来源可回溯页面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96112" y="2377440"/>
            <a:ext cx="0" cy="164592"/>
          </a:xfrm>
          <a:prstGeom prst="line">
            <a:avLst/>
          </a:prstGeom>
          <a:ln w="1524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21792" y="2551176"/>
            <a:ext cx="4572000" cy="59436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04672" y="2752344"/>
            <a:ext cx="182880" cy="182880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33856" y="26426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149 知识块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52344" y="2660904"/>
            <a:ext cx="2240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本地知识库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96112" y="3154680"/>
            <a:ext cx="0" cy="164592"/>
          </a:xfrm>
          <a:prstGeom prst="line">
            <a:avLst/>
          </a:prstGeom>
          <a:ln w="1524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621792" y="3328415"/>
            <a:ext cx="4572000" cy="59436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04672" y="3529584"/>
            <a:ext cx="182880" cy="182880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3856" y="341985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混合检索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52344" y="3438144"/>
            <a:ext cx="2240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1024 维哈希向量 + 词法 TF-IDF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96112" y="3931920"/>
            <a:ext cx="0" cy="164591"/>
          </a:xfrm>
          <a:prstGeom prst="line">
            <a:avLst/>
          </a:prstGeom>
          <a:ln w="1524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21792" y="4105656"/>
            <a:ext cx="4572000" cy="59436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04672" y="4306824"/>
            <a:ext cx="182880" cy="182880"/>
          </a:xfrm>
          <a:prstGeom prst="ellipse">
            <a:avLst/>
          </a:prstGeom>
          <a:solidFill>
            <a:srgbClr val="FFC277"/>
          </a:solidFill>
          <a:ln>
            <a:solidFill>
              <a:srgbClr val="FFC2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33856" y="419709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证据入 Prompt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52344" y="4215384"/>
            <a:ext cx="2240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相关度阈值 0.26；Top-K 4-6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1792" y="5084064"/>
            <a:ext cx="4572000" cy="512064"/>
          </a:xfrm>
          <a:prstGeom prst="roundRect">
            <a:avLst>
              <a:gd name="adj" fmla="val 10000"/>
            </a:avLst>
          </a:prstGeom>
          <a:solidFill>
            <a:srgbClr val="10213A"/>
          </a:solidFill>
          <a:ln>
            <a:solidFill>
              <a:srgbClr val="345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" y="5230368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2F6FF"/>
                </a:solidFill>
                <a:latin typeface="Microsoft YaHei"/>
              </a:rPr>
              <a:t>混合权重：0.62 / 0.38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50992" y="1773936"/>
            <a:ext cx="1828800" cy="102412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779007" y="1920240"/>
            <a:ext cx="41148" cy="731520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25312" y="1911095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>
                <a:solidFill>
                  <a:srgbClr val="F2F6FF"/>
                </a:solidFill>
                <a:latin typeface="Microsoft YaHei"/>
              </a:rPr>
              <a:t>90%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25312" y="2432304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Hit@1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44383" y="1773936"/>
            <a:ext cx="1828800" cy="102412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772400" y="1920240"/>
            <a:ext cx="41148" cy="731520"/>
          </a:xfrm>
          <a:prstGeom prst="rect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18704" y="1911095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>
                <a:solidFill>
                  <a:srgbClr val="F2F6FF"/>
                </a:solidFill>
                <a:latin typeface="Microsoft YaHe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18704" y="2432304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Hit@3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637776" y="1773936"/>
            <a:ext cx="1828800" cy="102412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765792" y="1920240"/>
            <a:ext cx="41148" cy="731520"/>
          </a:xfrm>
          <a:prstGeom prst="rect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912096" y="1911095"/>
            <a:ext cx="14264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>
                <a:solidFill>
                  <a:srgbClr val="F2F6FF"/>
                </a:solidFill>
                <a:latin typeface="Microsoft YaHei"/>
              </a:rPr>
              <a:t>0.950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2096" y="2432304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MRR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50992" y="3008376"/>
            <a:ext cx="5815584" cy="251460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925312" y="3355848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99048" y="3273552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检索评测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34456" y="3831336"/>
            <a:ext cx="5138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F2F6FF"/>
                </a:solidFill>
                <a:latin typeface="Microsoft YaHei"/>
              </a:rPr>
              <a:t>30 条标注查询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43600" y="449884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A8B8CE"/>
                </a:solidFill>
                <a:latin typeface="Microsoft YaHei"/>
              </a:rPr>
              <a:t>混合检索 · 阈值过滤 · Top-K 证据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91691" y="5521210"/>
            <a:ext cx="36576" cy="36576"/>
          </a:xfrm>
          <a:prstGeom prst="ellipse">
            <a:avLst/>
          </a:prstGeom>
          <a:solidFill>
            <a:srgbClr val="9A8BFF">
              <a:alpha val="3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42543" y="4473513"/>
            <a:ext cx="36576" cy="36576"/>
          </a:xfrm>
          <a:prstGeom prst="ellipse">
            <a:avLst/>
          </a:prstGeom>
          <a:solidFill>
            <a:srgbClr val="D9E8FF">
              <a:alpha val="5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943398" y="253843"/>
            <a:ext cx="36576" cy="36576"/>
          </a:xfrm>
          <a:prstGeom prst="ellipse">
            <a:avLst/>
          </a:prstGeom>
          <a:solidFill>
            <a:srgbClr val="79C7FF">
              <a:alpha val="8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35156" y="6104647"/>
            <a:ext cx="16459" cy="16459"/>
          </a:xfrm>
          <a:prstGeom prst="ellipse">
            <a:avLst/>
          </a:prstGeom>
          <a:solidFill>
            <a:srgbClr val="79C7FF">
              <a:alpha val="7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34799" y="5410407"/>
            <a:ext cx="27432" cy="27432"/>
          </a:xfrm>
          <a:prstGeom prst="ellipse">
            <a:avLst/>
          </a:prstGeom>
          <a:solidFill>
            <a:srgbClr val="D9E8FF">
              <a:alpha val="8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07319" y="689809"/>
            <a:ext cx="36576" cy="36576"/>
          </a:xfrm>
          <a:prstGeom prst="ellipse">
            <a:avLst/>
          </a:prstGeom>
          <a:solidFill>
            <a:srgbClr val="9A8BFF">
              <a:alpha val="4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52925" y="2808673"/>
            <a:ext cx="27432" cy="27432"/>
          </a:xfrm>
          <a:prstGeom prst="ellipse">
            <a:avLst/>
          </a:prstGeom>
          <a:solidFill>
            <a:srgbClr val="9A8BFF">
              <a:alpha val="7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54775" y="1407779"/>
            <a:ext cx="27432" cy="27432"/>
          </a:xfrm>
          <a:prstGeom prst="ellipse">
            <a:avLst/>
          </a:prstGeom>
          <a:solidFill>
            <a:srgbClr val="79C7FF">
              <a:alpha val="9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1582" y="6053235"/>
            <a:ext cx="27432" cy="27432"/>
          </a:xfrm>
          <a:prstGeom prst="ellipse">
            <a:avLst/>
          </a:prstGeom>
          <a:solidFill>
            <a:srgbClr val="9A8BFF">
              <a:alpha val="9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61033" y="1385138"/>
            <a:ext cx="16459" cy="16459"/>
          </a:xfrm>
          <a:prstGeom prst="ellipse">
            <a:avLst/>
          </a:prstGeom>
          <a:solidFill>
            <a:srgbClr val="D9E8FF">
              <a:alpha val="5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55674" y="2938660"/>
            <a:ext cx="27432" cy="27432"/>
          </a:xfrm>
          <a:prstGeom prst="ellipse">
            <a:avLst/>
          </a:prstGeom>
          <a:solidFill>
            <a:srgbClr val="D9E8FF">
              <a:alpha val="4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5999" y="5903885"/>
            <a:ext cx="21945" cy="21945"/>
          </a:xfrm>
          <a:prstGeom prst="ellipse">
            <a:avLst/>
          </a:prstGeom>
          <a:solidFill>
            <a:srgbClr val="79C7FF">
              <a:alpha val="7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35295" y="2165683"/>
            <a:ext cx="21945" cy="21945"/>
          </a:xfrm>
          <a:prstGeom prst="ellipse">
            <a:avLst/>
          </a:prstGeom>
          <a:solidFill>
            <a:srgbClr val="9A8BFF">
              <a:alpha val="6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91621" y="4042444"/>
            <a:ext cx="16459" cy="16459"/>
          </a:xfrm>
          <a:prstGeom prst="ellipse">
            <a:avLst/>
          </a:prstGeom>
          <a:solidFill>
            <a:srgbClr val="79C7FF">
              <a:alpha val="8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52898" y="4375868"/>
            <a:ext cx="27432" cy="27432"/>
          </a:xfrm>
          <a:prstGeom prst="ellipse">
            <a:avLst/>
          </a:prstGeom>
          <a:solidFill>
            <a:srgbClr val="9A8BFF">
              <a:alpha val="5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2071" y="2013393"/>
            <a:ext cx="36576" cy="36576"/>
          </a:xfrm>
          <a:prstGeom prst="ellipse">
            <a:avLst/>
          </a:prstGeom>
          <a:solidFill>
            <a:srgbClr val="79C7FF">
              <a:alpha val="4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76882" y="5023214"/>
            <a:ext cx="36576" cy="36576"/>
          </a:xfrm>
          <a:prstGeom prst="ellipse">
            <a:avLst/>
          </a:prstGeom>
          <a:solidFill>
            <a:srgbClr val="79C7FF">
              <a:alpha val="6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60623" y="6556836"/>
            <a:ext cx="36576" cy="36576"/>
          </a:xfrm>
          <a:prstGeom prst="ellipse">
            <a:avLst/>
          </a:prstGeom>
          <a:solidFill>
            <a:srgbClr val="9A8BFF">
              <a:alpha val="8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43591" y="5350987"/>
            <a:ext cx="36576" cy="36576"/>
          </a:xfrm>
          <a:prstGeom prst="ellipse">
            <a:avLst/>
          </a:prstGeom>
          <a:solidFill>
            <a:srgbClr val="9A8BFF">
              <a:alpha val="5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46929" y="2802872"/>
            <a:ext cx="16459" cy="16459"/>
          </a:xfrm>
          <a:prstGeom prst="ellipse">
            <a:avLst/>
          </a:prstGeom>
          <a:solidFill>
            <a:srgbClr val="79C7FF">
              <a:alpha val="8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43116" y="3081325"/>
            <a:ext cx="21945" cy="21945"/>
          </a:xfrm>
          <a:prstGeom prst="ellipse">
            <a:avLst/>
          </a:prstGeom>
          <a:solidFill>
            <a:srgbClr val="79C7FF">
              <a:alpha val="3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48020" y="1763137"/>
            <a:ext cx="27432" cy="27432"/>
          </a:xfrm>
          <a:prstGeom prst="ellipse">
            <a:avLst/>
          </a:prstGeom>
          <a:solidFill>
            <a:srgbClr val="79C7FF">
              <a:alpha val="5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8459" y="2278656"/>
            <a:ext cx="27432" cy="27432"/>
          </a:xfrm>
          <a:prstGeom prst="ellipse">
            <a:avLst/>
          </a:prstGeom>
          <a:solidFill>
            <a:srgbClr val="9A8BFF">
              <a:alpha val="9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16034" y="4140106"/>
            <a:ext cx="27432" cy="27432"/>
          </a:xfrm>
          <a:prstGeom prst="ellipse">
            <a:avLst/>
          </a:prstGeom>
          <a:solidFill>
            <a:srgbClr val="D9E8FF">
              <a:alpha val="6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58385" y="3349044"/>
            <a:ext cx="36576" cy="36576"/>
          </a:xfrm>
          <a:prstGeom prst="ellipse">
            <a:avLst/>
          </a:prstGeom>
          <a:solidFill>
            <a:srgbClr val="9A8BFF">
              <a:alpha val="5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98360" y="3186026"/>
            <a:ext cx="27432" cy="27432"/>
          </a:xfrm>
          <a:prstGeom prst="ellipse">
            <a:avLst/>
          </a:prstGeom>
          <a:solidFill>
            <a:srgbClr val="D9E8FF">
              <a:alpha val="4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706143" y="6186980"/>
            <a:ext cx="36576" cy="36576"/>
          </a:xfrm>
          <a:prstGeom prst="ellipse">
            <a:avLst/>
          </a:prstGeom>
          <a:solidFill>
            <a:srgbClr val="D9E8FF">
              <a:alpha val="7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04846" y="4363437"/>
            <a:ext cx="36576" cy="36576"/>
          </a:xfrm>
          <a:prstGeom prst="ellipse">
            <a:avLst/>
          </a:prstGeom>
          <a:solidFill>
            <a:srgbClr val="D9E8FF">
              <a:alpha val="8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22336" y="5558974"/>
            <a:ext cx="16459" cy="16459"/>
          </a:xfrm>
          <a:prstGeom prst="ellipse">
            <a:avLst/>
          </a:prstGeom>
          <a:solidFill>
            <a:srgbClr val="D9E8FF">
              <a:alpha val="6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33327" y="1311764"/>
            <a:ext cx="16459" cy="16459"/>
          </a:xfrm>
          <a:prstGeom prst="ellipse">
            <a:avLst/>
          </a:prstGeom>
          <a:solidFill>
            <a:srgbClr val="D9E8FF">
              <a:alpha val="8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57355" y="6578879"/>
            <a:ext cx="36576" cy="36576"/>
          </a:xfrm>
          <a:prstGeom prst="ellipse">
            <a:avLst/>
          </a:prstGeom>
          <a:solidFill>
            <a:srgbClr val="D9E8FF">
              <a:alpha val="3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092488" y="1126171"/>
            <a:ext cx="27432" cy="27432"/>
          </a:xfrm>
          <a:prstGeom prst="ellipse">
            <a:avLst/>
          </a:prstGeom>
          <a:solidFill>
            <a:srgbClr val="D9E8FF">
              <a:alpha val="3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167622" y="5260083"/>
            <a:ext cx="36576" cy="36576"/>
          </a:xfrm>
          <a:prstGeom prst="ellipse">
            <a:avLst/>
          </a:prstGeom>
          <a:solidFill>
            <a:srgbClr val="79C7FF">
              <a:alpha val="6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902784" y="2551703"/>
            <a:ext cx="21945" cy="21945"/>
          </a:xfrm>
          <a:prstGeom prst="ellipse">
            <a:avLst/>
          </a:prstGeom>
          <a:solidFill>
            <a:srgbClr val="D9E8FF">
              <a:alpha val="7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037373" y="2205482"/>
            <a:ext cx="16459" cy="16459"/>
          </a:xfrm>
          <a:prstGeom prst="ellipse">
            <a:avLst/>
          </a:prstGeom>
          <a:solidFill>
            <a:srgbClr val="D9E8FF">
              <a:alpha val="7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96985" y="803855"/>
            <a:ext cx="36576" cy="36576"/>
          </a:xfrm>
          <a:prstGeom prst="ellipse">
            <a:avLst/>
          </a:prstGeom>
          <a:solidFill>
            <a:srgbClr val="9A8BFF">
              <a:alpha val="8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857856" y="4252162"/>
            <a:ext cx="21945" cy="21945"/>
          </a:xfrm>
          <a:prstGeom prst="ellipse">
            <a:avLst/>
          </a:prstGeom>
          <a:solidFill>
            <a:srgbClr val="D9E8FF">
              <a:alpha val="8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150999" y="1170086"/>
            <a:ext cx="27432" cy="27432"/>
          </a:xfrm>
          <a:prstGeom prst="ellipse">
            <a:avLst/>
          </a:prstGeom>
          <a:solidFill>
            <a:srgbClr val="D9E8FF">
              <a:alpha val="6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AI ·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Function Calling 与 Agent 工作流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263347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94360" y="1682496"/>
            <a:ext cx="3657600" cy="361188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50392" y="1975103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4128" y="1892807"/>
            <a:ext cx="29352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2F6FF"/>
                </a:solidFill>
                <a:latin typeface="Microsoft YaHei"/>
              </a:rPr>
              <a:t>5 个工具</a:t>
            </a:r>
          </a:p>
        </p:txBody>
      </p:sp>
      <p:sp>
        <p:nvSpPr>
          <p:cNvPr id="50" name="Oval 49"/>
          <p:cNvSpPr/>
          <p:nvPr/>
        </p:nvSpPr>
        <p:spPr>
          <a:xfrm>
            <a:off x="868680" y="2542032"/>
            <a:ext cx="68580" cy="68580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9848" y="2432304"/>
            <a:ext cx="2816351" cy="433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300" b="0">
                <a:solidFill>
                  <a:srgbClr val="F2F6FF"/>
                </a:solidFill>
                <a:latin typeface="Microsoft YaHei"/>
              </a:rPr>
              <a:t>月相计算</a:t>
            </a:r>
          </a:p>
        </p:txBody>
      </p:sp>
      <p:sp>
        <p:nvSpPr>
          <p:cNvPr id="52" name="Oval 51"/>
          <p:cNvSpPr/>
          <p:nvPr/>
        </p:nvSpPr>
        <p:spPr>
          <a:xfrm>
            <a:off x="868680" y="3039465"/>
            <a:ext cx="68580" cy="68580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9848" y="2929737"/>
            <a:ext cx="2816351" cy="433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300" b="0">
                <a:solidFill>
                  <a:srgbClr val="F2F6FF"/>
                </a:solidFill>
                <a:latin typeface="Microsoft YaHei"/>
              </a:rPr>
              <a:t>今夜观星</a:t>
            </a:r>
          </a:p>
        </p:txBody>
      </p:sp>
      <p:sp>
        <p:nvSpPr>
          <p:cNvPr id="54" name="Oval 53"/>
          <p:cNvSpPr/>
          <p:nvPr/>
        </p:nvSpPr>
        <p:spPr>
          <a:xfrm>
            <a:off x="868680" y="3536899"/>
            <a:ext cx="68580" cy="68580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9848" y="3427171"/>
            <a:ext cx="2816351" cy="433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300" b="0">
                <a:solidFill>
                  <a:srgbClr val="F2F6FF"/>
                </a:solidFill>
                <a:latin typeface="Microsoft YaHei"/>
              </a:rPr>
              <a:t>装备导购</a:t>
            </a:r>
          </a:p>
        </p:txBody>
      </p:sp>
      <p:sp>
        <p:nvSpPr>
          <p:cNvPr id="56" name="Oval 55"/>
          <p:cNvSpPr/>
          <p:nvPr/>
        </p:nvSpPr>
        <p:spPr>
          <a:xfrm>
            <a:off x="868680" y="4034332"/>
            <a:ext cx="68580" cy="68580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9848" y="3924604"/>
            <a:ext cx="2816351" cy="433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300" b="0">
                <a:solidFill>
                  <a:srgbClr val="F2F6FF"/>
                </a:solidFill>
                <a:latin typeface="Microsoft YaHei"/>
              </a:rPr>
              <a:t>知识检索</a:t>
            </a:r>
          </a:p>
        </p:txBody>
      </p:sp>
      <p:sp>
        <p:nvSpPr>
          <p:cNvPr id="58" name="Oval 57"/>
          <p:cNvSpPr/>
          <p:nvPr/>
        </p:nvSpPr>
        <p:spPr>
          <a:xfrm>
            <a:off x="868680" y="4531766"/>
            <a:ext cx="68580" cy="68580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69848" y="4422038"/>
            <a:ext cx="2816351" cy="433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300" b="0">
                <a:solidFill>
                  <a:srgbClr val="F2F6FF"/>
                </a:solidFill>
                <a:latin typeface="Microsoft YaHei"/>
              </a:rPr>
              <a:t>页面导航</a:t>
            </a:r>
          </a:p>
        </p:txBody>
      </p:sp>
      <p:pic>
        <p:nvPicPr>
          <p:cNvPr id="60" name="Picture 59" descr="ai-audience.png"/>
          <p:cNvPicPr>
            <a:picLocks noChangeAspect="1"/>
          </p:cNvPicPr>
          <p:nvPr/>
        </p:nvPicPr>
        <p:blipFill>
          <a:blip r:embed="rId2"/>
          <a:srcRect b="16900"/>
          <a:stretch>
            <a:fillRect/>
          </a:stretch>
        </p:blipFill>
        <p:spPr>
          <a:xfrm>
            <a:off x="4526280" y="1682496"/>
            <a:ext cx="6903720" cy="3584448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553712" y="5431536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324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99432" y="553212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F2F6FF"/>
                </a:solidFill>
                <a:latin typeface="Microsoft YaHei"/>
              </a:rPr>
              <a:t>模型规划 tool_calls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998464" y="5669280"/>
            <a:ext cx="228600" cy="0"/>
          </a:xfrm>
          <a:prstGeom prst="line">
            <a:avLst/>
          </a:prstGeom>
          <a:ln w="15240">
            <a:solidFill>
              <a:srgbClr val="79C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6291072" y="5431536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324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36792" y="553212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F2F6FF"/>
                </a:solidFill>
                <a:latin typeface="Microsoft YaHei"/>
              </a:rPr>
              <a:t>服务端执行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735824" y="5669280"/>
            <a:ext cx="228600" cy="0"/>
          </a:xfrm>
          <a:prstGeom prst="line">
            <a:avLst/>
          </a:prstGeom>
          <a:ln w="15240">
            <a:solidFill>
              <a:srgbClr val="79C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028432" y="5431536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324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74152" y="553212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F2F6FF"/>
                </a:solidFill>
                <a:latin typeface="Microsoft YaHei"/>
              </a:rPr>
              <a:t>结果注入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473184" y="5669280"/>
            <a:ext cx="228600" cy="0"/>
          </a:xfrm>
          <a:prstGeom prst="line">
            <a:avLst/>
          </a:prstGeom>
          <a:ln w="15240">
            <a:solidFill>
              <a:srgbClr val="79C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765792" y="5431536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324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11512" y="553212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F2F6FF"/>
                </a:solidFill>
                <a:latin typeface="Microsoft YaHei"/>
              </a:rPr>
              <a:t>流式生成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94360" y="5404104"/>
            <a:ext cx="3657600" cy="292608"/>
          </a:xfrm>
          <a:prstGeom prst="roundRect">
            <a:avLst>
              <a:gd name="adj" fmla="val 10000"/>
            </a:avLst>
          </a:prstGeom>
          <a:solidFill>
            <a:srgbClr val="1324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7512" y="5436108"/>
            <a:ext cx="351129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示例：月相问题 → 「月相计算」徽标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53712" y="6016752"/>
            <a:ext cx="690372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8B8CE"/>
                </a:solidFill>
                <a:latin typeface="Microsoft YaHei"/>
              </a:rPr>
              <a:t>可视化：SSE `toolsUsed` + 前端工具徽标　·　兜底：推理模型跳过规划；无 Key/断网走规则工具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996396" y="1102870"/>
            <a:ext cx="16459" cy="16459"/>
          </a:xfrm>
          <a:prstGeom prst="ellipse">
            <a:avLst/>
          </a:prstGeom>
          <a:solidFill>
            <a:srgbClr val="79C7FF">
              <a:alpha val="8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23466" y="2517306"/>
            <a:ext cx="16459" cy="16459"/>
          </a:xfrm>
          <a:prstGeom prst="ellipse">
            <a:avLst/>
          </a:prstGeom>
          <a:solidFill>
            <a:srgbClr val="D9E8FF">
              <a:alpha val="4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84009" y="2964712"/>
            <a:ext cx="16459" cy="16459"/>
          </a:xfrm>
          <a:prstGeom prst="ellipse">
            <a:avLst/>
          </a:prstGeom>
          <a:solidFill>
            <a:srgbClr val="79C7FF">
              <a:alpha val="4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704196" y="498892"/>
            <a:ext cx="16459" cy="16459"/>
          </a:xfrm>
          <a:prstGeom prst="ellipse">
            <a:avLst/>
          </a:prstGeom>
          <a:solidFill>
            <a:srgbClr val="79C7FF">
              <a:alpha val="7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14517" y="6349140"/>
            <a:ext cx="36576" cy="36576"/>
          </a:xfrm>
          <a:prstGeom prst="ellipse">
            <a:avLst/>
          </a:prstGeom>
          <a:solidFill>
            <a:srgbClr val="79C7FF">
              <a:alpha val="4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2303" y="5761609"/>
            <a:ext cx="27432" cy="27432"/>
          </a:xfrm>
          <a:prstGeom prst="ellipse">
            <a:avLst/>
          </a:prstGeom>
          <a:solidFill>
            <a:srgbClr val="9A8BFF">
              <a:alpha val="4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0716" y="3868441"/>
            <a:ext cx="21945" cy="21945"/>
          </a:xfrm>
          <a:prstGeom prst="ellipse">
            <a:avLst/>
          </a:prstGeom>
          <a:solidFill>
            <a:srgbClr val="79C7FF">
              <a:alpha val="7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44417" y="1346610"/>
            <a:ext cx="16459" cy="16459"/>
          </a:xfrm>
          <a:prstGeom prst="ellipse">
            <a:avLst/>
          </a:prstGeom>
          <a:solidFill>
            <a:srgbClr val="D9E8FF">
              <a:alpha val="8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439" y="502123"/>
            <a:ext cx="21945" cy="21945"/>
          </a:xfrm>
          <a:prstGeom prst="ellipse">
            <a:avLst/>
          </a:prstGeom>
          <a:solidFill>
            <a:srgbClr val="9A8BFF">
              <a:alpha val="7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869" y="5226753"/>
            <a:ext cx="36576" cy="36576"/>
          </a:xfrm>
          <a:prstGeom prst="ellipse">
            <a:avLst/>
          </a:prstGeom>
          <a:solidFill>
            <a:srgbClr val="D9E8FF">
              <a:alpha val="9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37928" y="2083297"/>
            <a:ext cx="21945" cy="21945"/>
          </a:xfrm>
          <a:prstGeom prst="ellipse">
            <a:avLst/>
          </a:prstGeom>
          <a:solidFill>
            <a:srgbClr val="D9E8FF">
              <a:alpha val="8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46149" y="3891549"/>
            <a:ext cx="36576" cy="36576"/>
          </a:xfrm>
          <a:prstGeom prst="ellipse">
            <a:avLst/>
          </a:prstGeom>
          <a:solidFill>
            <a:srgbClr val="9A8BFF">
              <a:alpha val="8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86085" y="4118919"/>
            <a:ext cx="16459" cy="16459"/>
          </a:xfrm>
          <a:prstGeom prst="ellipse">
            <a:avLst/>
          </a:prstGeom>
          <a:solidFill>
            <a:srgbClr val="79C7FF">
              <a:alpha val="6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20086" y="5094501"/>
            <a:ext cx="21945" cy="21945"/>
          </a:xfrm>
          <a:prstGeom prst="ellipse">
            <a:avLst/>
          </a:prstGeom>
          <a:solidFill>
            <a:srgbClr val="9A8BFF">
              <a:alpha val="6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4407" y="4509047"/>
            <a:ext cx="27432" cy="27432"/>
          </a:xfrm>
          <a:prstGeom prst="ellipse">
            <a:avLst/>
          </a:prstGeom>
          <a:solidFill>
            <a:srgbClr val="9A8BFF">
              <a:alpha val="7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10367" y="3379675"/>
            <a:ext cx="36576" cy="36576"/>
          </a:xfrm>
          <a:prstGeom prst="ellipse">
            <a:avLst/>
          </a:prstGeom>
          <a:solidFill>
            <a:srgbClr val="79C7FF">
              <a:alpha val="8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52578" y="1886921"/>
            <a:ext cx="16459" cy="16459"/>
          </a:xfrm>
          <a:prstGeom prst="ellipse">
            <a:avLst/>
          </a:prstGeom>
          <a:solidFill>
            <a:srgbClr val="79C7FF">
              <a:alpha val="8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97103" y="4370217"/>
            <a:ext cx="36576" cy="36576"/>
          </a:xfrm>
          <a:prstGeom prst="ellipse">
            <a:avLst/>
          </a:prstGeom>
          <a:solidFill>
            <a:srgbClr val="9A8BFF">
              <a:alpha val="8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34781" y="4511923"/>
            <a:ext cx="16459" cy="16459"/>
          </a:xfrm>
          <a:prstGeom prst="ellipse">
            <a:avLst/>
          </a:prstGeom>
          <a:solidFill>
            <a:srgbClr val="9A8BFF">
              <a:alpha val="5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39855" y="880649"/>
            <a:ext cx="16459" cy="16459"/>
          </a:xfrm>
          <a:prstGeom prst="ellipse">
            <a:avLst/>
          </a:prstGeom>
          <a:solidFill>
            <a:srgbClr val="79C7FF">
              <a:alpha val="8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62594" y="4970876"/>
            <a:ext cx="36576" cy="36576"/>
          </a:xfrm>
          <a:prstGeom prst="ellipse">
            <a:avLst/>
          </a:prstGeom>
          <a:solidFill>
            <a:srgbClr val="9A8BFF">
              <a:alpha val="9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22222" y="640249"/>
            <a:ext cx="36576" cy="36576"/>
          </a:xfrm>
          <a:prstGeom prst="ellipse">
            <a:avLst/>
          </a:prstGeom>
          <a:solidFill>
            <a:srgbClr val="9A8BFF">
              <a:alpha val="7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48273" y="1011205"/>
            <a:ext cx="36576" cy="36576"/>
          </a:xfrm>
          <a:prstGeom prst="ellipse">
            <a:avLst/>
          </a:prstGeom>
          <a:solidFill>
            <a:srgbClr val="D9E8FF">
              <a:alpha val="5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55554" y="6604311"/>
            <a:ext cx="36576" cy="36576"/>
          </a:xfrm>
          <a:prstGeom prst="ellipse">
            <a:avLst/>
          </a:prstGeom>
          <a:solidFill>
            <a:srgbClr val="79C7FF">
              <a:alpha val="4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26119" y="1105828"/>
            <a:ext cx="21945" cy="21945"/>
          </a:xfrm>
          <a:prstGeom prst="ellipse">
            <a:avLst/>
          </a:prstGeom>
          <a:solidFill>
            <a:srgbClr val="79C7FF">
              <a:alpha val="6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041613" y="1310215"/>
            <a:ext cx="27432" cy="27432"/>
          </a:xfrm>
          <a:prstGeom prst="ellipse">
            <a:avLst/>
          </a:prstGeom>
          <a:solidFill>
            <a:srgbClr val="79C7FF">
              <a:alpha val="4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129902" y="2540775"/>
            <a:ext cx="27432" cy="27432"/>
          </a:xfrm>
          <a:prstGeom prst="ellipse">
            <a:avLst/>
          </a:prstGeom>
          <a:solidFill>
            <a:srgbClr val="79C7FF">
              <a:alpha val="7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76592" y="6365698"/>
            <a:ext cx="16459" cy="16459"/>
          </a:xfrm>
          <a:prstGeom prst="ellipse">
            <a:avLst/>
          </a:prstGeom>
          <a:solidFill>
            <a:srgbClr val="9A8BFF">
              <a:alpha val="9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16949" y="6376642"/>
            <a:ext cx="36576" cy="36576"/>
          </a:xfrm>
          <a:prstGeom prst="ellipse">
            <a:avLst/>
          </a:prstGeom>
          <a:solidFill>
            <a:srgbClr val="9A8BFF">
              <a:alpha val="6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34036" y="3279920"/>
            <a:ext cx="36576" cy="36576"/>
          </a:xfrm>
          <a:prstGeom prst="ellipse">
            <a:avLst/>
          </a:prstGeom>
          <a:solidFill>
            <a:srgbClr val="79C7FF">
              <a:alpha val="4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9766" y="1484158"/>
            <a:ext cx="21945" cy="21945"/>
          </a:xfrm>
          <a:prstGeom prst="ellipse">
            <a:avLst/>
          </a:prstGeom>
          <a:solidFill>
            <a:srgbClr val="79C7FF">
              <a:alpha val="5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296252" y="783762"/>
            <a:ext cx="21945" cy="21945"/>
          </a:xfrm>
          <a:prstGeom prst="ellipse">
            <a:avLst/>
          </a:prstGeom>
          <a:solidFill>
            <a:srgbClr val="D9E8FF">
              <a:alpha val="4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446138" y="4150377"/>
            <a:ext cx="16459" cy="16459"/>
          </a:xfrm>
          <a:prstGeom prst="ellipse">
            <a:avLst/>
          </a:prstGeom>
          <a:solidFill>
            <a:srgbClr val="79C7FF">
              <a:alpha val="7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20826" y="4286477"/>
            <a:ext cx="27432" cy="27432"/>
          </a:xfrm>
          <a:prstGeom prst="ellipse">
            <a:avLst/>
          </a:prstGeom>
          <a:solidFill>
            <a:srgbClr val="D9E8FF">
              <a:alpha val="5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7800" y="869178"/>
            <a:ext cx="36576" cy="36576"/>
          </a:xfrm>
          <a:prstGeom prst="ellipse">
            <a:avLst/>
          </a:prstGeom>
          <a:solidFill>
            <a:srgbClr val="9A8BFF">
              <a:alpha val="6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03199" y="675165"/>
            <a:ext cx="16459" cy="16459"/>
          </a:xfrm>
          <a:prstGeom prst="ellipse">
            <a:avLst/>
          </a:prstGeom>
          <a:solidFill>
            <a:srgbClr val="D9E8FF">
              <a:alpha val="5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960203" y="3260821"/>
            <a:ext cx="21945" cy="21945"/>
          </a:xfrm>
          <a:prstGeom prst="ellipse">
            <a:avLst/>
          </a:prstGeom>
          <a:solidFill>
            <a:srgbClr val="D9E8FF">
              <a:alpha val="3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582784" y="6377529"/>
            <a:ext cx="27432" cy="27432"/>
          </a:xfrm>
          <a:prstGeom prst="ellipse">
            <a:avLst/>
          </a:prstGeom>
          <a:solidFill>
            <a:srgbClr val="79C7FF">
              <a:alpha val="7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AI · SAFETY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AI 安全与可控性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307238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68680" y="1773936"/>
            <a:ext cx="2999232" cy="1042415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69848" y="2029967"/>
            <a:ext cx="237744" cy="237744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53895" y="19385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大模型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53895" y="234086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完整生成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931920" y="2295144"/>
            <a:ext cx="484632" cy="0"/>
          </a:xfrm>
          <a:prstGeom prst="line">
            <a:avLst/>
          </a:prstGeom>
          <a:ln w="21590">
            <a:solidFill>
              <a:srgbClr val="79C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343400" y="2240280"/>
            <a:ext cx="109728" cy="109728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562856" y="1773936"/>
            <a:ext cx="2999232" cy="1042415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764024" y="2029967"/>
            <a:ext cx="237744" cy="237744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48072" y="19385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本地检索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48072" y="234086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可溯源证据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626096" y="2295144"/>
            <a:ext cx="484632" cy="0"/>
          </a:xfrm>
          <a:prstGeom prst="line">
            <a:avLst/>
          </a:prstGeom>
          <a:ln w="21590">
            <a:solidFill>
              <a:srgbClr val="9A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8037575" y="2240280"/>
            <a:ext cx="109728" cy="109728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257031" y="1773936"/>
            <a:ext cx="2999232" cy="1042415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58200" y="2029967"/>
            <a:ext cx="237744" cy="237744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42248" y="19385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兜底引导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42248" y="234086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明确边界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13232" y="3255264"/>
            <a:ext cx="3547872" cy="141732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32688" y="3575304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06424" y="3493008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2F6FF"/>
                </a:solidFill>
                <a:latin typeface="Microsoft YaHei"/>
              </a:rPr>
              <a:t>溯源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" y="3950208"/>
            <a:ext cx="309067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角标 + 来源卡片 + 原文跳转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35424" y="3255264"/>
            <a:ext cx="3547872" cy="141732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54880" y="3575304"/>
            <a:ext cx="82296" cy="82296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28616" y="3493008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2F6FF"/>
                </a:solidFill>
                <a:latin typeface="Microsoft YaHei"/>
              </a:rPr>
              <a:t>BYOK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54880" y="3950208"/>
            <a:ext cx="309067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用户 Key 只存浏览器、请求期使用；站点 Key 不下发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357615" y="3255264"/>
            <a:ext cx="3547872" cy="141732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577072" y="3575304"/>
            <a:ext cx="82296" cy="82296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50807" y="3493008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2F6FF"/>
                </a:solidFill>
                <a:latin typeface="Microsoft YaHei"/>
              </a:rPr>
              <a:t>内容安全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77072" y="3950208"/>
            <a:ext cx="309067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超范围引导、科学争议声明、事实校订回归测试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46120" y="5001768"/>
            <a:ext cx="5596128" cy="292608"/>
          </a:xfrm>
          <a:prstGeom prst="roundRect">
            <a:avLst>
              <a:gd name="adj" fmla="val 10000"/>
            </a:avLst>
          </a:prstGeom>
          <a:solidFill>
            <a:srgbClr val="1021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19272" y="5033772"/>
            <a:ext cx="54498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54D9D2"/>
                </a:solidFill>
                <a:latin typeface="Microsoft YaHei"/>
              </a:rPr>
              <a:t>三级降级：大模型 → 本地检索 → 兜底引导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38898" y="6445170"/>
            <a:ext cx="21945" cy="21945"/>
          </a:xfrm>
          <a:prstGeom prst="ellipse">
            <a:avLst/>
          </a:prstGeom>
          <a:solidFill>
            <a:srgbClr val="79C7FF">
              <a:alpha val="8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884" y="1010658"/>
            <a:ext cx="21945" cy="21945"/>
          </a:xfrm>
          <a:prstGeom prst="ellipse">
            <a:avLst/>
          </a:prstGeom>
          <a:solidFill>
            <a:srgbClr val="9A8BFF">
              <a:alpha val="7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98181" y="3318627"/>
            <a:ext cx="36576" cy="36576"/>
          </a:xfrm>
          <a:prstGeom prst="ellipse">
            <a:avLst/>
          </a:prstGeom>
          <a:solidFill>
            <a:srgbClr val="9A8BFF">
              <a:alpha val="7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28047" y="5577614"/>
            <a:ext cx="16459" cy="16459"/>
          </a:xfrm>
          <a:prstGeom prst="ellipse">
            <a:avLst/>
          </a:prstGeom>
          <a:solidFill>
            <a:srgbClr val="9A8BFF">
              <a:alpha val="4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82737" y="4725952"/>
            <a:ext cx="36576" cy="36576"/>
          </a:xfrm>
          <a:prstGeom prst="ellipse">
            <a:avLst/>
          </a:prstGeom>
          <a:solidFill>
            <a:srgbClr val="9A8BFF">
              <a:alpha val="9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95774" y="4889492"/>
            <a:ext cx="27432" cy="27432"/>
          </a:xfrm>
          <a:prstGeom prst="ellipse">
            <a:avLst/>
          </a:prstGeom>
          <a:solidFill>
            <a:srgbClr val="79C7FF">
              <a:alpha val="8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9011" y="4192715"/>
            <a:ext cx="36576" cy="36576"/>
          </a:xfrm>
          <a:prstGeom prst="ellipse">
            <a:avLst/>
          </a:prstGeom>
          <a:solidFill>
            <a:srgbClr val="79C7FF">
              <a:alpha val="7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9014" y="1653068"/>
            <a:ext cx="16459" cy="16459"/>
          </a:xfrm>
          <a:prstGeom prst="ellipse">
            <a:avLst/>
          </a:prstGeom>
          <a:solidFill>
            <a:srgbClr val="9A8BFF">
              <a:alpha val="9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80133" y="6044092"/>
            <a:ext cx="21945" cy="21945"/>
          </a:xfrm>
          <a:prstGeom prst="ellipse">
            <a:avLst/>
          </a:prstGeom>
          <a:solidFill>
            <a:srgbClr val="D9E8FF">
              <a:alpha val="3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69156" y="356384"/>
            <a:ext cx="21945" cy="21945"/>
          </a:xfrm>
          <a:prstGeom prst="ellipse">
            <a:avLst/>
          </a:prstGeom>
          <a:solidFill>
            <a:srgbClr val="79C7FF">
              <a:alpha val="9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89827" y="3113618"/>
            <a:ext cx="36576" cy="36576"/>
          </a:xfrm>
          <a:prstGeom prst="ellipse">
            <a:avLst/>
          </a:prstGeom>
          <a:solidFill>
            <a:srgbClr val="9A8BFF">
              <a:alpha val="7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88048" y="5890702"/>
            <a:ext cx="21945" cy="21945"/>
          </a:xfrm>
          <a:prstGeom prst="ellipse">
            <a:avLst/>
          </a:prstGeom>
          <a:solidFill>
            <a:srgbClr val="79C7FF">
              <a:alpha val="8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03219" y="3610981"/>
            <a:ext cx="27432" cy="27432"/>
          </a:xfrm>
          <a:prstGeom prst="ellipse">
            <a:avLst/>
          </a:prstGeom>
          <a:solidFill>
            <a:srgbClr val="D9E8FF">
              <a:alpha val="5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458663" y="5663015"/>
            <a:ext cx="21945" cy="21945"/>
          </a:xfrm>
          <a:prstGeom prst="ellipse">
            <a:avLst/>
          </a:prstGeom>
          <a:solidFill>
            <a:srgbClr val="9A8BFF">
              <a:alpha val="4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6636" y="1981826"/>
            <a:ext cx="16459" cy="16459"/>
          </a:xfrm>
          <a:prstGeom prst="ellipse">
            <a:avLst/>
          </a:prstGeom>
          <a:solidFill>
            <a:srgbClr val="D9E8FF">
              <a:alpha val="9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94752" y="1557841"/>
            <a:ext cx="21945" cy="21945"/>
          </a:xfrm>
          <a:prstGeom prst="ellipse">
            <a:avLst/>
          </a:prstGeom>
          <a:solidFill>
            <a:srgbClr val="79C7FF">
              <a:alpha val="5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27575" y="1866532"/>
            <a:ext cx="36576" cy="36576"/>
          </a:xfrm>
          <a:prstGeom prst="ellipse">
            <a:avLst/>
          </a:prstGeom>
          <a:solidFill>
            <a:srgbClr val="9A8BFF">
              <a:alpha val="5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92746" y="4753828"/>
            <a:ext cx="36576" cy="36576"/>
          </a:xfrm>
          <a:prstGeom prst="ellipse">
            <a:avLst/>
          </a:prstGeom>
          <a:solidFill>
            <a:srgbClr val="79C7FF">
              <a:alpha val="7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59586" y="1203814"/>
            <a:ext cx="16459" cy="16459"/>
          </a:xfrm>
          <a:prstGeom prst="ellipse">
            <a:avLst/>
          </a:prstGeom>
          <a:solidFill>
            <a:srgbClr val="79C7FF">
              <a:alpha val="8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51989" y="876615"/>
            <a:ext cx="36576" cy="36576"/>
          </a:xfrm>
          <a:prstGeom prst="ellipse">
            <a:avLst/>
          </a:prstGeom>
          <a:solidFill>
            <a:srgbClr val="9A8BFF">
              <a:alpha val="8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64985" y="2977627"/>
            <a:ext cx="21945" cy="21945"/>
          </a:xfrm>
          <a:prstGeom prst="ellipse">
            <a:avLst/>
          </a:prstGeom>
          <a:solidFill>
            <a:srgbClr val="79C7FF">
              <a:alpha val="6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58527" y="2790305"/>
            <a:ext cx="16459" cy="16459"/>
          </a:xfrm>
          <a:prstGeom prst="ellipse">
            <a:avLst/>
          </a:prstGeom>
          <a:solidFill>
            <a:srgbClr val="D9E8FF">
              <a:alpha val="3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78234" y="735913"/>
            <a:ext cx="16459" cy="16459"/>
          </a:xfrm>
          <a:prstGeom prst="ellipse">
            <a:avLst/>
          </a:prstGeom>
          <a:solidFill>
            <a:srgbClr val="D9E8FF">
              <a:alpha val="4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45371" y="3581197"/>
            <a:ext cx="21945" cy="21945"/>
          </a:xfrm>
          <a:prstGeom prst="ellipse">
            <a:avLst/>
          </a:prstGeom>
          <a:solidFill>
            <a:srgbClr val="D9E8FF">
              <a:alpha val="6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76775" y="6562205"/>
            <a:ext cx="16459" cy="16459"/>
          </a:xfrm>
          <a:prstGeom prst="ellipse">
            <a:avLst/>
          </a:prstGeom>
          <a:solidFill>
            <a:srgbClr val="79C7FF">
              <a:alpha val="3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13134" y="2353397"/>
            <a:ext cx="16459" cy="16459"/>
          </a:xfrm>
          <a:prstGeom prst="ellipse">
            <a:avLst/>
          </a:prstGeom>
          <a:solidFill>
            <a:srgbClr val="D9E8FF">
              <a:alpha val="5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25453" y="6462729"/>
            <a:ext cx="16459" cy="16459"/>
          </a:xfrm>
          <a:prstGeom prst="ellipse">
            <a:avLst/>
          </a:prstGeom>
          <a:solidFill>
            <a:srgbClr val="D9E8FF">
              <a:alpha val="8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084163" y="509133"/>
            <a:ext cx="16459" cy="16459"/>
          </a:xfrm>
          <a:prstGeom prst="ellipse">
            <a:avLst/>
          </a:prstGeom>
          <a:solidFill>
            <a:srgbClr val="D9E8FF">
              <a:alpha val="4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256045" y="6495033"/>
            <a:ext cx="36576" cy="36576"/>
          </a:xfrm>
          <a:prstGeom prst="ellipse">
            <a:avLst/>
          </a:prstGeom>
          <a:solidFill>
            <a:srgbClr val="79C7FF">
              <a:alpha val="4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526110" y="1584361"/>
            <a:ext cx="36576" cy="36576"/>
          </a:xfrm>
          <a:prstGeom prst="ellipse">
            <a:avLst/>
          </a:prstGeom>
          <a:solidFill>
            <a:srgbClr val="79C7FF">
              <a:alpha val="5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591342" y="3933111"/>
            <a:ext cx="36576" cy="36576"/>
          </a:xfrm>
          <a:prstGeom prst="ellipse">
            <a:avLst/>
          </a:prstGeom>
          <a:solidFill>
            <a:srgbClr val="D9E8FF">
              <a:alpha val="4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09880" y="3496916"/>
            <a:ext cx="16459" cy="16459"/>
          </a:xfrm>
          <a:prstGeom prst="ellipse">
            <a:avLst/>
          </a:prstGeom>
          <a:solidFill>
            <a:srgbClr val="D9E8FF">
              <a:alpha val="9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753796" y="2702071"/>
            <a:ext cx="27432" cy="27432"/>
          </a:xfrm>
          <a:prstGeom prst="ellipse">
            <a:avLst/>
          </a:prstGeom>
          <a:solidFill>
            <a:srgbClr val="9A8BFF">
              <a:alpha val="4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4066" y="431846"/>
            <a:ext cx="16459" cy="16459"/>
          </a:xfrm>
          <a:prstGeom prst="ellipse">
            <a:avLst/>
          </a:prstGeom>
          <a:solidFill>
            <a:srgbClr val="79C7FF">
              <a:alpha val="4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78937" y="4773087"/>
            <a:ext cx="16459" cy="16459"/>
          </a:xfrm>
          <a:prstGeom prst="ellipse">
            <a:avLst/>
          </a:prstGeom>
          <a:solidFill>
            <a:srgbClr val="D9E8FF">
              <a:alpha val="5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19821" y="3585115"/>
            <a:ext cx="21945" cy="21945"/>
          </a:xfrm>
          <a:prstGeom prst="ellipse">
            <a:avLst/>
          </a:prstGeom>
          <a:solidFill>
            <a:srgbClr val="D9E8FF">
              <a:alpha val="4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99687" y="2638591"/>
            <a:ext cx="21945" cy="21945"/>
          </a:xfrm>
          <a:prstGeom prst="ellipse">
            <a:avLst/>
          </a:prstGeom>
          <a:solidFill>
            <a:srgbClr val="79C7FF">
              <a:alpha val="5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44522" y="6093313"/>
            <a:ext cx="27432" cy="27432"/>
          </a:xfrm>
          <a:prstGeom prst="ellipse">
            <a:avLst/>
          </a:prstGeom>
          <a:solidFill>
            <a:srgbClr val="9A8BFF">
              <a:alpha val="4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DEMO · 2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现场演示（2 分钟）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351129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71016" y="1975104"/>
            <a:ext cx="438912" cy="438912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71016" y="2039112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07111F"/>
                </a:solidFill>
                <a:latin typeface="Microsoft YaHei"/>
              </a:rPr>
              <a:t>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709928" y="2194560"/>
            <a:ext cx="1060704" cy="0"/>
          </a:xfrm>
          <a:prstGeom prst="line">
            <a:avLst/>
          </a:prstGeom>
          <a:ln w="1651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13232" y="2633472"/>
            <a:ext cx="1572768" cy="96012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2798064"/>
            <a:ext cx="13533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观星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200400"/>
            <a:ext cx="1353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今夜观星</a:t>
            </a:r>
          </a:p>
        </p:txBody>
      </p:sp>
      <p:sp>
        <p:nvSpPr>
          <p:cNvPr id="53" name="Oval 52"/>
          <p:cNvSpPr/>
          <p:nvPr/>
        </p:nvSpPr>
        <p:spPr>
          <a:xfrm>
            <a:off x="3529584" y="1975104"/>
            <a:ext cx="438912" cy="438912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29584" y="2039112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07111F"/>
                </a:solidFill>
                <a:latin typeface="Microsoft YaHei"/>
              </a:rPr>
              <a:t>2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968496" y="2194560"/>
            <a:ext cx="1060704" cy="0"/>
          </a:xfrm>
          <a:prstGeom prst="line">
            <a:avLst/>
          </a:prstGeom>
          <a:ln w="1651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2971800" y="2633472"/>
            <a:ext cx="1572768" cy="96012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81528" y="2798064"/>
            <a:ext cx="13533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装备导购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81528" y="3200400"/>
            <a:ext cx="1353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装备导购</a:t>
            </a:r>
          </a:p>
        </p:txBody>
      </p:sp>
      <p:sp>
        <p:nvSpPr>
          <p:cNvPr id="59" name="Oval 58"/>
          <p:cNvSpPr/>
          <p:nvPr/>
        </p:nvSpPr>
        <p:spPr>
          <a:xfrm>
            <a:off x="5788152" y="1975104"/>
            <a:ext cx="438912" cy="438912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88152" y="2039112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07111F"/>
                </a:solidFill>
                <a:latin typeface="Microsoft YaHei"/>
              </a:rPr>
              <a:t>3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227064" y="2194560"/>
            <a:ext cx="1060704" cy="0"/>
          </a:xfrm>
          <a:prstGeom prst="line">
            <a:avLst/>
          </a:prstGeom>
          <a:ln w="1651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5230368" y="2633472"/>
            <a:ext cx="1572768" cy="96012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0096" y="2798064"/>
            <a:ext cx="13533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争议问题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0096" y="3200400"/>
            <a:ext cx="1353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科学边界</a:t>
            </a:r>
          </a:p>
        </p:txBody>
      </p:sp>
      <p:sp>
        <p:nvSpPr>
          <p:cNvPr id="65" name="Oval 64"/>
          <p:cNvSpPr/>
          <p:nvPr/>
        </p:nvSpPr>
        <p:spPr>
          <a:xfrm>
            <a:off x="8046719" y="1975104"/>
            <a:ext cx="438912" cy="438912"/>
          </a:xfrm>
          <a:prstGeom prst="ellipse">
            <a:avLst/>
          </a:prstGeom>
          <a:solidFill>
            <a:srgbClr val="FFC277"/>
          </a:solidFill>
          <a:ln>
            <a:solidFill>
              <a:srgbClr val="FFC2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9" y="2039112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07111F"/>
                </a:solidFill>
                <a:latin typeface="Microsoft YaHei"/>
              </a:rPr>
              <a:t>4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485632" y="2194560"/>
            <a:ext cx="1060704" cy="0"/>
          </a:xfrm>
          <a:prstGeom prst="line">
            <a:avLst/>
          </a:prstGeom>
          <a:ln w="1651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488936" y="2633472"/>
            <a:ext cx="1572768" cy="96012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98663" y="2798064"/>
            <a:ext cx="13533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指定日期月相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98663" y="3200400"/>
            <a:ext cx="1353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月相计算</a:t>
            </a:r>
          </a:p>
        </p:txBody>
      </p:sp>
      <p:sp>
        <p:nvSpPr>
          <p:cNvPr id="71" name="Oval 70"/>
          <p:cNvSpPr/>
          <p:nvPr/>
        </p:nvSpPr>
        <p:spPr>
          <a:xfrm>
            <a:off x="10305288" y="1975104"/>
            <a:ext cx="438912" cy="438912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05288" y="2039112"/>
            <a:ext cx="438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07111F"/>
                </a:solidFill>
                <a:latin typeface="Microsoft YaHei"/>
              </a:rPr>
              <a:t>5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747504" y="2633472"/>
            <a:ext cx="1572768" cy="96012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857232" y="2798064"/>
            <a:ext cx="13533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深度推理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57232" y="3200400"/>
            <a:ext cx="1353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A8B8CE"/>
                </a:solidFill>
                <a:latin typeface="Microsoft YaHei"/>
              </a:rPr>
              <a:t>思考过程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9808" y="4169663"/>
            <a:ext cx="6565392" cy="116128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87552" y="4443983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61288" y="4361688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2F6FF"/>
                </a:solidFill>
                <a:latin typeface="Microsoft YaHei"/>
              </a:rPr>
              <a:t>讲解重点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7552" y="4809744"/>
            <a:ext cx="5989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F2F6FF"/>
                </a:solidFill>
                <a:latin typeface="Microsoft YaHei"/>
              </a:rPr>
              <a:t>流式输出、工具徽标、思考过程折叠、来源跳转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571231" y="4169663"/>
            <a:ext cx="3749039" cy="1161288"/>
          </a:xfrm>
          <a:prstGeom prst="roundRect">
            <a:avLst>
              <a:gd name="adj" fmla="val 10000"/>
            </a:avLst>
          </a:prstGeom>
          <a:solidFill>
            <a:srgbClr val="18263B"/>
          </a:solidFill>
          <a:ln>
            <a:solidFill>
              <a:srgbClr val="345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808975" y="4443983"/>
            <a:ext cx="82296" cy="82296"/>
          </a:xfrm>
          <a:prstGeom prst="ellipse">
            <a:avLst/>
          </a:prstGeom>
          <a:solidFill>
            <a:srgbClr val="FFC277"/>
          </a:solidFill>
          <a:ln>
            <a:solidFill>
              <a:srgbClr val="FFC2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982711" y="43616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2F6FF"/>
                </a:solidFill>
                <a:latin typeface="Microsoft YaHei"/>
              </a:rPr>
              <a:t>备用方案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08975" y="4809744"/>
            <a:ext cx="32186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网络异常时切换本地知识库演示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54992" y="2567494"/>
            <a:ext cx="21945" cy="21945"/>
          </a:xfrm>
          <a:prstGeom prst="ellipse">
            <a:avLst/>
          </a:prstGeom>
          <a:solidFill>
            <a:srgbClr val="79C7FF">
              <a:alpha val="9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00975" y="2337154"/>
            <a:ext cx="36576" cy="36576"/>
          </a:xfrm>
          <a:prstGeom prst="ellipse">
            <a:avLst/>
          </a:prstGeom>
          <a:solidFill>
            <a:srgbClr val="D9E8FF">
              <a:alpha val="4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7849" y="6274592"/>
            <a:ext cx="16459" cy="16459"/>
          </a:xfrm>
          <a:prstGeom prst="ellipse">
            <a:avLst/>
          </a:prstGeom>
          <a:solidFill>
            <a:srgbClr val="D9E8FF">
              <a:alpha val="5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56132" y="6339307"/>
            <a:ext cx="36576" cy="36576"/>
          </a:xfrm>
          <a:prstGeom prst="ellipse">
            <a:avLst/>
          </a:prstGeom>
          <a:solidFill>
            <a:srgbClr val="79C7FF">
              <a:alpha val="4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973640" y="840171"/>
            <a:ext cx="16459" cy="16459"/>
          </a:xfrm>
          <a:prstGeom prst="ellipse">
            <a:avLst/>
          </a:prstGeom>
          <a:solidFill>
            <a:srgbClr val="D9E8FF">
              <a:alpha val="5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47059" y="5951190"/>
            <a:ext cx="27432" cy="27432"/>
          </a:xfrm>
          <a:prstGeom prst="ellipse">
            <a:avLst/>
          </a:prstGeom>
          <a:solidFill>
            <a:srgbClr val="79C7FF">
              <a:alpha val="7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10240" y="5330557"/>
            <a:ext cx="16459" cy="16459"/>
          </a:xfrm>
          <a:prstGeom prst="ellipse">
            <a:avLst/>
          </a:prstGeom>
          <a:solidFill>
            <a:srgbClr val="9A8BFF">
              <a:alpha val="9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638499" y="1960956"/>
            <a:ext cx="16459" cy="16459"/>
          </a:xfrm>
          <a:prstGeom prst="ellipse">
            <a:avLst/>
          </a:prstGeom>
          <a:solidFill>
            <a:srgbClr val="79C7FF">
              <a:alpha val="8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00718" y="5899239"/>
            <a:ext cx="16459" cy="16459"/>
          </a:xfrm>
          <a:prstGeom prst="ellipse">
            <a:avLst/>
          </a:prstGeom>
          <a:solidFill>
            <a:srgbClr val="9A8BFF">
              <a:alpha val="8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7073" y="264333"/>
            <a:ext cx="36576" cy="36576"/>
          </a:xfrm>
          <a:prstGeom prst="ellipse">
            <a:avLst/>
          </a:prstGeom>
          <a:solidFill>
            <a:srgbClr val="D9E8FF">
              <a:alpha val="9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75647" y="6456478"/>
            <a:ext cx="16459" cy="16459"/>
          </a:xfrm>
          <a:prstGeom prst="ellipse">
            <a:avLst/>
          </a:prstGeom>
          <a:solidFill>
            <a:srgbClr val="79C7FF">
              <a:alpha val="8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33748" y="6004119"/>
            <a:ext cx="21945" cy="21945"/>
          </a:xfrm>
          <a:prstGeom prst="ellipse">
            <a:avLst/>
          </a:prstGeom>
          <a:solidFill>
            <a:srgbClr val="9A8BFF">
              <a:alpha val="3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73122" y="986564"/>
            <a:ext cx="16459" cy="16459"/>
          </a:xfrm>
          <a:prstGeom prst="ellipse">
            <a:avLst/>
          </a:prstGeom>
          <a:solidFill>
            <a:srgbClr val="D9E8FF">
              <a:alpha val="4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65555" y="3649033"/>
            <a:ext cx="21945" cy="21945"/>
          </a:xfrm>
          <a:prstGeom prst="ellipse">
            <a:avLst/>
          </a:prstGeom>
          <a:solidFill>
            <a:srgbClr val="9A8BFF">
              <a:alpha val="3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81882" y="4314839"/>
            <a:ext cx="16459" cy="16459"/>
          </a:xfrm>
          <a:prstGeom prst="ellipse">
            <a:avLst/>
          </a:prstGeom>
          <a:solidFill>
            <a:srgbClr val="D9E8FF">
              <a:alpha val="7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69436" y="6296513"/>
            <a:ext cx="16459" cy="16459"/>
          </a:xfrm>
          <a:prstGeom prst="ellipse">
            <a:avLst/>
          </a:prstGeom>
          <a:solidFill>
            <a:srgbClr val="79C7FF">
              <a:alpha val="5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52026" y="4101945"/>
            <a:ext cx="21945" cy="21945"/>
          </a:xfrm>
          <a:prstGeom prst="ellipse">
            <a:avLst/>
          </a:prstGeom>
          <a:solidFill>
            <a:srgbClr val="D9E8FF">
              <a:alpha val="5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8864" y="3897198"/>
            <a:ext cx="16459" cy="16459"/>
          </a:xfrm>
          <a:prstGeom prst="ellipse">
            <a:avLst/>
          </a:prstGeom>
          <a:solidFill>
            <a:srgbClr val="79C7FF">
              <a:alpha val="9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4489" y="6370299"/>
            <a:ext cx="21945" cy="21945"/>
          </a:xfrm>
          <a:prstGeom prst="ellipse">
            <a:avLst/>
          </a:prstGeom>
          <a:solidFill>
            <a:srgbClr val="79C7FF">
              <a:alpha val="7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54378" y="4955288"/>
            <a:ext cx="16459" cy="16459"/>
          </a:xfrm>
          <a:prstGeom prst="ellipse">
            <a:avLst/>
          </a:prstGeom>
          <a:solidFill>
            <a:srgbClr val="9A8BFF">
              <a:alpha val="4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434201" y="3955517"/>
            <a:ext cx="36576" cy="36576"/>
          </a:xfrm>
          <a:prstGeom prst="ellipse">
            <a:avLst/>
          </a:prstGeom>
          <a:solidFill>
            <a:srgbClr val="79C7FF">
              <a:alpha val="6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506002" y="6343835"/>
            <a:ext cx="16459" cy="16459"/>
          </a:xfrm>
          <a:prstGeom prst="ellipse">
            <a:avLst/>
          </a:prstGeom>
          <a:solidFill>
            <a:srgbClr val="9A8BFF">
              <a:alpha val="8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79906" y="113776"/>
            <a:ext cx="16459" cy="16459"/>
          </a:xfrm>
          <a:prstGeom prst="ellipse">
            <a:avLst/>
          </a:prstGeom>
          <a:solidFill>
            <a:srgbClr val="79C7FF">
              <a:alpha val="4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28647" y="2247511"/>
            <a:ext cx="16459" cy="16459"/>
          </a:xfrm>
          <a:prstGeom prst="ellipse">
            <a:avLst/>
          </a:prstGeom>
          <a:solidFill>
            <a:srgbClr val="9A8BFF">
              <a:alpha val="7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32264" y="3516810"/>
            <a:ext cx="16459" cy="16459"/>
          </a:xfrm>
          <a:prstGeom prst="ellipse">
            <a:avLst/>
          </a:prstGeom>
          <a:solidFill>
            <a:srgbClr val="79C7FF">
              <a:alpha val="5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41309" y="5426377"/>
            <a:ext cx="36576" cy="36576"/>
          </a:xfrm>
          <a:prstGeom prst="ellipse">
            <a:avLst/>
          </a:prstGeom>
          <a:solidFill>
            <a:srgbClr val="9A8BFF">
              <a:alpha val="8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06292" y="3836265"/>
            <a:ext cx="16459" cy="16459"/>
          </a:xfrm>
          <a:prstGeom prst="ellipse">
            <a:avLst/>
          </a:prstGeom>
          <a:solidFill>
            <a:srgbClr val="9A8BFF">
              <a:alpha val="7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89517" y="6456887"/>
            <a:ext cx="36576" cy="36576"/>
          </a:xfrm>
          <a:prstGeom prst="ellipse">
            <a:avLst/>
          </a:prstGeom>
          <a:solidFill>
            <a:srgbClr val="D9E8FF">
              <a:alpha val="5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528278" y="3799641"/>
            <a:ext cx="21945" cy="21945"/>
          </a:xfrm>
          <a:prstGeom prst="ellipse">
            <a:avLst/>
          </a:prstGeom>
          <a:solidFill>
            <a:srgbClr val="D9E8FF">
              <a:alpha val="5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75743" y="5661572"/>
            <a:ext cx="27432" cy="27432"/>
          </a:xfrm>
          <a:prstGeom prst="ellipse">
            <a:avLst/>
          </a:prstGeom>
          <a:solidFill>
            <a:srgbClr val="79C7FF">
              <a:alpha val="3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333189" y="5439784"/>
            <a:ext cx="27432" cy="27432"/>
          </a:xfrm>
          <a:prstGeom prst="ellipse">
            <a:avLst/>
          </a:prstGeom>
          <a:solidFill>
            <a:srgbClr val="79C7FF">
              <a:alpha val="4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65735" y="187907"/>
            <a:ext cx="16459" cy="16459"/>
          </a:xfrm>
          <a:prstGeom prst="ellipse">
            <a:avLst/>
          </a:prstGeom>
          <a:solidFill>
            <a:srgbClr val="9A8BFF">
              <a:alpha val="4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511116" y="2046902"/>
            <a:ext cx="16459" cy="16459"/>
          </a:xfrm>
          <a:prstGeom prst="ellipse">
            <a:avLst/>
          </a:prstGeom>
          <a:solidFill>
            <a:srgbClr val="9A8BFF">
              <a:alpha val="5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13273" y="3809309"/>
            <a:ext cx="21945" cy="21945"/>
          </a:xfrm>
          <a:prstGeom prst="ellipse">
            <a:avLst/>
          </a:prstGeom>
          <a:solidFill>
            <a:srgbClr val="79C7FF">
              <a:alpha val="8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62740" y="4691891"/>
            <a:ext cx="16459" cy="16459"/>
          </a:xfrm>
          <a:prstGeom prst="ellipse">
            <a:avLst/>
          </a:prstGeom>
          <a:solidFill>
            <a:srgbClr val="9A8BFF">
              <a:alpha val="6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835631" y="3809265"/>
            <a:ext cx="36576" cy="36576"/>
          </a:xfrm>
          <a:prstGeom prst="ellipse">
            <a:avLst/>
          </a:prstGeom>
          <a:solidFill>
            <a:srgbClr val="D9E8FF">
              <a:alpha val="9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703777" y="4475947"/>
            <a:ext cx="27432" cy="27432"/>
          </a:xfrm>
          <a:prstGeom prst="ellipse">
            <a:avLst/>
          </a:prstGeom>
          <a:solidFill>
            <a:srgbClr val="D9E8FF">
              <a:alpha val="9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88648" y="2406582"/>
            <a:ext cx="16459" cy="16459"/>
          </a:xfrm>
          <a:prstGeom prst="ellipse">
            <a:avLst/>
          </a:prstGeom>
          <a:solidFill>
            <a:srgbClr val="9A8BFF">
              <a:alpha val="6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UX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用户体验与设计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395020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1792" y="1682496"/>
            <a:ext cx="3493008" cy="109728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22960" y="1956815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" y="1874519"/>
            <a:ext cx="28895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统一设计系统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225856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PageHeader、共享卡片、分组一致的页面结构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89120" y="1682496"/>
            <a:ext cx="3493008" cy="109728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90288" y="1956815"/>
            <a:ext cx="82296" cy="82296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64024" y="1874519"/>
            <a:ext cx="28895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AI 交互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0288" y="225856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打字机、光标、思考过程、工具徽标、移动端适配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56448" y="1682496"/>
            <a:ext cx="3493008" cy="109728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57616" y="1956815"/>
            <a:ext cx="82296" cy="82296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31352" y="1874519"/>
            <a:ext cx="28895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无障碍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57616" y="225856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键盘、aria、减少动效、对比度</a:t>
            </a:r>
          </a:p>
        </p:txBody>
      </p:sp>
      <p:pic>
        <p:nvPicPr>
          <p:cNvPr id="59" name="Picture 58" descr="ai-rag.png"/>
          <p:cNvPicPr>
            <a:picLocks noChangeAspect="1"/>
          </p:cNvPicPr>
          <p:nvPr/>
        </p:nvPicPr>
        <p:blipFill>
          <a:blip r:embed="rId2"/>
          <a:srcRect t="20057" b="20057"/>
          <a:stretch>
            <a:fillRect/>
          </a:stretch>
        </p:blipFill>
        <p:spPr>
          <a:xfrm>
            <a:off x="713232" y="3072384"/>
            <a:ext cx="6400800" cy="2395728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713232" y="5166360"/>
            <a:ext cx="6400800" cy="301752"/>
          </a:xfrm>
          <a:prstGeom prst="rect">
            <a:avLst/>
          </a:prstGeom>
          <a:solidFill>
            <a:srgbClr val="07111F">
              <a:alpha val="10000"/>
            </a:srgbClr>
          </a:solidFill>
          <a:ln>
            <a:solidFill>
              <a:srgbClr val="071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23951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F2F6FF"/>
                </a:solidFill>
                <a:latin typeface="Microsoft YaHei"/>
              </a:rPr>
              <a:t>桌面端</a:t>
            </a:r>
          </a:p>
        </p:txBody>
      </p:sp>
      <p:pic>
        <p:nvPicPr>
          <p:cNvPr id="62" name="Picture 61" descr="m-ai.png"/>
          <p:cNvPicPr>
            <a:picLocks noChangeAspect="1"/>
          </p:cNvPicPr>
          <p:nvPr/>
        </p:nvPicPr>
        <p:blipFill>
          <a:blip r:embed="rId3"/>
          <a:srcRect t="15993" b="15993"/>
          <a:stretch>
            <a:fillRect/>
          </a:stretch>
        </p:blipFill>
        <p:spPr>
          <a:xfrm>
            <a:off x="7772400" y="3072384"/>
            <a:ext cx="1627632" cy="2395728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9646920" y="3072384"/>
            <a:ext cx="1719072" cy="239572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848088" y="3429000"/>
            <a:ext cx="82296" cy="82296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21824" y="3346704"/>
            <a:ext cx="1197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F2F6FF"/>
                </a:solidFill>
                <a:latin typeface="Microsoft YaHei"/>
              </a:rPr>
              <a:t>移动端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48088" y="3877056"/>
            <a:ext cx="13533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8CE"/>
                </a:solidFill>
                <a:latin typeface="Microsoft YaHei"/>
              </a:rPr>
              <a:t>桌面 + 移动端
对比截图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946779" y="2933396"/>
            <a:ext cx="16459" cy="16459"/>
          </a:xfrm>
          <a:prstGeom prst="ellipse">
            <a:avLst/>
          </a:prstGeom>
          <a:solidFill>
            <a:srgbClr val="79C7FF">
              <a:alpha val="6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29814" y="5531973"/>
            <a:ext cx="21945" cy="21945"/>
          </a:xfrm>
          <a:prstGeom prst="ellipse">
            <a:avLst/>
          </a:prstGeom>
          <a:solidFill>
            <a:srgbClr val="79C7FF">
              <a:alpha val="6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77693" y="610675"/>
            <a:ext cx="27432" cy="27432"/>
          </a:xfrm>
          <a:prstGeom prst="ellipse">
            <a:avLst/>
          </a:prstGeom>
          <a:solidFill>
            <a:srgbClr val="79C7FF">
              <a:alpha val="6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88021" y="4080941"/>
            <a:ext cx="36576" cy="36576"/>
          </a:xfrm>
          <a:prstGeom prst="ellipse">
            <a:avLst/>
          </a:prstGeom>
          <a:solidFill>
            <a:srgbClr val="9A8BFF">
              <a:alpha val="5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91020" y="1836766"/>
            <a:ext cx="21945" cy="21945"/>
          </a:xfrm>
          <a:prstGeom prst="ellipse">
            <a:avLst/>
          </a:prstGeom>
          <a:solidFill>
            <a:srgbClr val="D9E8FF">
              <a:alpha val="5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24630" y="985213"/>
            <a:ext cx="21945" cy="21945"/>
          </a:xfrm>
          <a:prstGeom prst="ellipse">
            <a:avLst/>
          </a:prstGeom>
          <a:solidFill>
            <a:srgbClr val="9A8BFF">
              <a:alpha val="7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9071" y="3947562"/>
            <a:ext cx="21945" cy="21945"/>
          </a:xfrm>
          <a:prstGeom prst="ellipse">
            <a:avLst/>
          </a:prstGeom>
          <a:solidFill>
            <a:srgbClr val="79C7FF">
              <a:alpha val="4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51437" y="2103665"/>
            <a:ext cx="27432" cy="27432"/>
          </a:xfrm>
          <a:prstGeom prst="ellipse">
            <a:avLst/>
          </a:prstGeom>
          <a:solidFill>
            <a:srgbClr val="79C7FF">
              <a:alpha val="5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82354" y="3076485"/>
            <a:ext cx="36576" cy="36576"/>
          </a:xfrm>
          <a:prstGeom prst="ellipse">
            <a:avLst/>
          </a:prstGeom>
          <a:solidFill>
            <a:srgbClr val="79C7FF">
              <a:alpha val="7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03416" y="5666800"/>
            <a:ext cx="21945" cy="21945"/>
          </a:xfrm>
          <a:prstGeom prst="ellipse">
            <a:avLst/>
          </a:prstGeom>
          <a:solidFill>
            <a:srgbClr val="79C7FF">
              <a:alpha val="6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77952" y="318738"/>
            <a:ext cx="27432" cy="27432"/>
          </a:xfrm>
          <a:prstGeom prst="ellipse">
            <a:avLst/>
          </a:prstGeom>
          <a:solidFill>
            <a:srgbClr val="D9E8FF">
              <a:alpha val="7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5625" y="6194810"/>
            <a:ext cx="16459" cy="16459"/>
          </a:xfrm>
          <a:prstGeom prst="ellipse">
            <a:avLst/>
          </a:prstGeom>
          <a:solidFill>
            <a:srgbClr val="79C7FF">
              <a:alpha val="5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97118" y="2573175"/>
            <a:ext cx="21945" cy="21945"/>
          </a:xfrm>
          <a:prstGeom prst="ellipse">
            <a:avLst/>
          </a:prstGeom>
          <a:solidFill>
            <a:srgbClr val="79C7FF">
              <a:alpha val="8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50937" y="3016757"/>
            <a:ext cx="21945" cy="21945"/>
          </a:xfrm>
          <a:prstGeom prst="ellipse">
            <a:avLst/>
          </a:prstGeom>
          <a:solidFill>
            <a:srgbClr val="9A8BFF">
              <a:alpha val="6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02813" y="3043463"/>
            <a:ext cx="27432" cy="27432"/>
          </a:xfrm>
          <a:prstGeom prst="ellipse">
            <a:avLst/>
          </a:prstGeom>
          <a:solidFill>
            <a:srgbClr val="79C7FF">
              <a:alpha val="7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56325" y="5803838"/>
            <a:ext cx="27432" cy="27432"/>
          </a:xfrm>
          <a:prstGeom prst="ellipse">
            <a:avLst/>
          </a:prstGeom>
          <a:solidFill>
            <a:srgbClr val="9A8BFF">
              <a:alpha val="5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02785" y="4380724"/>
            <a:ext cx="21945" cy="21945"/>
          </a:xfrm>
          <a:prstGeom prst="ellipse">
            <a:avLst/>
          </a:prstGeom>
          <a:solidFill>
            <a:srgbClr val="79C7FF">
              <a:alpha val="6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47495" y="2269595"/>
            <a:ext cx="21945" cy="21945"/>
          </a:xfrm>
          <a:prstGeom prst="ellipse">
            <a:avLst/>
          </a:prstGeom>
          <a:solidFill>
            <a:srgbClr val="79C7FF">
              <a:alpha val="6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29162" y="2293253"/>
            <a:ext cx="27432" cy="27432"/>
          </a:xfrm>
          <a:prstGeom prst="ellipse">
            <a:avLst/>
          </a:prstGeom>
          <a:solidFill>
            <a:srgbClr val="79C7FF">
              <a:alpha val="4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256738" y="2774752"/>
            <a:ext cx="21945" cy="21945"/>
          </a:xfrm>
          <a:prstGeom prst="ellipse">
            <a:avLst/>
          </a:prstGeom>
          <a:solidFill>
            <a:srgbClr val="9A8BFF">
              <a:alpha val="9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499860" y="4542870"/>
            <a:ext cx="21945" cy="21945"/>
          </a:xfrm>
          <a:prstGeom prst="ellipse">
            <a:avLst/>
          </a:prstGeom>
          <a:solidFill>
            <a:srgbClr val="D9E8FF">
              <a:alpha val="6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962429" y="1898465"/>
            <a:ext cx="36576" cy="36576"/>
          </a:xfrm>
          <a:prstGeom prst="ellipse">
            <a:avLst/>
          </a:prstGeom>
          <a:solidFill>
            <a:srgbClr val="D9E8FF">
              <a:alpha val="6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256" y="3331689"/>
            <a:ext cx="36576" cy="36576"/>
          </a:xfrm>
          <a:prstGeom prst="ellipse">
            <a:avLst/>
          </a:prstGeom>
          <a:solidFill>
            <a:srgbClr val="9A8BFF">
              <a:alpha val="4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147645" y="3960753"/>
            <a:ext cx="36576" cy="36576"/>
          </a:xfrm>
          <a:prstGeom prst="ellipse">
            <a:avLst/>
          </a:prstGeom>
          <a:solidFill>
            <a:srgbClr val="9A8BFF">
              <a:alpha val="7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13018" y="3015414"/>
            <a:ext cx="36576" cy="36576"/>
          </a:xfrm>
          <a:prstGeom prst="ellipse">
            <a:avLst/>
          </a:prstGeom>
          <a:solidFill>
            <a:srgbClr val="79C7FF">
              <a:alpha val="9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0891" y="3634751"/>
            <a:ext cx="16459" cy="16459"/>
          </a:xfrm>
          <a:prstGeom prst="ellipse">
            <a:avLst/>
          </a:prstGeom>
          <a:solidFill>
            <a:srgbClr val="9A8BFF">
              <a:alpha val="4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48744" y="4114069"/>
            <a:ext cx="36576" cy="36576"/>
          </a:xfrm>
          <a:prstGeom prst="ellipse">
            <a:avLst/>
          </a:prstGeom>
          <a:solidFill>
            <a:srgbClr val="79C7FF">
              <a:alpha val="6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10373" y="5209456"/>
            <a:ext cx="36576" cy="36576"/>
          </a:xfrm>
          <a:prstGeom prst="ellipse">
            <a:avLst/>
          </a:prstGeom>
          <a:solidFill>
            <a:srgbClr val="9A8BFF">
              <a:alpha val="8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25208" y="5302472"/>
            <a:ext cx="36576" cy="36576"/>
          </a:xfrm>
          <a:prstGeom prst="ellipse">
            <a:avLst/>
          </a:prstGeom>
          <a:solidFill>
            <a:srgbClr val="9A8BFF">
              <a:alpha val="5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877842" y="6097852"/>
            <a:ext cx="21945" cy="21945"/>
          </a:xfrm>
          <a:prstGeom prst="ellipse">
            <a:avLst/>
          </a:prstGeom>
          <a:solidFill>
            <a:srgbClr val="D9E8FF">
              <a:alpha val="5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87209" y="326328"/>
            <a:ext cx="21945" cy="21945"/>
          </a:xfrm>
          <a:prstGeom prst="ellipse">
            <a:avLst/>
          </a:prstGeom>
          <a:solidFill>
            <a:srgbClr val="D9E8FF">
              <a:alpha val="9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50875" y="5570384"/>
            <a:ext cx="36576" cy="36576"/>
          </a:xfrm>
          <a:prstGeom prst="ellipse">
            <a:avLst/>
          </a:prstGeom>
          <a:solidFill>
            <a:srgbClr val="79C7FF">
              <a:alpha val="8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524055" y="2060344"/>
            <a:ext cx="21945" cy="21945"/>
          </a:xfrm>
          <a:prstGeom prst="ellipse">
            <a:avLst/>
          </a:prstGeom>
          <a:solidFill>
            <a:srgbClr val="D9E8FF">
              <a:alpha val="5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727910" y="414130"/>
            <a:ext cx="16459" cy="16459"/>
          </a:xfrm>
          <a:prstGeom prst="ellipse">
            <a:avLst/>
          </a:prstGeom>
          <a:solidFill>
            <a:srgbClr val="9A8BFF">
              <a:alpha val="4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21817" y="1039827"/>
            <a:ext cx="36576" cy="36576"/>
          </a:xfrm>
          <a:prstGeom prst="ellipse">
            <a:avLst/>
          </a:prstGeom>
          <a:solidFill>
            <a:srgbClr val="79C7FF">
              <a:alpha val="5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312607" y="4003801"/>
            <a:ext cx="36576" cy="36576"/>
          </a:xfrm>
          <a:prstGeom prst="ellipse">
            <a:avLst/>
          </a:prstGeom>
          <a:solidFill>
            <a:srgbClr val="79C7FF">
              <a:alpha val="4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93132" y="2140818"/>
            <a:ext cx="36576" cy="36576"/>
          </a:xfrm>
          <a:prstGeom prst="ellipse">
            <a:avLst/>
          </a:prstGeom>
          <a:solidFill>
            <a:srgbClr val="D9E8FF">
              <a:alpha val="8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422557" y="3549401"/>
            <a:ext cx="36576" cy="36576"/>
          </a:xfrm>
          <a:prstGeom prst="ellipse">
            <a:avLst/>
          </a:prstGeom>
          <a:solidFill>
            <a:srgbClr val="9A8BFF">
              <a:alpha val="7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ENGINEERING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工程质量与测试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438911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1792" y="1700784"/>
            <a:ext cx="2523744" cy="102412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9808" y="1847088"/>
            <a:ext cx="41148" cy="731520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1837943"/>
            <a:ext cx="21214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" y="2359152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次 Conventional Commits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38144" y="1700784"/>
            <a:ext cx="2523744" cy="102412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566160" y="1847088"/>
            <a:ext cx="41148" cy="731520"/>
          </a:xfrm>
          <a:prstGeom prst="rect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12464" y="1837943"/>
            <a:ext cx="21214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12464" y="2359152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套自动化测试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54496" y="1700784"/>
            <a:ext cx="2523744" cy="102412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82512" y="1847088"/>
            <a:ext cx="41148" cy="731520"/>
          </a:xfrm>
          <a:prstGeom prst="rect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28816" y="1837943"/>
            <a:ext cx="21214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500+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28816" y="2359152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断言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70848" y="1700784"/>
            <a:ext cx="2523744" cy="102412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98864" y="1847088"/>
            <a:ext cx="41148" cy="731520"/>
          </a:xfrm>
          <a:prstGeom prst="rect">
            <a:avLst/>
          </a:prstGeom>
          <a:solidFill>
            <a:srgbClr val="FFC277"/>
          </a:solidFill>
          <a:ln>
            <a:solidFill>
              <a:srgbClr val="FFC2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45168" y="1837943"/>
            <a:ext cx="212140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45168" y="2359152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ESLint 告警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" y="3008376"/>
            <a:ext cx="6995160" cy="225856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96112" y="3337560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9848" y="3255264"/>
            <a:ext cx="6135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自动化覆盖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14400" y="3831336"/>
            <a:ext cx="1810512" cy="292608"/>
          </a:xfrm>
          <a:prstGeom prst="roundRect">
            <a:avLst>
              <a:gd name="adj" fmla="val 10000"/>
            </a:avLst>
          </a:prstGeom>
          <a:solidFill>
            <a:srgbClr val="182A40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7552" y="3863340"/>
            <a:ext cx="16642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接口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990088" y="3831336"/>
            <a:ext cx="1810512" cy="292608"/>
          </a:xfrm>
          <a:prstGeom prst="roundRect">
            <a:avLst>
              <a:gd name="adj" fmla="val 10000"/>
            </a:avLst>
          </a:prstGeom>
          <a:solidFill>
            <a:srgbClr val="182A40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063240" y="3863340"/>
            <a:ext cx="16642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65776" y="3831336"/>
            <a:ext cx="1810512" cy="292608"/>
          </a:xfrm>
          <a:prstGeom prst="roundRect">
            <a:avLst>
              <a:gd name="adj" fmla="val 10000"/>
            </a:avLst>
          </a:prstGeom>
          <a:solidFill>
            <a:srgbClr val="182A40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38928" y="3863340"/>
            <a:ext cx="16642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移动端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14400" y="4425696"/>
            <a:ext cx="1810512" cy="292608"/>
          </a:xfrm>
          <a:prstGeom prst="roundRect">
            <a:avLst>
              <a:gd name="adj" fmla="val 10000"/>
            </a:avLst>
          </a:prstGeom>
          <a:solidFill>
            <a:srgbClr val="182A40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" y="4457700"/>
            <a:ext cx="16642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无障碍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990088" y="4425696"/>
            <a:ext cx="1810512" cy="292608"/>
          </a:xfrm>
          <a:prstGeom prst="roundRect">
            <a:avLst>
              <a:gd name="adj" fmla="val 10000"/>
            </a:avLst>
          </a:prstGeom>
          <a:solidFill>
            <a:srgbClr val="182A40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063240" y="4457700"/>
            <a:ext cx="16642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浏览器走查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891272" y="3008376"/>
            <a:ext cx="3657600" cy="225856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156448" y="3337560"/>
            <a:ext cx="82296" cy="82296"/>
          </a:xfrm>
          <a:prstGeom prst="ellipse">
            <a:avLst/>
          </a:prstGeom>
          <a:solidFill>
            <a:srgbClr val="FFC277"/>
          </a:solidFill>
          <a:ln>
            <a:solidFill>
              <a:srgbClr val="FFC2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30183" y="3255264"/>
            <a:ext cx="28437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安全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74736" y="3858768"/>
            <a:ext cx="305409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2F6FF"/>
                </a:solidFill>
                <a:latin typeface="Microsoft YaHei"/>
              </a:rPr>
              <a:t>CSP、JWT 版本号、邮箱验证码哈希、限流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" y="5404104"/>
            <a:ext cx="10927080" cy="438912"/>
          </a:xfrm>
          <a:prstGeom prst="roundRect">
            <a:avLst>
              <a:gd name="adj" fmla="val 10000"/>
            </a:avLst>
          </a:prstGeom>
          <a:solidFill>
            <a:srgbClr val="10213A"/>
          </a:solidFill>
          <a:ln>
            <a:solidFill>
              <a:srgbClr val="345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6112" y="5513832"/>
            <a:ext cx="10332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19 页 × 2 视口视觉检查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28336" y="3795090"/>
            <a:ext cx="36576" cy="36576"/>
          </a:xfrm>
          <a:prstGeom prst="ellipse">
            <a:avLst/>
          </a:prstGeom>
          <a:solidFill>
            <a:srgbClr val="9A8BFF">
              <a:alpha val="6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27059" y="1359982"/>
            <a:ext cx="36576" cy="36576"/>
          </a:xfrm>
          <a:prstGeom prst="ellipse">
            <a:avLst/>
          </a:prstGeom>
          <a:solidFill>
            <a:srgbClr val="D9E8FF">
              <a:alpha val="7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87362" y="729406"/>
            <a:ext cx="27432" cy="27432"/>
          </a:xfrm>
          <a:prstGeom prst="ellipse">
            <a:avLst/>
          </a:prstGeom>
          <a:solidFill>
            <a:srgbClr val="79C7FF">
              <a:alpha val="4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556972" y="5971708"/>
            <a:ext cx="16459" cy="16459"/>
          </a:xfrm>
          <a:prstGeom prst="ellipse">
            <a:avLst/>
          </a:prstGeom>
          <a:solidFill>
            <a:srgbClr val="D9E8FF">
              <a:alpha val="6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34540" y="4414944"/>
            <a:ext cx="21945" cy="21945"/>
          </a:xfrm>
          <a:prstGeom prst="ellipse">
            <a:avLst/>
          </a:prstGeom>
          <a:solidFill>
            <a:srgbClr val="D9E8FF">
              <a:alpha val="3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48860" y="525585"/>
            <a:ext cx="16459" cy="16459"/>
          </a:xfrm>
          <a:prstGeom prst="ellipse">
            <a:avLst/>
          </a:prstGeom>
          <a:solidFill>
            <a:srgbClr val="79C7FF">
              <a:alpha val="9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20485" y="307782"/>
            <a:ext cx="36576" cy="36576"/>
          </a:xfrm>
          <a:prstGeom prst="ellipse">
            <a:avLst/>
          </a:prstGeom>
          <a:solidFill>
            <a:srgbClr val="9A8BFF">
              <a:alpha val="6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79845" y="1395661"/>
            <a:ext cx="21945" cy="21945"/>
          </a:xfrm>
          <a:prstGeom prst="ellipse">
            <a:avLst/>
          </a:prstGeom>
          <a:solidFill>
            <a:srgbClr val="D9E8FF">
              <a:alpha val="5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93144" y="4471083"/>
            <a:ext cx="36576" cy="36576"/>
          </a:xfrm>
          <a:prstGeom prst="ellipse">
            <a:avLst/>
          </a:prstGeom>
          <a:solidFill>
            <a:srgbClr val="D9E8FF">
              <a:alpha val="5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84894" y="3739098"/>
            <a:ext cx="16459" cy="16459"/>
          </a:xfrm>
          <a:prstGeom prst="ellipse">
            <a:avLst/>
          </a:prstGeom>
          <a:solidFill>
            <a:srgbClr val="D9E8FF">
              <a:alpha val="5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94436" y="1621774"/>
            <a:ext cx="27432" cy="27432"/>
          </a:xfrm>
          <a:prstGeom prst="ellipse">
            <a:avLst/>
          </a:prstGeom>
          <a:solidFill>
            <a:srgbClr val="79C7FF">
              <a:alpha val="3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48337" y="820284"/>
            <a:ext cx="16459" cy="16459"/>
          </a:xfrm>
          <a:prstGeom prst="ellipse">
            <a:avLst/>
          </a:prstGeom>
          <a:solidFill>
            <a:srgbClr val="9A8BFF">
              <a:alpha val="5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3556" y="220929"/>
            <a:ext cx="16459" cy="16459"/>
          </a:xfrm>
          <a:prstGeom prst="ellipse">
            <a:avLst/>
          </a:prstGeom>
          <a:solidFill>
            <a:srgbClr val="79C7FF">
              <a:alpha val="4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85069" y="454203"/>
            <a:ext cx="36576" cy="36576"/>
          </a:xfrm>
          <a:prstGeom prst="ellipse">
            <a:avLst/>
          </a:prstGeom>
          <a:solidFill>
            <a:srgbClr val="D9E8FF">
              <a:alpha val="6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39971" y="3837682"/>
            <a:ext cx="21945" cy="21945"/>
          </a:xfrm>
          <a:prstGeom prst="ellipse">
            <a:avLst/>
          </a:prstGeom>
          <a:solidFill>
            <a:srgbClr val="D9E8FF">
              <a:alpha val="5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52038" y="2158632"/>
            <a:ext cx="16459" cy="16459"/>
          </a:xfrm>
          <a:prstGeom prst="ellipse">
            <a:avLst/>
          </a:prstGeom>
          <a:solidFill>
            <a:srgbClr val="9A8BFF">
              <a:alpha val="8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35082" y="995868"/>
            <a:ext cx="16459" cy="16459"/>
          </a:xfrm>
          <a:prstGeom prst="ellipse">
            <a:avLst/>
          </a:prstGeom>
          <a:solidFill>
            <a:srgbClr val="79C7FF">
              <a:alpha val="3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78022" y="3314816"/>
            <a:ext cx="21945" cy="21945"/>
          </a:xfrm>
          <a:prstGeom prst="ellipse">
            <a:avLst/>
          </a:prstGeom>
          <a:solidFill>
            <a:srgbClr val="9A8BFF">
              <a:alpha val="6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09617" y="4928285"/>
            <a:ext cx="21945" cy="21945"/>
          </a:xfrm>
          <a:prstGeom prst="ellipse">
            <a:avLst/>
          </a:prstGeom>
          <a:solidFill>
            <a:srgbClr val="9A8BFF">
              <a:alpha val="7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10474" y="2709316"/>
            <a:ext cx="21945" cy="21945"/>
          </a:xfrm>
          <a:prstGeom prst="ellipse">
            <a:avLst/>
          </a:prstGeom>
          <a:solidFill>
            <a:srgbClr val="79C7FF">
              <a:alpha val="5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437751" y="6527874"/>
            <a:ext cx="27432" cy="27432"/>
          </a:xfrm>
          <a:prstGeom prst="ellipse">
            <a:avLst/>
          </a:prstGeom>
          <a:solidFill>
            <a:srgbClr val="79C7FF">
              <a:alpha val="4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69372" y="6665991"/>
            <a:ext cx="16459" cy="16459"/>
          </a:xfrm>
          <a:prstGeom prst="ellipse">
            <a:avLst/>
          </a:prstGeom>
          <a:solidFill>
            <a:srgbClr val="79C7FF">
              <a:alpha val="4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78461" y="1810144"/>
            <a:ext cx="27432" cy="27432"/>
          </a:xfrm>
          <a:prstGeom prst="ellipse">
            <a:avLst/>
          </a:prstGeom>
          <a:solidFill>
            <a:srgbClr val="9A8BFF">
              <a:alpha val="5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1878" y="703030"/>
            <a:ext cx="21945" cy="21945"/>
          </a:xfrm>
          <a:prstGeom prst="ellipse">
            <a:avLst/>
          </a:prstGeom>
          <a:solidFill>
            <a:srgbClr val="79C7FF">
              <a:alpha val="7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30800" y="4205759"/>
            <a:ext cx="21945" cy="21945"/>
          </a:xfrm>
          <a:prstGeom prst="ellipse">
            <a:avLst/>
          </a:prstGeom>
          <a:solidFill>
            <a:srgbClr val="D9E8FF">
              <a:alpha val="6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056697" y="1003383"/>
            <a:ext cx="36576" cy="36576"/>
          </a:xfrm>
          <a:prstGeom prst="ellipse">
            <a:avLst/>
          </a:prstGeom>
          <a:solidFill>
            <a:srgbClr val="79C7FF">
              <a:alpha val="7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74048" y="6090499"/>
            <a:ext cx="21945" cy="21945"/>
          </a:xfrm>
          <a:prstGeom prst="ellipse">
            <a:avLst/>
          </a:prstGeom>
          <a:solidFill>
            <a:srgbClr val="D9E8FF">
              <a:alpha val="4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25774" y="4250713"/>
            <a:ext cx="21945" cy="21945"/>
          </a:xfrm>
          <a:prstGeom prst="ellipse">
            <a:avLst/>
          </a:prstGeom>
          <a:solidFill>
            <a:srgbClr val="D9E8FF">
              <a:alpha val="9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63603" y="3286460"/>
            <a:ext cx="16459" cy="16459"/>
          </a:xfrm>
          <a:prstGeom prst="ellipse">
            <a:avLst/>
          </a:prstGeom>
          <a:solidFill>
            <a:srgbClr val="9A8BFF">
              <a:alpha val="3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74656" y="364493"/>
            <a:ext cx="27432" cy="27432"/>
          </a:xfrm>
          <a:prstGeom prst="ellipse">
            <a:avLst/>
          </a:prstGeom>
          <a:solidFill>
            <a:srgbClr val="79C7FF">
              <a:alpha val="8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33897" y="1801611"/>
            <a:ext cx="36576" cy="36576"/>
          </a:xfrm>
          <a:prstGeom prst="ellipse">
            <a:avLst/>
          </a:prstGeom>
          <a:solidFill>
            <a:srgbClr val="9A8BFF">
              <a:alpha val="6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227865" y="4852303"/>
            <a:ext cx="16459" cy="16459"/>
          </a:xfrm>
          <a:prstGeom prst="ellipse">
            <a:avLst/>
          </a:prstGeom>
          <a:solidFill>
            <a:srgbClr val="79C7FF">
              <a:alpha val="4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849156" y="4412212"/>
            <a:ext cx="16459" cy="16459"/>
          </a:xfrm>
          <a:prstGeom prst="ellipse">
            <a:avLst/>
          </a:prstGeom>
          <a:solidFill>
            <a:srgbClr val="9A8BFF">
              <a:alpha val="4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069685" y="1452659"/>
            <a:ext cx="16459" cy="16459"/>
          </a:xfrm>
          <a:prstGeom prst="ellipse">
            <a:avLst/>
          </a:prstGeom>
          <a:solidFill>
            <a:srgbClr val="79C7FF">
              <a:alpha val="5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040284" y="1749485"/>
            <a:ext cx="16459" cy="16459"/>
          </a:xfrm>
          <a:prstGeom prst="ellipse">
            <a:avLst/>
          </a:prstGeom>
          <a:solidFill>
            <a:srgbClr val="79C7FF">
              <a:alpha val="5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32113" y="3876708"/>
            <a:ext cx="21945" cy="21945"/>
          </a:xfrm>
          <a:prstGeom prst="ellipse">
            <a:avLst/>
          </a:prstGeom>
          <a:solidFill>
            <a:srgbClr val="79C7FF">
              <a:alpha val="5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786623" y="3074660"/>
            <a:ext cx="27432" cy="27432"/>
          </a:xfrm>
          <a:prstGeom prst="ellipse">
            <a:avLst/>
          </a:prstGeom>
          <a:solidFill>
            <a:srgbClr val="D9E8FF">
              <a:alpha val="8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74707" y="3957495"/>
            <a:ext cx="21945" cy="21945"/>
          </a:xfrm>
          <a:prstGeom prst="ellipse">
            <a:avLst/>
          </a:prstGeom>
          <a:solidFill>
            <a:srgbClr val="D9E8FF">
              <a:alpha val="3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DELIVERY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交付与部署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482803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85800" y="1883664"/>
            <a:ext cx="3474720" cy="202996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14400" y="2139696"/>
            <a:ext cx="292608" cy="292608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62456" y="2130552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2F6FF"/>
                </a:solidFill>
                <a:latin typeface="Microsoft YaHei"/>
              </a:rPr>
              <a:t>Docker 离线包</a:t>
            </a:r>
          </a:p>
        </p:txBody>
      </p:sp>
      <p:sp>
        <p:nvSpPr>
          <p:cNvPr id="50" name="Oval 49"/>
          <p:cNvSpPr/>
          <p:nvPr/>
        </p:nvSpPr>
        <p:spPr>
          <a:xfrm>
            <a:off x="960120" y="2834640"/>
            <a:ext cx="64008" cy="64008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61288" y="2724912"/>
            <a:ext cx="272491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App + MySQL 镜像</a:t>
            </a:r>
          </a:p>
        </p:txBody>
      </p:sp>
      <p:sp>
        <p:nvSpPr>
          <p:cNvPr id="52" name="Oval 51"/>
          <p:cNvSpPr/>
          <p:nvPr/>
        </p:nvSpPr>
        <p:spPr>
          <a:xfrm>
            <a:off x="960120" y="3337560"/>
            <a:ext cx="64008" cy="64008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61288" y="3227832"/>
            <a:ext cx="272491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一键脚本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80560" y="1883664"/>
            <a:ext cx="3474720" cy="202996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709160" y="2139696"/>
            <a:ext cx="292608" cy="292608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57216" y="2130552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2F6FF"/>
                </a:solidFill>
                <a:latin typeface="Microsoft YaHei"/>
              </a:rPr>
              <a:t>免安装演示包</a:t>
            </a:r>
          </a:p>
        </p:txBody>
      </p:sp>
      <p:sp>
        <p:nvSpPr>
          <p:cNvPr id="57" name="Oval 56"/>
          <p:cNvSpPr/>
          <p:nvPr/>
        </p:nvSpPr>
        <p:spPr>
          <a:xfrm>
            <a:off x="4754880" y="2834640"/>
            <a:ext cx="64008" cy="64008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56048" y="2724912"/>
            <a:ext cx="272491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内置 Node</a:t>
            </a:r>
          </a:p>
        </p:txBody>
      </p:sp>
      <p:sp>
        <p:nvSpPr>
          <p:cNvPr id="59" name="Oval 58"/>
          <p:cNvSpPr/>
          <p:nvPr/>
        </p:nvSpPr>
        <p:spPr>
          <a:xfrm>
            <a:off x="4754880" y="3337560"/>
            <a:ext cx="64008" cy="64008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56048" y="3227832"/>
            <a:ext cx="272491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双击运行，无需 Docker/MySQL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75320" y="1883664"/>
            <a:ext cx="3474720" cy="202996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503920" y="2139696"/>
            <a:ext cx="292608" cy="292608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1976" y="2130552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2F6FF"/>
                </a:solidFill>
                <a:latin typeface="Microsoft YaHei"/>
              </a:rPr>
              <a:t>公网在线演示</a:t>
            </a:r>
          </a:p>
        </p:txBody>
      </p:sp>
      <p:sp>
        <p:nvSpPr>
          <p:cNvPr id="64" name="Oval 63"/>
          <p:cNvSpPr/>
          <p:nvPr/>
        </p:nvSpPr>
        <p:spPr>
          <a:xfrm>
            <a:off x="8549640" y="2834640"/>
            <a:ext cx="64008" cy="64008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50808" y="2724912"/>
            <a:ext cx="272491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Cloudflare 隧道</a:t>
            </a:r>
          </a:p>
        </p:txBody>
      </p:sp>
      <p:sp>
        <p:nvSpPr>
          <p:cNvPr id="66" name="Oval 65"/>
          <p:cNvSpPr/>
          <p:nvPr/>
        </p:nvSpPr>
        <p:spPr>
          <a:xfrm>
            <a:off x="8549640" y="3337560"/>
            <a:ext cx="64008" cy="64008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50808" y="3227832"/>
            <a:ext cx="272491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评审期可用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85800" y="4261104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10213A"/>
          </a:solidFill>
          <a:ln>
            <a:solidFill>
              <a:srgbClr val="345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41832" y="4581144"/>
            <a:ext cx="82296" cy="82296"/>
          </a:xfrm>
          <a:prstGeom prst="ellipse">
            <a:avLst/>
          </a:prstGeom>
          <a:solidFill>
            <a:srgbClr val="FFC277"/>
          </a:solidFill>
          <a:ln>
            <a:solidFill>
              <a:srgbClr val="FFC2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15568" y="4498848"/>
            <a:ext cx="9235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2F6FF"/>
                </a:solidFill>
                <a:latin typeface="Microsoft YaHei"/>
              </a:rPr>
              <a:t>文档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39696" y="4517136"/>
            <a:ext cx="8686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2F6FF"/>
                </a:solidFill>
                <a:latin typeface="Microsoft YaHei"/>
              </a:rPr>
              <a:t>README + 技术文档 PDF + 演示视频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792796" y="4438316"/>
            <a:ext cx="27432" cy="27432"/>
          </a:xfrm>
          <a:prstGeom prst="ellipse">
            <a:avLst/>
          </a:prstGeom>
          <a:solidFill>
            <a:srgbClr val="79C7FF">
              <a:alpha val="5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6587" y="2576991"/>
            <a:ext cx="27432" cy="27432"/>
          </a:xfrm>
          <a:prstGeom prst="ellipse">
            <a:avLst/>
          </a:prstGeom>
          <a:solidFill>
            <a:srgbClr val="D9E8FF">
              <a:alpha val="8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21753" y="5800295"/>
            <a:ext cx="21945" cy="21945"/>
          </a:xfrm>
          <a:prstGeom prst="ellipse">
            <a:avLst/>
          </a:prstGeom>
          <a:solidFill>
            <a:srgbClr val="D9E8FF">
              <a:alpha val="3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18371" y="1066355"/>
            <a:ext cx="36576" cy="36576"/>
          </a:xfrm>
          <a:prstGeom prst="ellipse">
            <a:avLst/>
          </a:prstGeom>
          <a:solidFill>
            <a:srgbClr val="9A8BFF">
              <a:alpha val="4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85256" y="1493957"/>
            <a:ext cx="21945" cy="21945"/>
          </a:xfrm>
          <a:prstGeom prst="ellipse">
            <a:avLst/>
          </a:prstGeom>
          <a:solidFill>
            <a:srgbClr val="79C7FF">
              <a:alpha val="6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23747" y="2328425"/>
            <a:ext cx="36576" cy="36576"/>
          </a:xfrm>
          <a:prstGeom prst="ellipse">
            <a:avLst/>
          </a:prstGeom>
          <a:solidFill>
            <a:srgbClr val="79C7FF">
              <a:alpha val="3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88116" y="5506065"/>
            <a:ext cx="21945" cy="21945"/>
          </a:xfrm>
          <a:prstGeom prst="ellipse">
            <a:avLst/>
          </a:prstGeom>
          <a:solidFill>
            <a:srgbClr val="79C7FF">
              <a:alpha val="6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19494" y="850573"/>
            <a:ext cx="36576" cy="36576"/>
          </a:xfrm>
          <a:prstGeom prst="ellipse">
            <a:avLst/>
          </a:prstGeom>
          <a:solidFill>
            <a:srgbClr val="79C7FF">
              <a:alpha val="6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61824" y="4201168"/>
            <a:ext cx="21945" cy="21945"/>
          </a:xfrm>
          <a:prstGeom prst="ellipse">
            <a:avLst/>
          </a:prstGeom>
          <a:solidFill>
            <a:srgbClr val="D9E8FF">
              <a:alpha val="9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156" y="1236946"/>
            <a:ext cx="16459" cy="16459"/>
          </a:xfrm>
          <a:prstGeom prst="ellipse">
            <a:avLst/>
          </a:prstGeom>
          <a:solidFill>
            <a:srgbClr val="9A8BFF">
              <a:alpha val="7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28635" y="4033410"/>
            <a:ext cx="36576" cy="36576"/>
          </a:xfrm>
          <a:prstGeom prst="ellipse">
            <a:avLst/>
          </a:prstGeom>
          <a:solidFill>
            <a:srgbClr val="D9E8FF">
              <a:alpha val="5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237" y="4328075"/>
            <a:ext cx="16459" cy="16459"/>
          </a:xfrm>
          <a:prstGeom prst="ellipse">
            <a:avLst/>
          </a:prstGeom>
          <a:solidFill>
            <a:srgbClr val="79C7FF">
              <a:alpha val="8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5483" y="2455790"/>
            <a:ext cx="27432" cy="27432"/>
          </a:xfrm>
          <a:prstGeom prst="ellipse">
            <a:avLst/>
          </a:prstGeom>
          <a:solidFill>
            <a:srgbClr val="D9E8FF">
              <a:alpha val="5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6763" y="859164"/>
            <a:ext cx="21945" cy="21945"/>
          </a:xfrm>
          <a:prstGeom prst="ellipse">
            <a:avLst/>
          </a:prstGeom>
          <a:solidFill>
            <a:srgbClr val="9A8BFF">
              <a:alpha val="5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61676" y="3883689"/>
            <a:ext cx="21945" cy="21945"/>
          </a:xfrm>
          <a:prstGeom prst="ellipse">
            <a:avLst/>
          </a:prstGeom>
          <a:solidFill>
            <a:srgbClr val="79C7FF">
              <a:alpha val="5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40006" y="2941726"/>
            <a:ext cx="16459" cy="16459"/>
          </a:xfrm>
          <a:prstGeom prst="ellipse">
            <a:avLst/>
          </a:prstGeom>
          <a:solidFill>
            <a:srgbClr val="79C7FF">
              <a:alpha val="7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28775" y="2665816"/>
            <a:ext cx="16459" cy="16459"/>
          </a:xfrm>
          <a:prstGeom prst="ellipse">
            <a:avLst/>
          </a:prstGeom>
          <a:solidFill>
            <a:srgbClr val="D9E8FF">
              <a:alpha val="4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59043" y="4691281"/>
            <a:ext cx="16459" cy="16459"/>
          </a:xfrm>
          <a:prstGeom prst="ellipse">
            <a:avLst/>
          </a:prstGeom>
          <a:solidFill>
            <a:srgbClr val="9A8BFF">
              <a:alpha val="5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75584" y="4073549"/>
            <a:ext cx="16459" cy="16459"/>
          </a:xfrm>
          <a:prstGeom prst="ellipse">
            <a:avLst/>
          </a:prstGeom>
          <a:solidFill>
            <a:srgbClr val="D9E8FF">
              <a:alpha val="6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26395" y="2345938"/>
            <a:ext cx="36576" cy="36576"/>
          </a:xfrm>
          <a:prstGeom prst="ellipse">
            <a:avLst/>
          </a:prstGeom>
          <a:solidFill>
            <a:srgbClr val="9A8BFF">
              <a:alpha val="7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562920" y="3276639"/>
            <a:ext cx="21945" cy="21945"/>
          </a:xfrm>
          <a:prstGeom prst="ellipse">
            <a:avLst/>
          </a:prstGeom>
          <a:solidFill>
            <a:srgbClr val="9A8BFF">
              <a:alpha val="9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78089" y="1307308"/>
            <a:ext cx="21945" cy="21945"/>
          </a:xfrm>
          <a:prstGeom prst="ellipse">
            <a:avLst/>
          </a:prstGeom>
          <a:solidFill>
            <a:srgbClr val="D9E8FF">
              <a:alpha val="3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431234" y="6136776"/>
            <a:ext cx="27432" cy="27432"/>
          </a:xfrm>
          <a:prstGeom prst="ellipse">
            <a:avLst/>
          </a:prstGeom>
          <a:solidFill>
            <a:srgbClr val="79C7FF">
              <a:alpha val="5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10829" y="3410828"/>
            <a:ext cx="21945" cy="21945"/>
          </a:xfrm>
          <a:prstGeom prst="ellipse">
            <a:avLst/>
          </a:prstGeom>
          <a:solidFill>
            <a:srgbClr val="D9E8FF">
              <a:alpha val="4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861653" y="6683500"/>
            <a:ext cx="21945" cy="21945"/>
          </a:xfrm>
          <a:prstGeom prst="ellipse">
            <a:avLst/>
          </a:prstGeom>
          <a:solidFill>
            <a:srgbClr val="79C7FF">
              <a:alpha val="9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79994" y="5293731"/>
            <a:ext cx="27432" cy="27432"/>
          </a:xfrm>
          <a:prstGeom prst="ellipse">
            <a:avLst/>
          </a:prstGeom>
          <a:solidFill>
            <a:srgbClr val="D9E8FF">
              <a:alpha val="4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872367" y="3580888"/>
            <a:ext cx="36576" cy="36576"/>
          </a:xfrm>
          <a:prstGeom prst="ellipse">
            <a:avLst/>
          </a:prstGeom>
          <a:solidFill>
            <a:srgbClr val="9A8BFF">
              <a:alpha val="7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52774" y="4616461"/>
            <a:ext cx="36576" cy="36576"/>
          </a:xfrm>
          <a:prstGeom prst="ellipse">
            <a:avLst/>
          </a:prstGeom>
          <a:solidFill>
            <a:srgbClr val="D9E8FF">
              <a:alpha val="4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85642" y="4171094"/>
            <a:ext cx="16459" cy="16459"/>
          </a:xfrm>
          <a:prstGeom prst="ellipse">
            <a:avLst/>
          </a:prstGeom>
          <a:solidFill>
            <a:srgbClr val="9A8BFF">
              <a:alpha val="5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386014" y="3501455"/>
            <a:ext cx="36576" cy="36576"/>
          </a:xfrm>
          <a:prstGeom prst="ellipse">
            <a:avLst/>
          </a:prstGeom>
          <a:solidFill>
            <a:srgbClr val="D9E8FF">
              <a:alpha val="8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688306" y="1986212"/>
            <a:ext cx="27432" cy="27432"/>
          </a:xfrm>
          <a:prstGeom prst="ellipse">
            <a:avLst/>
          </a:prstGeom>
          <a:solidFill>
            <a:srgbClr val="79C7FF">
              <a:alpha val="7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81159" y="289196"/>
            <a:ext cx="27432" cy="27432"/>
          </a:xfrm>
          <a:prstGeom prst="ellipse">
            <a:avLst/>
          </a:prstGeom>
          <a:solidFill>
            <a:srgbClr val="9A8BFF">
              <a:alpha val="4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12001" y="2975465"/>
            <a:ext cx="16459" cy="16459"/>
          </a:xfrm>
          <a:prstGeom prst="ellipse">
            <a:avLst/>
          </a:prstGeom>
          <a:solidFill>
            <a:srgbClr val="D9E8FF">
              <a:alpha val="7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82405" y="6166279"/>
            <a:ext cx="27432" cy="27432"/>
          </a:xfrm>
          <a:prstGeom prst="ellipse">
            <a:avLst/>
          </a:prstGeom>
          <a:solidFill>
            <a:srgbClr val="79C7FF">
              <a:alpha val="6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75640" y="721168"/>
            <a:ext cx="36576" cy="36576"/>
          </a:xfrm>
          <a:prstGeom prst="ellipse">
            <a:avLst/>
          </a:prstGeom>
          <a:solidFill>
            <a:srgbClr val="79C7FF">
              <a:alpha val="7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774288" y="6561815"/>
            <a:ext cx="36576" cy="36576"/>
          </a:xfrm>
          <a:prstGeom prst="ellipse">
            <a:avLst/>
          </a:prstGeom>
          <a:solidFill>
            <a:srgbClr val="D9E8FF">
              <a:alpha val="4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41090" y="4785005"/>
            <a:ext cx="16459" cy="16459"/>
          </a:xfrm>
          <a:prstGeom prst="ellipse">
            <a:avLst/>
          </a:prstGeom>
          <a:solidFill>
            <a:srgbClr val="79C7FF">
              <a:alpha val="9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07025" y="2845067"/>
            <a:ext cx="21945" cy="21945"/>
          </a:xfrm>
          <a:prstGeom prst="ellipse">
            <a:avLst/>
          </a:prstGeom>
          <a:solidFill>
            <a:srgbClr val="9A8BFF">
              <a:alpha val="8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INNOVATION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创新点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526694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13232" y="1847088"/>
            <a:ext cx="5257800" cy="329184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24128" y="2194560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97864" y="2112264"/>
            <a:ext cx="43982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2F6FF"/>
                </a:solidFill>
                <a:latin typeface="Microsoft YaHei"/>
              </a:rPr>
              <a:t>技术创新</a:t>
            </a:r>
          </a:p>
        </p:txBody>
      </p:sp>
      <p:sp>
        <p:nvSpPr>
          <p:cNvPr id="50" name="Oval 49"/>
          <p:cNvSpPr/>
          <p:nvPr/>
        </p:nvSpPr>
        <p:spPr>
          <a:xfrm>
            <a:off x="1078992" y="2798064"/>
            <a:ext cx="219456" cy="219456"/>
          </a:xfrm>
          <a:prstGeom prst="ellipse">
            <a:avLst/>
          </a:prstGeom>
          <a:solidFill>
            <a:srgbClr val="79C7FF">
              <a:alpha val="7000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" y="2816352"/>
            <a:ext cx="2194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72184" y="2734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离线混合检索 RAG</a:t>
            </a:r>
          </a:p>
        </p:txBody>
      </p:sp>
      <p:sp>
        <p:nvSpPr>
          <p:cNvPr id="53" name="Oval 52"/>
          <p:cNvSpPr/>
          <p:nvPr/>
        </p:nvSpPr>
        <p:spPr>
          <a:xfrm>
            <a:off x="1078992" y="3337560"/>
            <a:ext cx="219456" cy="219456"/>
          </a:xfrm>
          <a:prstGeom prst="ellipse">
            <a:avLst/>
          </a:prstGeom>
          <a:solidFill>
            <a:srgbClr val="79C7FF">
              <a:alpha val="7000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78992" y="3355848"/>
            <a:ext cx="2194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72184" y="327355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三级降级</a:t>
            </a:r>
          </a:p>
        </p:txBody>
      </p:sp>
      <p:sp>
        <p:nvSpPr>
          <p:cNvPr id="56" name="Oval 55"/>
          <p:cNvSpPr/>
          <p:nvPr/>
        </p:nvSpPr>
        <p:spPr>
          <a:xfrm>
            <a:off x="1078992" y="3877056"/>
            <a:ext cx="219456" cy="219456"/>
          </a:xfrm>
          <a:prstGeom prst="ellipse">
            <a:avLst/>
          </a:prstGeom>
          <a:solidFill>
            <a:srgbClr val="79C7FF">
              <a:alpha val="7000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" y="3895344"/>
            <a:ext cx="2194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72184" y="381304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流式推理可视化</a:t>
            </a:r>
          </a:p>
        </p:txBody>
      </p:sp>
      <p:sp>
        <p:nvSpPr>
          <p:cNvPr id="59" name="Oval 58"/>
          <p:cNvSpPr/>
          <p:nvPr/>
        </p:nvSpPr>
        <p:spPr>
          <a:xfrm>
            <a:off x="1078992" y="4416552"/>
            <a:ext cx="219456" cy="219456"/>
          </a:xfrm>
          <a:prstGeom prst="ellipse">
            <a:avLst/>
          </a:prstGeom>
          <a:solidFill>
            <a:srgbClr val="79C7FF">
              <a:alpha val="7000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8992" y="4434840"/>
            <a:ext cx="2194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72184" y="435254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Function Calling 工具层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36792" y="1847088"/>
            <a:ext cx="5257800" cy="3291840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647688" y="2194560"/>
            <a:ext cx="82296" cy="82296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21424" y="2112264"/>
            <a:ext cx="43982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2F6FF"/>
                </a:solidFill>
                <a:latin typeface="Microsoft YaHei"/>
              </a:rPr>
              <a:t>应用创新</a:t>
            </a:r>
          </a:p>
        </p:txBody>
      </p:sp>
      <p:sp>
        <p:nvSpPr>
          <p:cNvPr id="65" name="Oval 64"/>
          <p:cNvSpPr/>
          <p:nvPr/>
        </p:nvSpPr>
        <p:spPr>
          <a:xfrm>
            <a:off x="6702552" y="2798064"/>
            <a:ext cx="219456" cy="219456"/>
          </a:xfrm>
          <a:prstGeom prst="ellipse">
            <a:avLst/>
          </a:prstGeom>
          <a:solidFill>
            <a:srgbClr val="9A8BFF">
              <a:alpha val="7000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02552" y="2816352"/>
            <a:ext cx="2194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95744" y="2734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可溯源科普问答</a:t>
            </a:r>
          </a:p>
        </p:txBody>
      </p:sp>
      <p:sp>
        <p:nvSpPr>
          <p:cNvPr id="68" name="Oval 67"/>
          <p:cNvSpPr/>
          <p:nvPr/>
        </p:nvSpPr>
        <p:spPr>
          <a:xfrm>
            <a:off x="6702552" y="3337560"/>
            <a:ext cx="219456" cy="219456"/>
          </a:xfrm>
          <a:prstGeom prst="ellipse">
            <a:avLst/>
          </a:prstGeom>
          <a:solidFill>
            <a:srgbClr val="9A8BFF">
              <a:alpha val="7000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02552" y="3355848"/>
            <a:ext cx="2194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95744" y="327355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装备导购</a:t>
            </a:r>
          </a:p>
        </p:txBody>
      </p:sp>
      <p:sp>
        <p:nvSpPr>
          <p:cNvPr id="71" name="Oval 70"/>
          <p:cNvSpPr/>
          <p:nvPr/>
        </p:nvSpPr>
        <p:spPr>
          <a:xfrm>
            <a:off x="6702552" y="3877056"/>
            <a:ext cx="219456" cy="219456"/>
          </a:xfrm>
          <a:prstGeom prst="ellipse">
            <a:avLst/>
          </a:prstGeom>
          <a:solidFill>
            <a:srgbClr val="9A8BFF">
              <a:alpha val="7000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02552" y="3895344"/>
            <a:ext cx="2194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95744" y="381304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内容-问答-3D 联动</a:t>
            </a:r>
          </a:p>
        </p:txBody>
      </p:sp>
      <p:sp>
        <p:nvSpPr>
          <p:cNvPr id="74" name="Oval 73"/>
          <p:cNvSpPr/>
          <p:nvPr/>
        </p:nvSpPr>
        <p:spPr>
          <a:xfrm>
            <a:off x="6702552" y="4416552"/>
            <a:ext cx="219456" cy="219456"/>
          </a:xfrm>
          <a:prstGeom prst="ellipse">
            <a:avLst/>
          </a:prstGeom>
          <a:solidFill>
            <a:srgbClr val="9A8BFF">
              <a:alpha val="7000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702552" y="4434840"/>
            <a:ext cx="219456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95744" y="435254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2F6FF"/>
                </a:solidFill>
                <a:latin typeface="Microsoft YaHei"/>
              </a:rPr>
              <a:t>零依赖交付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23861" y="4621247"/>
            <a:ext cx="21945" cy="21945"/>
          </a:xfrm>
          <a:prstGeom prst="ellipse">
            <a:avLst/>
          </a:prstGeom>
          <a:solidFill>
            <a:srgbClr val="D9E8FF">
              <a:alpha val="4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343" y="5832466"/>
            <a:ext cx="21945" cy="21945"/>
          </a:xfrm>
          <a:prstGeom prst="ellipse">
            <a:avLst/>
          </a:prstGeom>
          <a:solidFill>
            <a:srgbClr val="79C7FF">
              <a:alpha val="3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69037" y="1518026"/>
            <a:ext cx="27432" cy="27432"/>
          </a:xfrm>
          <a:prstGeom prst="ellipse">
            <a:avLst/>
          </a:prstGeom>
          <a:solidFill>
            <a:srgbClr val="79C7FF">
              <a:alpha val="6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2284" y="4614023"/>
            <a:ext cx="16459" cy="16459"/>
          </a:xfrm>
          <a:prstGeom prst="ellipse">
            <a:avLst/>
          </a:prstGeom>
          <a:solidFill>
            <a:srgbClr val="9A8BFF">
              <a:alpha val="8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85561" y="5845987"/>
            <a:ext cx="27432" cy="27432"/>
          </a:xfrm>
          <a:prstGeom prst="ellipse">
            <a:avLst/>
          </a:prstGeom>
          <a:solidFill>
            <a:srgbClr val="9A8BFF">
              <a:alpha val="8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342254" y="1028198"/>
            <a:ext cx="27432" cy="27432"/>
          </a:xfrm>
          <a:prstGeom prst="ellipse">
            <a:avLst/>
          </a:prstGeom>
          <a:solidFill>
            <a:srgbClr val="9A8BFF">
              <a:alpha val="8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6157" y="6023458"/>
            <a:ext cx="36576" cy="36576"/>
          </a:xfrm>
          <a:prstGeom prst="ellipse">
            <a:avLst/>
          </a:prstGeom>
          <a:solidFill>
            <a:srgbClr val="D9E8FF">
              <a:alpha val="5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27289" y="4314359"/>
            <a:ext cx="16459" cy="16459"/>
          </a:xfrm>
          <a:prstGeom prst="ellipse">
            <a:avLst/>
          </a:prstGeom>
          <a:solidFill>
            <a:srgbClr val="9A8BFF">
              <a:alpha val="8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4127" y="4282363"/>
            <a:ext cx="27432" cy="27432"/>
          </a:xfrm>
          <a:prstGeom prst="ellipse">
            <a:avLst/>
          </a:prstGeom>
          <a:solidFill>
            <a:srgbClr val="D9E8FF">
              <a:alpha val="6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742083" y="5037029"/>
            <a:ext cx="21945" cy="21945"/>
          </a:xfrm>
          <a:prstGeom prst="ellipse">
            <a:avLst/>
          </a:prstGeom>
          <a:solidFill>
            <a:srgbClr val="9A8BFF">
              <a:alpha val="7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24319" y="3638422"/>
            <a:ext cx="27432" cy="27432"/>
          </a:xfrm>
          <a:prstGeom prst="ellipse">
            <a:avLst/>
          </a:prstGeom>
          <a:solidFill>
            <a:srgbClr val="79C7FF">
              <a:alpha val="4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66292" y="1777451"/>
            <a:ext cx="36576" cy="36576"/>
          </a:xfrm>
          <a:prstGeom prst="ellipse">
            <a:avLst/>
          </a:prstGeom>
          <a:solidFill>
            <a:srgbClr val="9A8BFF">
              <a:alpha val="7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75653" y="5964380"/>
            <a:ext cx="36576" cy="36576"/>
          </a:xfrm>
          <a:prstGeom prst="ellipse">
            <a:avLst/>
          </a:prstGeom>
          <a:solidFill>
            <a:srgbClr val="D9E8FF">
              <a:alpha val="5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74725" y="5946958"/>
            <a:ext cx="27432" cy="27432"/>
          </a:xfrm>
          <a:prstGeom prst="ellipse">
            <a:avLst/>
          </a:prstGeom>
          <a:solidFill>
            <a:srgbClr val="79C7FF">
              <a:alpha val="3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66169" y="4251428"/>
            <a:ext cx="36576" cy="36576"/>
          </a:xfrm>
          <a:prstGeom prst="ellipse">
            <a:avLst/>
          </a:prstGeom>
          <a:solidFill>
            <a:srgbClr val="9A8BFF">
              <a:alpha val="3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04346" y="6252155"/>
            <a:ext cx="16459" cy="16459"/>
          </a:xfrm>
          <a:prstGeom prst="ellipse">
            <a:avLst/>
          </a:prstGeom>
          <a:solidFill>
            <a:srgbClr val="79C7FF">
              <a:alpha val="4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72337" y="4705996"/>
            <a:ext cx="36576" cy="36576"/>
          </a:xfrm>
          <a:prstGeom prst="ellipse">
            <a:avLst/>
          </a:prstGeom>
          <a:solidFill>
            <a:srgbClr val="D9E8FF">
              <a:alpha val="5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41040" y="2832019"/>
            <a:ext cx="27432" cy="27432"/>
          </a:xfrm>
          <a:prstGeom prst="ellipse">
            <a:avLst/>
          </a:prstGeom>
          <a:solidFill>
            <a:srgbClr val="9A8BFF">
              <a:alpha val="4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3596" y="4260726"/>
            <a:ext cx="21945" cy="21945"/>
          </a:xfrm>
          <a:prstGeom prst="ellipse">
            <a:avLst/>
          </a:prstGeom>
          <a:solidFill>
            <a:srgbClr val="D9E8FF">
              <a:alpha val="7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969433" y="3377502"/>
            <a:ext cx="16459" cy="16459"/>
          </a:xfrm>
          <a:prstGeom prst="ellipse">
            <a:avLst/>
          </a:prstGeom>
          <a:solidFill>
            <a:srgbClr val="D9E8FF">
              <a:alpha val="7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83009" y="2475580"/>
            <a:ext cx="27432" cy="27432"/>
          </a:xfrm>
          <a:prstGeom prst="ellipse">
            <a:avLst/>
          </a:prstGeom>
          <a:solidFill>
            <a:srgbClr val="79C7FF">
              <a:alpha val="5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435718" y="5293727"/>
            <a:ext cx="16459" cy="16459"/>
          </a:xfrm>
          <a:prstGeom prst="ellipse">
            <a:avLst/>
          </a:prstGeom>
          <a:solidFill>
            <a:srgbClr val="79C7FF">
              <a:alpha val="4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1174" y="4346502"/>
            <a:ext cx="16459" cy="16459"/>
          </a:xfrm>
          <a:prstGeom prst="ellipse">
            <a:avLst/>
          </a:prstGeom>
          <a:solidFill>
            <a:srgbClr val="9A8BFF">
              <a:alpha val="8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25523" y="719784"/>
            <a:ext cx="16459" cy="16459"/>
          </a:xfrm>
          <a:prstGeom prst="ellipse">
            <a:avLst/>
          </a:prstGeom>
          <a:solidFill>
            <a:srgbClr val="79C7FF">
              <a:alpha val="5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585314" y="2094728"/>
            <a:ext cx="27432" cy="27432"/>
          </a:xfrm>
          <a:prstGeom prst="ellipse">
            <a:avLst/>
          </a:prstGeom>
          <a:solidFill>
            <a:srgbClr val="D9E8FF">
              <a:alpha val="7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67499" y="6287874"/>
            <a:ext cx="27432" cy="27432"/>
          </a:xfrm>
          <a:prstGeom prst="ellipse">
            <a:avLst/>
          </a:prstGeom>
          <a:solidFill>
            <a:srgbClr val="79C7FF">
              <a:alpha val="3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46959" y="1130616"/>
            <a:ext cx="36576" cy="36576"/>
          </a:xfrm>
          <a:prstGeom prst="ellipse">
            <a:avLst/>
          </a:prstGeom>
          <a:solidFill>
            <a:srgbClr val="79C7FF">
              <a:alpha val="7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606751" y="5368827"/>
            <a:ext cx="36576" cy="36576"/>
          </a:xfrm>
          <a:prstGeom prst="ellipse">
            <a:avLst/>
          </a:prstGeom>
          <a:solidFill>
            <a:srgbClr val="D9E8FF">
              <a:alpha val="8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986757" y="4970941"/>
            <a:ext cx="27432" cy="27432"/>
          </a:xfrm>
          <a:prstGeom prst="ellipse">
            <a:avLst/>
          </a:prstGeom>
          <a:solidFill>
            <a:srgbClr val="9A8BFF">
              <a:alpha val="7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9353" y="1526348"/>
            <a:ext cx="36576" cy="36576"/>
          </a:xfrm>
          <a:prstGeom prst="ellipse">
            <a:avLst/>
          </a:prstGeom>
          <a:solidFill>
            <a:srgbClr val="D9E8FF">
              <a:alpha val="5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374558" y="1717845"/>
            <a:ext cx="27432" cy="27432"/>
          </a:xfrm>
          <a:prstGeom prst="ellipse">
            <a:avLst/>
          </a:prstGeom>
          <a:solidFill>
            <a:srgbClr val="9A8BFF">
              <a:alpha val="4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672" y="2910559"/>
            <a:ext cx="27432" cy="27432"/>
          </a:xfrm>
          <a:prstGeom prst="ellipse">
            <a:avLst/>
          </a:prstGeom>
          <a:solidFill>
            <a:srgbClr val="9A8BFF">
              <a:alpha val="6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71075" y="5101121"/>
            <a:ext cx="16459" cy="16459"/>
          </a:xfrm>
          <a:prstGeom prst="ellipse">
            <a:avLst/>
          </a:prstGeom>
          <a:solidFill>
            <a:srgbClr val="D9E8FF">
              <a:alpha val="8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88400" y="3069123"/>
            <a:ext cx="36576" cy="36576"/>
          </a:xfrm>
          <a:prstGeom prst="ellipse">
            <a:avLst/>
          </a:prstGeom>
          <a:solidFill>
            <a:srgbClr val="9A8BFF">
              <a:alpha val="3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86472" y="2973373"/>
            <a:ext cx="21945" cy="21945"/>
          </a:xfrm>
          <a:prstGeom prst="ellipse">
            <a:avLst/>
          </a:prstGeom>
          <a:solidFill>
            <a:srgbClr val="79C7FF">
              <a:alpha val="9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989" y="2536196"/>
            <a:ext cx="21945" cy="21945"/>
          </a:xfrm>
          <a:prstGeom prst="ellipse">
            <a:avLst/>
          </a:prstGeom>
          <a:solidFill>
            <a:srgbClr val="79C7FF">
              <a:alpha val="5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52334" y="2666455"/>
            <a:ext cx="16459" cy="16459"/>
          </a:xfrm>
          <a:prstGeom prst="ellipse">
            <a:avLst/>
          </a:prstGeom>
          <a:solidFill>
            <a:srgbClr val="9A8BFF">
              <a:alpha val="4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24851" y="3341665"/>
            <a:ext cx="36576" cy="36576"/>
          </a:xfrm>
          <a:prstGeom prst="ellipse">
            <a:avLst/>
          </a:prstGeom>
          <a:solidFill>
            <a:srgbClr val="79C7FF">
              <a:alpha val="5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VALUE · ROADMAP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社会价值与展望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570585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13232" y="1901952"/>
            <a:ext cx="3977639" cy="1124712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0976" y="2212848"/>
            <a:ext cx="82296" cy="82296"/>
          </a:xfrm>
          <a:prstGeom prst="ellipse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4712" y="2130552"/>
            <a:ext cx="3282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2F6FF"/>
                </a:solidFill>
                <a:latin typeface="Microsoft YaHei"/>
              </a:rPr>
              <a:t>社会价值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0976" y="2523744"/>
            <a:ext cx="34564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青少年科普、教师备课、科技馆导览、偏远地区离线使用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" y="3319272"/>
            <a:ext cx="3977639" cy="1124712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50976" y="3630168"/>
            <a:ext cx="82296" cy="82296"/>
          </a:xfrm>
          <a:prstGeom prst="ellipse">
            <a:avLst/>
          </a:prstGeom>
          <a:solidFill>
            <a:srgbClr val="9A8BFF"/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4712" y="3547872"/>
            <a:ext cx="32826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2F6FF"/>
                </a:solidFill>
                <a:latin typeface="Microsoft YaHei"/>
              </a:rPr>
              <a:t>商业潜力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0976" y="3941063"/>
            <a:ext cx="34564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F2F6FF"/>
                </a:solidFill>
                <a:latin typeface="Microsoft YaHei"/>
              </a:rPr>
              <a:t>科普机构内容中台、观测装备推荐、教育 SaaS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74920" y="1792224"/>
            <a:ext cx="6446520" cy="340156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376672" y="2112263"/>
            <a:ext cx="82296" cy="82296"/>
          </a:xfrm>
          <a:prstGeom prst="ellipse">
            <a:avLst/>
          </a:prstGeom>
          <a:solidFill>
            <a:srgbClr val="54D9D2"/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550408" y="2029967"/>
            <a:ext cx="5586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2F6FF"/>
                </a:solidFill>
                <a:latin typeface="Microsoft YaHei"/>
              </a:rPr>
              <a:t>规划</a:t>
            </a:r>
          </a:p>
        </p:txBody>
      </p:sp>
      <p:sp>
        <p:nvSpPr>
          <p:cNvPr id="58" name="Oval 57"/>
          <p:cNvSpPr/>
          <p:nvPr/>
        </p:nvSpPr>
        <p:spPr>
          <a:xfrm>
            <a:off x="5440680" y="2642615"/>
            <a:ext cx="274320" cy="274320"/>
          </a:xfrm>
          <a:prstGeom prst="ellipse">
            <a:avLst/>
          </a:prstGeom>
          <a:solidFill>
            <a:srgbClr val="54D9D2">
              <a:alpha val="70000"/>
            </a:srgbClr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40680" y="2706624"/>
            <a:ext cx="2743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01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577840" y="2916936"/>
            <a:ext cx="0" cy="301752"/>
          </a:xfrm>
          <a:prstGeom prst="line">
            <a:avLst/>
          </a:prstGeom>
          <a:ln w="1397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925312" y="2633472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语义向量 + 真向量库</a:t>
            </a:r>
          </a:p>
        </p:txBody>
      </p:sp>
      <p:sp>
        <p:nvSpPr>
          <p:cNvPr id="62" name="Oval 61"/>
          <p:cNvSpPr/>
          <p:nvPr/>
        </p:nvSpPr>
        <p:spPr>
          <a:xfrm>
            <a:off x="5440680" y="3200399"/>
            <a:ext cx="274320" cy="274320"/>
          </a:xfrm>
          <a:prstGeom prst="ellipse">
            <a:avLst/>
          </a:prstGeom>
          <a:solidFill>
            <a:srgbClr val="54D9D2">
              <a:alpha val="70000"/>
            </a:srgbClr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40680" y="3264408"/>
            <a:ext cx="2743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02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577840" y="3474720"/>
            <a:ext cx="0" cy="301752"/>
          </a:xfrm>
          <a:prstGeom prst="line">
            <a:avLst/>
          </a:prstGeom>
          <a:ln w="1397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925312" y="3191256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MCP Server</a:t>
            </a:r>
          </a:p>
        </p:txBody>
      </p:sp>
      <p:sp>
        <p:nvSpPr>
          <p:cNvPr id="66" name="Oval 65"/>
          <p:cNvSpPr/>
          <p:nvPr/>
        </p:nvSpPr>
        <p:spPr>
          <a:xfrm>
            <a:off x="5440680" y="3758183"/>
            <a:ext cx="274320" cy="274320"/>
          </a:xfrm>
          <a:prstGeom prst="ellipse">
            <a:avLst/>
          </a:prstGeom>
          <a:solidFill>
            <a:srgbClr val="54D9D2">
              <a:alpha val="70000"/>
            </a:srgbClr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40680" y="3822191"/>
            <a:ext cx="2743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03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577840" y="4032503"/>
            <a:ext cx="0" cy="301752"/>
          </a:xfrm>
          <a:prstGeom prst="line">
            <a:avLst/>
          </a:prstGeom>
          <a:ln w="1397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25312" y="3749039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多模态识图</a:t>
            </a:r>
          </a:p>
        </p:txBody>
      </p:sp>
      <p:sp>
        <p:nvSpPr>
          <p:cNvPr id="70" name="Oval 69"/>
          <p:cNvSpPr/>
          <p:nvPr/>
        </p:nvSpPr>
        <p:spPr>
          <a:xfrm>
            <a:off x="5440680" y="4315968"/>
            <a:ext cx="274320" cy="274320"/>
          </a:xfrm>
          <a:prstGeom prst="ellipse">
            <a:avLst/>
          </a:prstGeom>
          <a:solidFill>
            <a:srgbClr val="54D9D2">
              <a:alpha val="70000"/>
            </a:srgbClr>
          </a:solidFill>
          <a:ln>
            <a:solidFill>
              <a:srgbClr val="54D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40680" y="4379976"/>
            <a:ext cx="2743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07111F"/>
                </a:solidFill>
                <a:latin typeface="Microsoft YaHei"/>
              </a:rPr>
              <a:t>04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577840" y="4590288"/>
            <a:ext cx="0" cy="301752"/>
          </a:xfrm>
          <a:prstGeom prst="line">
            <a:avLst/>
          </a:prstGeom>
          <a:ln w="1397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925312" y="4306824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2F6FF"/>
                </a:solidFill>
                <a:latin typeface="Microsoft YaHei"/>
              </a:rPr>
              <a:t>TypeScript 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302267" y="308473"/>
            <a:ext cx="36576" cy="36576"/>
          </a:xfrm>
          <a:prstGeom prst="ellipse">
            <a:avLst/>
          </a:prstGeom>
          <a:solidFill>
            <a:srgbClr val="79C7FF">
              <a:alpha val="7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52545" y="120477"/>
            <a:ext cx="27432" cy="27432"/>
          </a:xfrm>
          <a:prstGeom prst="ellipse">
            <a:avLst/>
          </a:prstGeom>
          <a:solidFill>
            <a:srgbClr val="D9E8FF">
              <a:alpha val="7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6808" y="6564005"/>
            <a:ext cx="27432" cy="27432"/>
          </a:xfrm>
          <a:prstGeom prst="ellipse">
            <a:avLst/>
          </a:prstGeom>
          <a:solidFill>
            <a:srgbClr val="9A8BFF">
              <a:alpha val="5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37056" y="2402276"/>
            <a:ext cx="36576" cy="36576"/>
          </a:xfrm>
          <a:prstGeom prst="ellipse">
            <a:avLst/>
          </a:prstGeom>
          <a:solidFill>
            <a:srgbClr val="D9E8FF">
              <a:alpha val="4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2103" y="2377813"/>
            <a:ext cx="21945" cy="21945"/>
          </a:xfrm>
          <a:prstGeom prst="ellipse">
            <a:avLst/>
          </a:prstGeom>
          <a:solidFill>
            <a:srgbClr val="D9E8FF">
              <a:alpha val="8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07240" y="3233846"/>
            <a:ext cx="36576" cy="36576"/>
          </a:xfrm>
          <a:prstGeom prst="ellipse">
            <a:avLst/>
          </a:prstGeom>
          <a:solidFill>
            <a:srgbClr val="9A8BFF">
              <a:alpha val="6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49878" y="1194839"/>
            <a:ext cx="21945" cy="21945"/>
          </a:xfrm>
          <a:prstGeom prst="ellipse">
            <a:avLst/>
          </a:prstGeom>
          <a:solidFill>
            <a:srgbClr val="9A8BFF">
              <a:alpha val="8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15068" y="4079947"/>
            <a:ext cx="36576" cy="36576"/>
          </a:xfrm>
          <a:prstGeom prst="ellipse">
            <a:avLst/>
          </a:prstGeom>
          <a:solidFill>
            <a:srgbClr val="D9E8FF">
              <a:alpha val="9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14771" y="2990306"/>
            <a:ext cx="16459" cy="16459"/>
          </a:xfrm>
          <a:prstGeom prst="ellipse">
            <a:avLst/>
          </a:prstGeom>
          <a:solidFill>
            <a:srgbClr val="79C7FF">
              <a:alpha val="5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7785" y="3837666"/>
            <a:ext cx="36576" cy="36576"/>
          </a:xfrm>
          <a:prstGeom prst="ellipse">
            <a:avLst/>
          </a:prstGeom>
          <a:solidFill>
            <a:srgbClr val="9A8BFF">
              <a:alpha val="6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27102" y="3904423"/>
            <a:ext cx="36576" cy="36576"/>
          </a:xfrm>
          <a:prstGeom prst="ellipse">
            <a:avLst/>
          </a:prstGeom>
          <a:solidFill>
            <a:srgbClr val="D9E8FF">
              <a:alpha val="47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09748" y="5585739"/>
            <a:ext cx="16459" cy="16459"/>
          </a:xfrm>
          <a:prstGeom prst="ellipse">
            <a:avLst/>
          </a:prstGeom>
          <a:solidFill>
            <a:srgbClr val="9A8BFF">
              <a:alpha val="5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0275" y="5466653"/>
            <a:ext cx="16459" cy="16459"/>
          </a:xfrm>
          <a:prstGeom prst="ellipse">
            <a:avLst/>
          </a:prstGeom>
          <a:solidFill>
            <a:srgbClr val="9A8BFF">
              <a:alpha val="5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59411" y="4110725"/>
            <a:ext cx="16459" cy="16459"/>
          </a:xfrm>
          <a:prstGeom prst="ellipse">
            <a:avLst/>
          </a:prstGeom>
          <a:solidFill>
            <a:srgbClr val="79C7FF">
              <a:alpha val="7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22576" y="3210119"/>
            <a:ext cx="36576" cy="36576"/>
          </a:xfrm>
          <a:prstGeom prst="ellipse">
            <a:avLst/>
          </a:prstGeom>
          <a:solidFill>
            <a:srgbClr val="D9E8FF">
              <a:alpha val="6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53533" y="2504175"/>
            <a:ext cx="21945" cy="21945"/>
          </a:xfrm>
          <a:prstGeom prst="ellipse">
            <a:avLst/>
          </a:prstGeom>
          <a:solidFill>
            <a:srgbClr val="9A8BFF">
              <a:alpha val="7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07420" y="6648478"/>
            <a:ext cx="36576" cy="36576"/>
          </a:xfrm>
          <a:prstGeom prst="ellipse">
            <a:avLst/>
          </a:prstGeom>
          <a:solidFill>
            <a:srgbClr val="79C7FF">
              <a:alpha val="8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46425" y="3997649"/>
            <a:ext cx="21945" cy="21945"/>
          </a:xfrm>
          <a:prstGeom prst="ellipse">
            <a:avLst/>
          </a:prstGeom>
          <a:solidFill>
            <a:srgbClr val="9A8BFF">
              <a:alpha val="8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27070" y="6425637"/>
            <a:ext cx="27432" cy="27432"/>
          </a:xfrm>
          <a:prstGeom prst="ellipse">
            <a:avLst/>
          </a:prstGeom>
          <a:solidFill>
            <a:srgbClr val="79C7FF">
              <a:alpha val="5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99670" y="5848294"/>
            <a:ext cx="21945" cy="21945"/>
          </a:xfrm>
          <a:prstGeom prst="ellipse">
            <a:avLst/>
          </a:prstGeom>
          <a:solidFill>
            <a:srgbClr val="D9E8FF">
              <a:alpha val="72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06237" y="4630869"/>
            <a:ext cx="27432" cy="27432"/>
          </a:xfrm>
          <a:prstGeom prst="ellipse">
            <a:avLst/>
          </a:prstGeom>
          <a:solidFill>
            <a:srgbClr val="79C7FF">
              <a:alpha val="6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23433" y="5190388"/>
            <a:ext cx="16459" cy="16459"/>
          </a:xfrm>
          <a:prstGeom prst="ellipse">
            <a:avLst/>
          </a:prstGeom>
          <a:solidFill>
            <a:srgbClr val="79C7FF">
              <a:alpha val="6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02371" y="5193327"/>
            <a:ext cx="27432" cy="27432"/>
          </a:xfrm>
          <a:prstGeom prst="ellipse">
            <a:avLst/>
          </a:prstGeom>
          <a:solidFill>
            <a:srgbClr val="79C7FF">
              <a:alpha val="7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8104" y="4141777"/>
            <a:ext cx="27432" cy="27432"/>
          </a:xfrm>
          <a:prstGeom prst="ellipse">
            <a:avLst/>
          </a:prstGeom>
          <a:solidFill>
            <a:srgbClr val="D9E8FF">
              <a:alpha val="3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177881" y="2095528"/>
            <a:ext cx="21945" cy="21945"/>
          </a:xfrm>
          <a:prstGeom prst="ellipse">
            <a:avLst/>
          </a:prstGeom>
          <a:solidFill>
            <a:srgbClr val="9A8BFF">
              <a:alpha val="5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95628" y="6060805"/>
            <a:ext cx="27432" cy="27432"/>
          </a:xfrm>
          <a:prstGeom prst="ellipse">
            <a:avLst/>
          </a:prstGeom>
          <a:solidFill>
            <a:srgbClr val="79C7FF">
              <a:alpha val="6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51787" y="3387249"/>
            <a:ext cx="21945" cy="21945"/>
          </a:xfrm>
          <a:prstGeom prst="ellipse">
            <a:avLst/>
          </a:prstGeom>
          <a:solidFill>
            <a:srgbClr val="9A8BFF">
              <a:alpha val="3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179589" y="6522103"/>
            <a:ext cx="27432" cy="27432"/>
          </a:xfrm>
          <a:prstGeom prst="ellipse">
            <a:avLst/>
          </a:prstGeom>
          <a:solidFill>
            <a:srgbClr val="D9E8FF">
              <a:alpha val="4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9530" y="6381783"/>
            <a:ext cx="27432" cy="27432"/>
          </a:xfrm>
          <a:prstGeom prst="ellipse">
            <a:avLst/>
          </a:prstGeom>
          <a:solidFill>
            <a:srgbClr val="D9E8FF">
              <a:alpha val="54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712318" y="2302557"/>
            <a:ext cx="27432" cy="27432"/>
          </a:xfrm>
          <a:prstGeom prst="ellipse">
            <a:avLst/>
          </a:prstGeom>
          <a:solidFill>
            <a:srgbClr val="D9E8FF">
              <a:alpha val="8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89486" y="1767015"/>
            <a:ext cx="36576" cy="36576"/>
          </a:xfrm>
          <a:prstGeom prst="ellipse">
            <a:avLst/>
          </a:prstGeom>
          <a:solidFill>
            <a:srgbClr val="D9E8FF">
              <a:alpha val="5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801819" y="1912598"/>
            <a:ext cx="21945" cy="21945"/>
          </a:xfrm>
          <a:prstGeom prst="ellipse">
            <a:avLst/>
          </a:prstGeom>
          <a:solidFill>
            <a:srgbClr val="79C7FF">
              <a:alpha val="5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02519" y="917606"/>
            <a:ext cx="36576" cy="36576"/>
          </a:xfrm>
          <a:prstGeom prst="ellipse">
            <a:avLst/>
          </a:prstGeom>
          <a:solidFill>
            <a:srgbClr val="79C7FF">
              <a:alpha val="4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46969" y="1239393"/>
            <a:ext cx="21945" cy="21945"/>
          </a:xfrm>
          <a:prstGeom prst="ellipse">
            <a:avLst/>
          </a:prstGeom>
          <a:solidFill>
            <a:srgbClr val="D9E8FF">
              <a:alpha val="8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275381" y="5663378"/>
            <a:ext cx="21945" cy="21945"/>
          </a:xfrm>
          <a:prstGeom prst="ellipse">
            <a:avLst/>
          </a:prstGeom>
          <a:solidFill>
            <a:srgbClr val="79C7FF">
              <a:alpha val="8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3949" y="5335613"/>
            <a:ext cx="16459" cy="16459"/>
          </a:xfrm>
          <a:prstGeom prst="ellipse">
            <a:avLst/>
          </a:prstGeom>
          <a:solidFill>
            <a:srgbClr val="9A8BFF">
              <a:alpha val="9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64332" y="5466364"/>
            <a:ext cx="16459" cy="16459"/>
          </a:xfrm>
          <a:prstGeom prst="ellipse">
            <a:avLst/>
          </a:prstGeom>
          <a:solidFill>
            <a:srgbClr val="9A8BFF">
              <a:alpha val="6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648793" y="6122938"/>
            <a:ext cx="16459" cy="16459"/>
          </a:xfrm>
          <a:prstGeom prst="ellipse">
            <a:avLst/>
          </a:prstGeom>
          <a:solidFill>
            <a:srgbClr val="79C7FF">
              <a:alpha val="6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911481" y="5485864"/>
            <a:ext cx="36576" cy="36576"/>
          </a:xfrm>
          <a:prstGeom prst="ellipse">
            <a:avLst/>
          </a:prstGeom>
          <a:solidFill>
            <a:srgbClr val="79C7FF">
              <a:alpha val="4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382341" y="734886"/>
            <a:ext cx="21945" cy="21945"/>
          </a:xfrm>
          <a:prstGeom prst="ellipse">
            <a:avLst/>
          </a:prstGeom>
          <a:solidFill>
            <a:srgbClr val="9A8BFF">
              <a:alpha val="6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24127" y="1926711"/>
            <a:ext cx="16459" cy="16459"/>
          </a:xfrm>
          <a:prstGeom prst="ellipse">
            <a:avLst/>
          </a:prstGeom>
          <a:solidFill>
            <a:srgbClr val="D9E8FF">
              <a:alpha val="5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308439" y="1436191"/>
            <a:ext cx="36576" cy="36576"/>
          </a:xfrm>
          <a:prstGeom prst="ellipse">
            <a:avLst/>
          </a:prstGeom>
          <a:solidFill>
            <a:srgbClr val="9A8BFF">
              <a:alpha val="5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39560" y="3024463"/>
            <a:ext cx="36576" cy="36576"/>
          </a:xfrm>
          <a:prstGeom prst="ellipse">
            <a:avLst/>
          </a:prstGeom>
          <a:solidFill>
            <a:srgbClr val="9A8BFF">
              <a:alpha val="4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13891" y="3968214"/>
            <a:ext cx="27432" cy="27432"/>
          </a:xfrm>
          <a:prstGeom prst="ellipse">
            <a:avLst/>
          </a:prstGeom>
          <a:solidFill>
            <a:srgbClr val="79C7FF">
              <a:alpha val="6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825754" y="1643244"/>
            <a:ext cx="27432" cy="27432"/>
          </a:xfrm>
          <a:prstGeom prst="ellipse">
            <a:avLst/>
          </a:prstGeom>
          <a:solidFill>
            <a:srgbClr val="79C7FF">
              <a:alpha val="7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233922" y="4791189"/>
            <a:ext cx="16459" cy="16459"/>
          </a:xfrm>
          <a:prstGeom prst="ellipse">
            <a:avLst/>
          </a:prstGeom>
          <a:solidFill>
            <a:srgbClr val="D9E8FF">
              <a:alpha val="59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908808" y="2989064"/>
            <a:ext cx="27432" cy="27432"/>
          </a:xfrm>
          <a:prstGeom prst="ellipse">
            <a:avLst/>
          </a:prstGeom>
          <a:solidFill>
            <a:srgbClr val="D9E8FF">
              <a:alpha val="3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024228" y="1396708"/>
            <a:ext cx="21945" cy="21945"/>
          </a:xfrm>
          <a:prstGeom prst="ellipse">
            <a:avLst/>
          </a:prstGeom>
          <a:solidFill>
            <a:srgbClr val="D9E8FF">
              <a:alpha val="9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284188" y="2858068"/>
            <a:ext cx="27432" cy="27432"/>
          </a:xfrm>
          <a:prstGeom prst="ellipse">
            <a:avLst/>
          </a:prstGeom>
          <a:solidFill>
            <a:srgbClr val="9A8BFF">
              <a:alpha val="4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14044" y="5232298"/>
            <a:ext cx="16459" cy="16459"/>
          </a:xfrm>
          <a:prstGeom prst="ellipse">
            <a:avLst/>
          </a:prstGeom>
          <a:solidFill>
            <a:srgbClr val="9A8BFF">
              <a:alpha val="9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669082" y="1914962"/>
            <a:ext cx="27432" cy="27432"/>
          </a:xfrm>
          <a:prstGeom prst="ellipse">
            <a:avLst/>
          </a:prstGeom>
          <a:solidFill>
            <a:srgbClr val="79C7FF">
              <a:alpha val="6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400731" y="4612665"/>
            <a:ext cx="16459" cy="16459"/>
          </a:xfrm>
          <a:prstGeom prst="ellipse">
            <a:avLst/>
          </a:prstGeom>
          <a:solidFill>
            <a:srgbClr val="79C7FF">
              <a:alpha val="9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657335" y="6651237"/>
            <a:ext cx="21945" cy="21945"/>
          </a:xfrm>
          <a:prstGeom prst="ellipse">
            <a:avLst/>
          </a:prstGeom>
          <a:solidFill>
            <a:srgbClr val="79C7FF">
              <a:alpha val="6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902456" y="1621958"/>
            <a:ext cx="21945" cy="21945"/>
          </a:xfrm>
          <a:prstGeom prst="ellipse">
            <a:avLst/>
          </a:prstGeom>
          <a:solidFill>
            <a:srgbClr val="79C7FF">
              <a:alpha val="9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829800" y="594360"/>
            <a:ext cx="1508760" cy="1508760"/>
          </a:xfrm>
          <a:prstGeom prst="ellipse">
            <a:avLst/>
          </a:prstGeom>
          <a:solidFill>
            <a:srgbClr val="163250">
              <a:alpha val="40000"/>
            </a:srgbClr>
          </a:solidFill>
          <a:ln>
            <a:solidFill>
              <a:srgbClr val="16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268712" y="1024128"/>
            <a:ext cx="640080" cy="640080"/>
          </a:xfrm>
          <a:prstGeom prst="ellipse">
            <a:avLst/>
          </a:prstGeom>
          <a:solidFill>
            <a:srgbClr val="79C7FF">
              <a:alpha val="4800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" y="914400"/>
            <a:ext cx="8686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A8B8CE"/>
                </a:solidFill>
                <a:latin typeface="Microsoft YaHei"/>
              </a:rPr>
              <a:t>把天文知识做成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" y="1673352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700" b="1">
                <a:solidFill>
                  <a:srgbClr val="F2F6FF"/>
                </a:solidFill>
                <a:latin typeface="Microsoft YaHei"/>
              </a:rPr>
              <a:t>可问、可看、可玩的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" y="2487168"/>
            <a:ext cx="9509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700" b="1">
                <a:solidFill>
                  <a:srgbClr val="79C7FF"/>
                </a:solidFill>
                <a:latin typeface="Microsoft YaHei"/>
              </a:rPr>
              <a:t>AI 原生体验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22960" y="3547872"/>
            <a:ext cx="1234440" cy="0"/>
          </a:xfrm>
          <a:prstGeom prst="line">
            <a:avLst/>
          </a:prstGeom>
          <a:ln w="27940">
            <a:solidFill>
              <a:srgbClr val="9A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22960" y="3867912"/>
            <a:ext cx="7955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F2F6FF"/>
                </a:solidFill>
                <a:latin typeface="Microsoft YaHei"/>
              </a:rPr>
              <a:t>github.com/ttt123-ll/astro-exploration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441655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A8B8CE"/>
                </a:solidFill>
                <a:latin typeface="Microsoft YaHei"/>
              </a:rPr>
              <a:t>团队：唐乐乐、张妍　指导教师：隋雪莉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175504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>
                <a:solidFill>
                  <a:srgbClr val="F2F6FF"/>
                </a:solidFill>
                <a:latin typeface="Microsoft YaHei"/>
              </a:rPr>
              <a:t>谢谢观看，欢迎提问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961888"/>
            <a:ext cx="3246120" cy="292608"/>
          </a:xfrm>
          <a:prstGeom prst="roundRect">
            <a:avLst>
              <a:gd name="adj" fmla="val 10000"/>
            </a:avLst>
          </a:prstGeom>
          <a:solidFill>
            <a:srgbClr val="13243A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6112" y="5993892"/>
            <a:ext cx="3099815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5196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00" b="1">
                <a:solidFill>
                  <a:srgbClr val="F2F6FF"/>
                </a:solidFill>
                <a:latin typeface="Microsoft YaHei"/>
              </a:rPr>
              <a:t>14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640312" y="186458"/>
            <a:ext cx="16459" cy="16459"/>
          </a:xfrm>
          <a:prstGeom prst="ellipse">
            <a:avLst/>
          </a:prstGeom>
          <a:solidFill>
            <a:srgbClr val="79C7FF">
              <a:alpha val="93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891737" y="220864"/>
            <a:ext cx="21945" cy="21945"/>
          </a:xfrm>
          <a:prstGeom prst="ellipse">
            <a:avLst/>
          </a:prstGeom>
          <a:solidFill>
            <a:srgbClr val="D9E8FF">
              <a:alpha val="58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93935" y="2335523"/>
            <a:ext cx="27432" cy="27432"/>
          </a:xfrm>
          <a:prstGeom prst="ellipse">
            <a:avLst/>
          </a:prstGeom>
          <a:solidFill>
            <a:srgbClr val="9A8BFF">
              <a:alpha val="6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275174" y="1614821"/>
            <a:ext cx="21945" cy="21945"/>
          </a:xfrm>
          <a:prstGeom prst="ellipse">
            <a:avLst/>
          </a:prstGeom>
          <a:solidFill>
            <a:srgbClr val="9A8BFF">
              <a:alpha val="86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71717" y="2121953"/>
            <a:ext cx="36576" cy="36576"/>
          </a:xfrm>
          <a:prstGeom prst="ellipse">
            <a:avLst/>
          </a:prstGeom>
          <a:solidFill>
            <a:srgbClr val="79C7FF">
              <a:alpha val="71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565963" y="2874052"/>
            <a:ext cx="16459" cy="16459"/>
          </a:xfrm>
          <a:prstGeom prst="ellipse">
            <a:avLst/>
          </a:prstGeom>
          <a:solidFill>
            <a:srgbClr val="9A8BFF">
              <a:alpha val="7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59609" y="3001954"/>
            <a:ext cx="27432" cy="27432"/>
          </a:xfrm>
          <a:prstGeom prst="ellipse">
            <a:avLst/>
          </a:prstGeom>
          <a:solidFill>
            <a:srgbClr val="D9E8FF">
              <a:alpha val="76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06989" y="5224515"/>
            <a:ext cx="16459" cy="16459"/>
          </a:xfrm>
          <a:prstGeom prst="ellipse">
            <a:avLst/>
          </a:prstGeom>
          <a:solidFill>
            <a:srgbClr val="9A8BFF">
              <a:alpha val="9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33624" y="1398223"/>
            <a:ext cx="21945" cy="21945"/>
          </a:xfrm>
          <a:prstGeom prst="ellipse">
            <a:avLst/>
          </a:prstGeom>
          <a:solidFill>
            <a:srgbClr val="D9E8FF">
              <a:alpha val="9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91989" y="5666977"/>
            <a:ext cx="16459" cy="16459"/>
          </a:xfrm>
          <a:prstGeom prst="ellipse">
            <a:avLst/>
          </a:prstGeom>
          <a:solidFill>
            <a:srgbClr val="9A8BFF">
              <a:alpha val="68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36082" y="5949878"/>
            <a:ext cx="16459" cy="16459"/>
          </a:xfrm>
          <a:prstGeom prst="ellipse">
            <a:avLst/>
          </a:prstGeom>
          <a:solidFill>
            <a:srgbClr val="79C7FF">
              <a:alpha val="6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2236" y="3195245"/>
            <a:ext cx="27432" cy="27432"/>
          </a:xfrm>
          <a:prstGeom prst="ellipse">
            <a:avLst/>
          </a:prstGeom>
          <a:solidFill>
            <a:srgbClr val="9A8BFF">
              <a:alpha val="94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0356" y="1289598"/>
            <a:ext cx="27432" cy="27432"/>
          </a:xfrm>
          <a:prstGeom prst="ellipse">
            <a:avLst/>
          </a:prstGeom>
          <a:solidFill>
            <a:srgbClr val="79C7FF">
              <a:alpha val="50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32927" y="1193043"/>
            <a:ext cx="27432" cy="27432"/>
          </a:xfrm>
          <a:prstGeom prst="ellipse">
            <a:avLst/>
          </a:prstGeom>
          <a:solidFill>
            <a:srgbClr val="9A8BFF">
              <a:alpha val="92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16343" y="5838697"/>
            <a:ext cx="16459" cy="16459"/>
          </a:xfrm>
          <a:prstGeom prst="ellipse">
            <a:avLst/>
          </a:prstGeom>
          <a:solidFill>
            <a:srgbClr val="9A8BFF">
              <a:alpha val="6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31210" y="4562873"/>
            <a:ext cx="36576" cy="36576"/>
          </a:xfrm>
          <a:prstGeom prst="ellipse">
            <a:avLst/>
          </a:prstGeom>
          <a:solidFill>
            <a:srgbClr val="9A8BFF">
              <a:alpha val="3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147787" y="6219272"/>
            <a:ext cx="16459" cy="16459"/>
          </a:xfrm>
          <a:prstGeom prst="ellipse">
            <a:avLst/>
          </a:prstGeom>
          <a:solidFill>
            <a:srgbClr val="9A8BFF">
              <a:alpha val="39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287" y="5995142"/>
            <a:ext cx="27432" cy="27432"/>
          </a:xfrm>
          <a:prstGeom prst="ellipse">
            <a:avLst/>
          </a:prstGeom>
          <a:solidFill>
            <a:srgbClr val="79C7FF">
              <a:alpha val="8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4970" y="3276285"/>
            <a:ext cx="36576" cy="36576"/>
          </a:xfrm>
          <a:prstGeom prst="ellipse">
            <a:avLst/>
          </a:prstGeom>
          <a:solidFill>
            <a:srgbClr val="79C7FF">
              <a:alpha val="67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2539" y="5664698"/>
            <a:ext cx="36576" cy="36576"/>
          </a:xfrm>
          <a:prstGeom prst="ellipse">
            <a:avLst/>
          </a:prstGeom>
          <a:solidFill>
            <a:srgbClr val="79C7FF">
              <a:alpha val="84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35954" y="3066582"/>
            <a:ext cx="27432" cy="27432"/>
          </a:xfrm>
          <a:prstGeom prst="ellipse">
            <a:avLst/>
          </a:prstGeom>
          <a:solidFill>
            <a:srgbClr val="D9E8FF">
              <a:alpha val="40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16334" y="481109"/>
            <a:ext cx="36576" cy="36576"/>
          </a:xfrm>
          <a:prstGeom prst="ellipse">
            <a:avLst/>
          </a:prstGeom>
          <a:solidFill>
            <a:srgbClr val="9A8BFF">
              <a:alpha val="57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4106" y="6265986"/>
            <a:ext cx="27432" cy="27432"/>
          </a:xfrm>
          <a:prstGeom prst="ellipse">
            <a:avLst/>
          </a:prstGeom>
          <a:solidFill>
            <a:srgbClr val="D9E8FF">
              <a:alpha val="6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52262" y="5519817"/>
            <a:ext cx="36576" cy="36576"/>
          </a:xfrm>
          <a:prstGeom prst="ellipse">
            <a:avLst/>
          </a:prstGeom>
          <a:solidFill>
            <a:srgbClr val="9A8BFF">
              <a:alpha val="3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86543" y="6131322"/>
            <a:ext cx="36576" cy="36576"/>
          </a:xfrm>
          <a:prstGeom prst="ellipse">
            <a:avLst/>
          </a:prstGeom>
          <a:solidFill>
            <a:srgbClr val="D9E8FF">
              <a:alpha val="35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51898" y="1751913"/>
            <a:ext cx="27432" cy="27432"/>
          </a:xfrm>
          <a:prstGeom prst="ellipse">
            <a:avLst/>
          </a:prstGeom>
          <a:solidFill>
            <a:srgbClr val="9A8BFF">
              <a:alpha val="93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43014" y="3973669"/>
            <a:ext cx="36576" cy="36576"/>
          </a:xfrm>
          <a:prstGeom prst="ellipse">
            <a:avLst/>
          </a:prstGeom>
          <a:solidFill>
            <a:srgbClr val="9A8BFF">
              <a:alpha val="35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45510" y="4731993"/>
            <a:ext cx="27432" cy="27432"/>
          </a:xfrm>
          <a:prstGeom prst="ellipse">
            <a:avLst/>
          </a:prstGeom>
          <a:solidFill>
            <a:srgbClr val="79C7FF">
              <a:alpha val="89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89595" y="5776134"/>
            <a:ext cx="16459" cy="16459"/>
          </a:xfrm>
          <a:prstGeom prst="ellipse">
            <a:avLst/>
          </a:prstGeom>
          <a:solidFill>
            <a:srgbClr val="D9E8FF">
              <a:alpha val="7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93694" y="5867439"/>
            <a:ext cx="21945" cy="21945"/>
          </a:xfrm>
          <a:prstGeom prst="ellipse">
            <a:avLst/>
          </a:prstGeom>
          <a:solidFill>
            <a:srgbClr val="9A8BFF">
              <a:alpha val="41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92919" y="3127693"/>
            <a:ext cx="36576" cy="36576"/>
          </a:xfrm>
          <a:prstGeom prst="ellipse">
            <a:avLst/>
          </a:prstGeom>
          <a:solidFill>
            <a:srgbClr val="D9E8FF">
              <a:alpha val="93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585307" y="6216961"/>
            <a:ext cx="16459" cy="16459"/>
          </a:xfrm>
          <a:prstGeom prst="ellipse">
            <a:avLst/>
          </a:prstGeom>
          <a:solidFill>
            <a:srgbClr val="79C7FF">
              <a:alpha val="85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230658" y="4773198"/>
            <a:ext cx="36576" cy="36576"/>
          </a:xfrm>
          <a:prstGeom prst="ellipse">
            <a:avLst/>
          </a:prstGeom>
          <a:solidFill>
            <a:srgbClr val="79C7FF">
              <a:alpha val="76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472540" y="3693633"/>
            <a:ext cx="27432" cy="27432"/>
          </a:xfrm>
          <a:prstGeom prst="ellipse">
            <a:avLst/>
          </a:prstGeom>
          <a:solidFill>
            <a:srgbClr val="9A8BFF">
              <a:alpha val="6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920383" y="3777456"/>
            <a:ext cx="16459" cy="16459"/>
          </a:xfrm>
          <a:prstGeom prst="ellipse">
            <a:avLst/>
          </a:prstGeom>
          <a:solidFill>
            <a:srgbClr val="D9E8FF">
              <a:alpha val="81"/>
            </a:srgbClr>
          </a:solidFill>
          <a:ln>
            <a:solidFill>
              <a:srgbClr val="D9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01120" y="1139778"/>
            <a:ext cx="27432" cy="27432"/>
          </a:xfrm>
          <a:prstGeom prst="ellipse">
            <a:avLst/>
          </a:prstGeom>
          <a:solidFill>
            <a:srgbClr val="9A8BFF">
              <a:alpha val="90"/>
            </a:srgbClr>
          </a:solidFill>
          <a:ln>
            <a:solidFill>
              <a:srgbClr val="9A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41192" y="3840407"/>
            <a:ext cx="36576" cy="36576"/>
          </a:xfrm>
          <a:prstGeom prst="ellipse">
            <a:avLst/>
          </a:prstGeom>
          <a:solidFill>
            <a:srgbClr val="79C7FF">
              <a:alpha val="52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53714" y="5112343"/>
            <a:ext cx="27432" cy="27432"/>
          </a:xfrm>
          <a:prstGeom prst="ellipse">
            <a:avLst/>
          </a:prstGeom>
          <a:solidFill>
            <a:srgbClr val="79C7FF">
              <a:alpha val="38"/>
            </a:srgbClr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79C7FF"/>
                </a:solidFill>
                <a:latin typeface="Microsoft YaHei"/>
              </a:rPr>
              <a:t>APPENDIX · Q&amp;A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27432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100" b="1">
                <a:solidFill>
                  <a:srgbClr val="A8B8CE"/>
                </a:solidFill>
                <a:latin typeface="Microsoft YaHei"/>
              </a:rPr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76656"/>
            <a:ext cx="10881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2F6FF"/>
                </a:solidFill>
                <a:latin typeface="Microsoft YaHei"/>
              </a:rPr>
              <a:t>答辩预设问题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30352" y="1389888"/>
            <a:ext cx="11128248" cy="0"/>
          </a:xfrm>
          <a:prstGeom prst="line">
            <a:avLst/>
          </a:prstGeom>
          <a:ln w="1270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2A3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6574536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A8B8CE"/>
                </a:solidFill>
                <a:latin typeface="Microsoft YaHei"/>
              </a:rPr>
              <a:t>宇宙探索 · 天文科普网站系统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27080" y="6574536"/>
            <a:ext cx="658368" cy="32004"/>
          </a:xfrm>
          <a:prstGeom prst="rect">
            <a:avLst/>
          </a:prstGeom>
          <a:solidFill>
            <a:srgbClr val="79C7FF"/>
          </a:solidFill>
          <a:ln>
            <a:solidFill>
              <a:srgbClr val="79C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" y="1591056"/>
            <a:ext cx="5321808" cy="106984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17465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79C7FF"/>
                </a:solidFill>
                <a:latin typeface="Microsoft YaHei"/>
              </a:rPr>
              <a:t>为什么不用真向量数据库？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2093976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F2F6FF"/>
                </a:solidFill>
                <a:latin typeface="Microsoft YaHei"/>
              </a:rPr>
              <a:t>149 块规模下哈希向量 + 词法已达标（Hit@1 90%），离线零依赖；下一步接 bge + sqlite-vec 做对比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1591056"/>
            <a:ext cx="5321808" cy="106984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64808" y="17465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79C7FF"/>
                </a:solidFill>
                <a:latin typeface="Microsoft YaHei"/>
              </a:rPr>
              <a:t>AI 答错怎么办？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64808" y="2093976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F2F6FF"/>
                </a:solidFill>
                <a:latin typeface="Microsoft YaHei"/>
              </a:rPr>
              <a:t>检索证据约束 + 角标溯源 + 事实校订回归测试 + 三级降级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2843784"/>
            <a:ext cx="5321808" cy="106984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7" y="29992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79C7FF"/>
                </a:solidFill>
                <a:latin typeface="Microsoft YaHei"/>
              </a:rPr>
              <a:t>Agent 体现在哪？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7" y="3346704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F2F6FF"/>
                </a:solidFill>
                <a:latin typeface="Microsoft YaHei"/>
              </a:rPr>
              <a:t>Function Calling 规划 → 工具执行 → 生成；5 个本地工具；可迁移 MCP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63640" y="2843784"/>
            <a:ext cx="5321808" cy="106984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64808" y="29992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79C7FF"/>
                </a:solidFill>
                <a:latin typeface="Microsoft YaHei"/>
              </a:rPr>
              <a:t>数据从哪来？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64808" y="3346704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F2F6FF"/>
                </a:solidFill>
                <a:latin typeface="Microsoft YaHei"/>
              </a:rPr>
              <a:t>站内结构化内容 + NASA/ESA 公开素材，版权清单在 docs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" y="4096512"/>
            <a:ext cx="5321808" cy="1069848"/>
          </a:xfrm>
          <a:prstGeom prst="roundRect">
            <a:avLst>
              <a:gd name="adj" fmla="val 10000"/>
            </a:avLst>
          </a:prstGeom>
          <a:solidFill>
            <a:srgbClr val="101D2D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7" y="42519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79C7FF"/>
                </a:solidFill>
                <a:latin typeface="Microsoft YaHei"/>
              </a:rPr>
              <a:t>你和别人有什么不同？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7" y="4599432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F2F6FF"/>
                </a:solidFill>
                <a:latin typeface="Microsoft YaHei"/>
              </a:rPr>
              <a:t>可溯源、可解释、可降级；装备导购与多受众讲法是差异化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宇宙探索 · 天文科普网站系统</dc:title>
  <dc:subject>AI Native 天文科普平台（RAG + Function Calling + 3D）</dc:subject>
  <dc:creator>唐乐乐、张妍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