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开场：大家好，我们的作品是「宇宙探索」，一个把天文内容、3D 互动和可溯源 RAG 问答整合起来的 AI 科普网站。参加传智杯 AI WEB 网页开发挑战赛。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先讲问题：内容分散、AI 易编造。我们的切入点是把内容做成可问答、可溯源、可离线。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总览：20 多个页面、149 个知识块、检索 Hit@1 90%、500 多个测试断言。三种交付方式。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架构分四层：前端、Express、AI、数据。AI 层把检索、提示词、流式统一起来；部署用 Docker Compose 离线启动。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是核心：149 个知识块，哈希向量和词法混合检索，Hit@1 90%，而且完全离线。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这是我们最大的技术亮点：模型不是硬编码回答，而是会规划并调用 5 个站内工具，形成最小 Agent 工作流。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安全方面：三级降级保证永远有答案；溯源和争议声明降低幻觉风险；Key 不下发。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演示按这 5 个问题走；如果网络异常，切换本地知识库模式继续演示。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体验：统一设计系统，AI 交互细节，移动端适配，另外做了自动化视觉走查。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工程层面：76 次提交、15 套测试、500 多个断言、ESLint 零告警。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交付方式三种：Docker 离线包、免安装演示包、公网演示；另外有完整文档和视频。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左边是技术创新，右边是应用创新；答辩时重点讲离线 RAG、三级降级和 Function Calling。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社会价值是科普公益属性；规划上重点是语义向量、MCP、多模态和 TypeScript。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结束页：一句话总结 + 团队 + 仓库。谢谢观看，欢迎提问。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9FD8F0"/>
                </a:solidFill>
                <a:latin typeface="Microsoft YaHei"/>
              </a:rPr>
              <a:t>2026 第九届传智杯 · AI WEB 网页开发挑战赛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6766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6600" b="1">
                <a:solidFill>
                  <a:srgbClr val="FFFFFF"/>
                </a:solidFill>
                <a:latin typeface="Microsoft YaHei"/>
              </a:rPr>
              <a:t>宇宙探索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5146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E8D9B0"/>
                </a:solidFill>
                <a:latin typeface="Microsoft YaHei"/>
              </a:rPr>
              <a:t>天文科普网站系统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6309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EFC"/>
                </a:solidFill>
                <a:latin typeface="Microsoft YaHei"/>
              </a:rPr>
              <a:t>AI Native 天文科普平台
RAG 混合检索 · Function Calling · 3D 互动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3840480" cy="27432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AA8C4"/>
                </a:solidFill>
                <a:latin typeface="Microsoft YaHei"/>
              </a:rPr>
              <a:t>团队：唐乐乐　张妍
指导教师：隋雪莉</a:t>
            </a:r>
          </a:p>
        </p:txBody>
      </p:sp>
      <p:pic>
        <p:nvPicPr>
          <p:cNvPr id="9" name="Picture 8" descr="01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80160"/>
            <a:ext cx="4572000" cy="285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1722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A8C4"/>
                </a:solidFill>
                <a:latin typeface="Microsoft YaHei"/>
              </a:rPr>
              <a:t>github.com/ttt123-ll/astro-exploration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0292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D8F0"/>
                </a:solidFill>
                <a:latin typeface="Microsoft YaHe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8D9B0"/>
                </a:solidFill>
                <a:latin typeface="Microsoft YaHei"/>
              </a:rPr>
              <a:t>问题与机会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4008" cy="201168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0020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EFC"/>
                </a:solidFill>
                <a:latin typeface="Microsoft YaHei"/>
              </a:rPr>
              <a:t>天文内容分散在百科 / 图集 / 视频 / 新闻，普通用户难以按「我的问题」组织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64008" cy="201168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EFC"/>
                </a:solidFill>
                <a:latin typeface="Microsoft YaHei"/>
              </a:rPr>
              <a:t>通用大模型在垂直领域容易编造数据，科普场景对事实准确性要求极高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29000"/>
            <a:ext cx="64008" cy="201168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3756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EFC"/>
                </a:solidFill>
                <a:latin typeface="Microsoft YaHei"/>
              </a:rPr>
              <a:t>机会：内容体系 + 可溯源问答 + 3D 互动 + 断网可用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97679"/>
            <a:ext cx="64008" cy="201168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20624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EFC"/>
                </a:solidFill>
                <a:latin typeface="Microsoft YaHei"/>
              </a:rPr>
              <a:t>目标：让天文知识「看得见、问得清、查得到」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074920"/>
            <a:ext cx="10698480" cy="822960"/>
          </a:xfrm>
          <a:prstGeom prst="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23036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D9B0"/>
                </a:solidFill>
                <a:latin typeface="Microsoft YaHei"/>
              </a:rPr>
              <a:t>核心矛盾：内容型网站缺少智能交互，通用 AI 缺少可信来源 —— 我们做「带来源的 AI 科普」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0292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D8F0"/>
                </a:solidFill>
                <a:latin typeface="Microsoft YaHe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8D9B0"/>
                </a:solidFill>
                <a:latin typeface="Microsoft YaHei"/>
              </a:rPr>
              <a:t>作品总览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12344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9FD8F0"/>
                </a:solidFill>
                <a:latin typeface="Microsoft YaHei"/>
              </a:rPr>
              <a:t>20+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页面 / 内容模块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468880" cy="12344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7190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9FD8F0"/>
                </a:solidFill>
                <a:latin typeface="Microsoft YaHei"/>
              </a:rPr>
              <a:t>149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2677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RAG 知识块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2468880" cy="12344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7190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E8D9B0"/>
                </a:solidFill>
                <a:latin typeface="Microsoft YaHei"/>
              </a:rP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2677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检索 Hit@1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554480"/>
            <a:ext cx="2468880" cy="12344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7190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9FD8F0"/>
                </a:solidFill>
                <a:latin typeface="Microsoft YaHei"/>
              </a:rPr>
              <a:t>500+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2677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自动化断言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6324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E8EEFC"/>
                </a:solidFill>
                <a:latin typeface="Microsoft YaHei"/>
              </a:rPr>
              <a:t>内容体系：太阳系、百科、星座、图集、
时间线、近地天体、深空、视频、新闻、社区
AI 能力：RAG 问答、Function Calling、
多受众讲法、模型切换、BYOK
交付形态：Docker 离线包 / 免安装包 / 公网演示</a:t>
            </a:r>
          </a:p>
        </p:txBody>
      </p:sp>
      <p:pic>
        <p:nvPicPr>
          <p:cNvPr id="19" name="Picture 18" descr="07-planet-sh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017520"/>
            <a:ext cx="2834640" cy="1771650"/>
          </a:xfrm>
          <a:prstGeom prst="rect">
            <a:avLst/>
          </a:prstGeom>
        </p:spPr>
      </p:pic>
      <p:pic>
        <p:nvPicPr>
          <p:cNvPr id="20" name="Picture 19" descr="03-commun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3017520"/>
            <a:ext cx="2651760" cy="1657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0292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D8F0"/>
                </a:solidFill>
                <a:latin typeface="Microsoft Ya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8D9B0"/>
                </a:solidFill>
                <a:latin typeface="Microsoft YaHei"/>
              </a:rP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777240"/>
          </a:xfrm>
          <a:prstGeom prst="rect">
            <a:avLst/>
          </a:prstGeom>
          <a:solidFill>
            <a:srgbClr val="121C30"/>
          </a:solidFill>
          <a:ln w="12700">
            <a:solidFill>
              <a:srgbClr val="9F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EEFC"/>
                </a:solidFill>
                <a:latin typeface="Microsoft YaHei"/>
              </a:rPr>
              <a:t>前端 Vue 3 + Vite + Pinia + Three.js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0698480" cy="777240"/>
          </a:xfrm>
          <a:prstGeom prst="rect">
            <a:avLst/>
          </a:prstGeom>
          <a:solidFill>
            <a:srgbClr val="121C30"/>
          </a:solidFill>
          <a:ln w="12700">
            <a:solidFill>
              <a:srgbClr val="E8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EEFC"/>
                </a:solidFill>
                <a:latin typeface="Microsoft YaHei"/>
              </a:rPr>
              <a:t>Express 路由 / 安全中间件 / SSE 流式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10698480" cy="777240"/>
          </a:xfrm>
          <a:prstGeom prst="rect">
            <a:avLst/>
          </a:prstGeom>
          <a:solidFill>
            <a:srgbClr val="121C30"/>
          </a:solidFill>
          <a:ln w="12700">
            <a:solidFill>
              <a:srgbClr val="9F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EEFC"/>
                </a:solidFill>
                <a:latin typeface="Microsoft YaHei"/>
              </a:rPr>
              <a:t>AI 层：意图识别 → RAG 检索 → Prompt → LLM / 本地知识库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480560"/>
            <a:ext cx="10698480" cy="777240"/>
          </a:xfrm>
          <a:prstGeom prst="rect">
            <a:avLst/>
          </a:prstGeom>
          <a:solidFill>
            <a:srgbClr val="121C30"/>
          </a:solidFill>
          <a:ln w="12700">
            <a:solidFill>
              <a:srgbClr val="E8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EEFC"/>
                </a:solidFill>
                <a:latin typeface="Microsoft YaHei"/>
              </a:rPr>
              <a:t>数据层：MySQL（用户/成绩/新闻） + 本地向量索引（149 块）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240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9AA8C4"/>
                </a:solidFill>
                <a:latin typeface="Microsoft YaHei"/>
              </a:rPr>
              <a:t>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46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9AA8C4"/>
                </a:solidFill>
                <a:latin typeface="Microsoft YaHei"/>
              </a:rPr>
              <a:t>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251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9AA8C4"/>
                </a:solidFill>
                <a:latin typeface="Microsoft YaHei"/>
              </a:rP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32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AA8C4"/>
                </a:solidFill>
                <a:latin typeface="Microsoft YaHei"/>
              </a:rPr>
              <a:t>Docker Compose：App + MySQL 一键离线启动；演示包内置 Node，无需 Docker / MySQL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0292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D8F0"/>
                </a:solidFill>
                <a:latin typeface="Microsoft YaHei"/>
              </a:rPr>
              <a:t>AI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8D9B0"/>
                </a:solidFill>
                <a:latin typeface="Microsoft YaHei"/>
              </a:rPr>
              <a:t>RAG 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4008" cy="201168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EFC"/>
                </a:solidFill>
                <a:latin typeface="Microsoft YaHei"/>
              </a:rPr>
              <a:t>知识库：52 篇文档 → 149 知识块，来源可回溯到页面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64008" cy="201168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EFC"/>
                </a:solidFill>
                <a:latin typeface="Microsoft YaHei"/>
              </a:rPr>
              <a:t>检索：1024 维哈希向量 + 词法 TF-IDF，混合 0.62 / 0.38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79"/>
            <a:ext cx="64008" cy="201168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2918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EFC"/>
                </a:solidFill>
                <a:latin typeface="Microsoft YaHei"/>
              </a:rPr>
              <a:t>过滤：相关度阈值 0.26，Top-K 4-6 块进入 Prompt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51959"/>
            <a:ext cx="64008" cy="201168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EFC"/>
                </a:solidFill>
                <a:latin typeface="Microsoft YaHei"/>
              </a:rPr>
              <a:t>评测：30 条标注查询，Hit@1 90%（10 问 9 问首条即正确）、Hit@3 100%、MRR 0.950（正确答案平均近第 1 位）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691640"/>
            <a:ext cx="1737360" cy="109728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85623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9FD8F0"/>
                </a:solidFill>
                <a:latin typeface="Microsoft YaHei"/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4048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Hit@1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691640"/>
            <a:ext cx="1737360" cy="109728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85623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E8D9B0"/>
                </a:solidFill>
                <a:latin typeface="Microsoft YaHe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4048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Hit@3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926080"/>
            <a:ext cx="1737360" cy="109728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309067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9FD8F0"/>
                </a:solidFill>
                <a:latin typeface="Microsoft YaHei"/>
              </a:rPr>
              <a:t>0.950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6393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MRR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2926080"/>
            <a:ext cx="1737360" cy="109728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309067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E8D9B0"/>
                </a:solidFill>
                <a:latin typeface="Microsoft YaHei"/>
              </a:rPr>
              <a:t>149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6393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知识块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34340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AA8C4"/>
                </a:solidFill>
                <a:latin typeface="Microsoft YaHei"/>
              </a:rPr>
              <a:t>离线可运行：不依赖外部 Embedding 服务，
断网 / 无 Key 时仍可检索作答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0292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D8F0"/>
                </a:solidFill>
                <a:latin typeface="Microsoft YaHei"/>
              </a:rPr>
              <a:t>AI ·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8D9B0"/>
                </a:solidFill>
                <a:latin typeface="Microsoft YaHei"/>
              </a:rPr>
              <a:t>Function Calling 与 Agent 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4008" cy="201168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EFC"/>
                </a:solidFill>
                <a:latin typeface="Microsoft YaHei"/>
              </a:rPr>
              <a:t>5 个工具：月相计算 / 今夜观星 / 装备导购 / 知识检索 / 页面导航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64008" cy="201168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EFC"/>
                </a:solidFill>
                <a:latin typeface="Microsoft YaHei"/>
              </a:rPr>
              <a:t>流程：模型规划 tool_calls → 服务端执行 → 结果注入 → 流式生成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64008" cy="201168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2004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EFC"/>
                </a:solidFill>
                <a:latin typeface="Microsoft YaHei"/>
              </a:rPr>
              <a:t>可视化：SSE toolsUsed + 前端工具徽标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64008" cy="201168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0233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EFC"/>
                </a:solidFill>
                <a:latin typeface="Microsoft YaHei"/>
              </a:rPr>
              <a:t>兜底：推理模型跳过规划；无 Key / 断网走规则工具</a:t>
            </a:r>
          </a:p>
        </p:txBody>
      </p:sp>
      <p:pic>
        <p:nvPicPr>
          <p:cNvPr id="14" name="Picture 13" descr="ai-tools-c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00200"/>
            <a:ext cx="4343400" cy="3317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623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FD8F0"/>
                </a:solidFill>
                <a:latin typeface="Microsoft YaHei"/>
              </a:rPr>
              <a:t>「帮我算 2027-03-20 的月相」→ 模型调用 moon_phase → 回答下方显示「月相计算」徽标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0292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D8F0"/>
                </a:solidFill>
                <a:latin typeface="Microsoft YaHei"/>
              </a:rPr>
              <a:t>AI ·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8D9B0"/>
                </a:solidFill>
                <a:latin typeface="Microsoft YaHei"/>
              </a:rPr>
              <a:t>AI 安全与可控性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4008" cy="201168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0020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EEFC"/>
                </a:solidFill>
                <a:latin typeface="Microsoft YaHei"/>
              </a:rPr>
              <a:t>三级降级：大模型 → 本地检索 → 兜底引导，AI 始终可用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64008" cy="201168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1460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EEFC"/>
                </a:solidFill>
                <a:latin typeface="Microsoft YaHei"/>
              </a:rPr>
              <a:t>溯源：回答角标可回到来源卡片与原文页面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20440"/>
            <a:ext cx="64008" cy="201168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42900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EEFC"/>
                </a:solidFill>
                <a:latin typeface="Microsoft YaHei"/>
              </a:rPr>
              <a:t>BYOK：用户 Key 只存浏览器、请求期使用，站点 Key 不下发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434840"/>
            <a:ext cx="64008" cy="201168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EEFC"/>
                </a:solidFill>
                <a:latin typeface="Microsoft YaHei"/>
              </a:rPr>
              <a:t>内容安全：超范围引导、科学争议声明、事实校订回归测试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92040"/>
            <a:ext cx="10607040" cy="10058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29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D9B0"/>
                </a:solidFill>
                <a:latin typeface="Microsoft YaHei"/>
              </a:rPr>
              <a:t>示例：创生之柱「是否被摧毁」→ 回答强调 2007 年假说、仍有争议、尚未成为定论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0292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D8F0"/>
                </a:solidFill>
                <a:latin typeface="Microsoft YaHe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8D9B0"/>
                </a:solidFill>
                <a:latin typeface="Microsoft YaHei"/>
              </a:rPr>
              <a:t>现场演示（2 分钟）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457200" cy="457200"/>
          </a:xfrm>
          <a:prstGeom prst="round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B1220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EEFC"/>
                </a:solidFill>
                <a:latin typeface="Microsoft YaHei"/>
              </a:rPr>
              <a:t>今夜适合观星吗？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56231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工具：月相 + 今夜观星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77439"/>
            <a:ext cx="457200" cy="457200"/>
          </a:xfrm>
          <a:prstGeom prst="round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5059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B1220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774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EEFC"/>
                </a:solidFill>
                <a:latin typeface="Microsoft YaHei"/>
              </a:rPr>
              <a:t>预算 600 元拍月亮买什么？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24911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装备导购引擎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46120"/>
            <a:ext cx="457200" cy="457200"/>
          </a:xfrm>
          <a:prstGeom prst="round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19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B1220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EEFC"/>
                </a:solidFill>
                <a:latin typeface="Microsoft YaHei"/>
              </a:rPr>
              <a:t>创生之柱真的被摧毁了吗？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93591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科学争议边界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14800"/>
            <a:ext cx="457200" cy="457200"/>
          </a:xfrm>
          <a:prstGeom prst="round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87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B1220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EEFC"/>
                </a:solidFill>
                <a:latin typeface="Microsoft YaHei"/>
              </a:rPr>
              <a:t>帮我算 2027-03-20 的月相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4622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指定日期 + 工具调用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83479"/>
            <a:ext cx="457200" cy="457200"/>
          </a:xfrm>
          <a:prstGeom prst="round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5663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B1220"/>
                </a:solidFill>
                <a:latin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9834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EEFC"/>
                </a:solidFill>
                <a:latin typeface="Microsoft YaHei"/>
              </a:rPr>
              <a:t>深度推理：木星磁场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330951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思考过程可视化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155448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E8EEFC"/>
                </a:solidFill>
                <a:latin typeface="Microsoft YaHei"/>
              </a:rPr>
              <a:t>演示要点
· 流式输出与打字机
· 工具徽标
· 思考过程折叠
· 来源卡片跳转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0292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D8F0"/>
                </a:solidFill>
                <a:latin typeface="Microsoft YaHei"/>
              </a:rPr>
              <a:t>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8D9B0"/>
                </a:solidFill>
                <a:latin typeface="Microsoft YaHei"/>
              </a:rPr>
              <a:t>用户体验与设计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4008" cy="201168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EFC"/>
                </a:solidFill>
                <a:latin typeface="Microsoft YaHei"/>
              </a:rPr>
              <a:t>统一设计系统：PageHeader、共享卡片、页面结构一致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64008" cy="201168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EFC"/>
                </a:solidFill>
                <a:latin typeface="Microsoft YaHei"/>
              </a:rPr>
              <a:t>AI 交互：打字机、光标、思考过程、工具徽标、移动端适配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64008" cy="201168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200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EFC"/>
                </a:solidFill>
                <a:latin typeface="Microsoft YaHei"/>
              </a:rPr>
              <a:t>无障碍：键盘可达、aria、减少动效、对比度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64008" cy="201168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EFC"/>
                </a:solidFill>
                <a:latin typeface="Microsoft YaHei"/>
              </a:rPr>
              <a:t>视觉走查：19 个页面 × 桌面 / 移动，自动检测溢出与遮挡</a:t>
            </a:r>
          </a:p>
        </p:txBody>
      </p:sp>
      <p:pic>
        <p:nvPicPr>
          <p:cNvPr id="14" name="Picture 13" descr="02-encycloped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297680" cy="2686050"/>
          </a:xfrm>
          <a:prstGeom prst="rect">
            <a:avLst/>
          </a:prstGeom>
        </p:spPr>
      </p:pic>
      <p:pic>
        <p:nvPicPr>
          <p:cNvPr id="15" name="Picture 14" descr="05-galle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480560"/>
            <a:ext cx="2779775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0292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D8F0"/>
                </a:solidFill>
                <a:latin typeface="Microsoft YaHe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8D9B0"/>
                </a:solidFill>
                <a:latin typeface="Microsoft YaHei"/>
              </a:rPr>
              <a:t>工程质量与测试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377440" cy="11887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9FD8F0"/>
                </a:solidFill>
                <a:latin typeface="Microsoft YaHei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规范提交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54480"/>
            <a:ext cx="2377440" cy="11887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7190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9FD8F0"/>
                </a:solidFill>
                <a:latin typeface="Microsoft YaHe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677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自动化测试套件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2377440" cy="11887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7190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E8D9B0"/>
                </a:solidFill>
                <a:latin typeface="Microsoft YaHei"/>
              </a:rPr>
              <a:t>500+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2677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断言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554480"/>
            <a:ext cx="2377440" cy="11887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7190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9FD8F0"/>
                </a:solidFill>
                <a:latin typeface="Microsoft YaHe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677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ESLint 告警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E8EEFC"/>
                </a:solidFill>
                <a:latin typeface="Microsoft YaHei"/>
              </a:rPr>
              <a:t>覆盖：接口 / AI 流式 / 模型切换 / RAG 指标 / 邮箱找回 / 移动端 / 无障碍 / 浏览器走查
安全：CSP、JWT 版本号、参数化 SQL、限流、验证码 HMAC 哈希
质量：Conventional Commits、统一响应格式、错误边界与降级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0292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D8F0"/>
                </a:solidFill>
                <a:latin typeface="Microsoft YaHei"/>
              </a:rP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8D9B0"/>
                </a:solidFill>
                <a:latin typeface="Microsoft YaHei"/>
              </a:rPr>
              <a:t>交付与部署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1920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E8D9B0"/>
                </a:solidFill>
                <a:latin typeface="Microsoft YaHei"/>
              </a:rPr>
              <a:t>Docker 离线包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E8EEFC"/>
                </a:solidFill>
                <a:latin typeface="Microsoft YaHei"/>
              </a:rPr>
              <a:t>App + MySQL 镜像
一键脚本，离线可跑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14600" cy="1920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8288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E8D9B0"/>
                </a:solidFill>
                <a:latin typeface="Microsoft YaHei"/>
              </a:rPr>
              <a:t>免安装演示包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42316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E8EEFC"/>
                </a:solidFill>
                <a:latin typeface="Microsoft YaHei"/>
              </a:rPr>
              <a:t>内置 Node 运行时
双击启动，无需 Docker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514600" cy="1920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E8D9B0"/>
                </a:solidFill>
                <a:latin typeface="Microsoft YaHei"/>
              </a:rPr>
              <a:t>公网在线演示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316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E8EEFC"/>
                </a:solidFill>
                <a:latin typeface="Microsoft YaHei"/>
              </a:rPr>
              <a:t>Cloudflare 隧道
评审期可直接访问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514600" cy="1920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A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8288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E8D9B0"/>
                </a:solidFill>
                <a:latin typeface="Microsoft YaHei"/>
              </a:rPr>
              <a:t>文档与视频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42316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E8EEFC"/>
                </a:solidFill>
                <a:latin typeface="Microsoft YaHei"/>
              </a:rPr>
              <a:t>技术文档 PDF
README + 演示视频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E8EEFC"/>
                </a:solidFill>
                <a:latin typeface="Microsoft YaHei"/>
              </a:rPr>
              <a:t>演示账号：admin / admin123　　（普通用户可自行注册，需绑定邮箱）
本地地址：http://127.0.0.1:3001　　公网地址：见 在线演示地址.txt（临时隧道）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0292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D8F0"/>
                </a:solidFill>
                <a:latin typeface="Microsoft YaHei"/>
              </a:rP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8D9B0"/>
                </a:solidFill>
                <a:latin typeface="Microsoft YaHei"/>
              </a:rPr>
              <a:t>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9FD8F0"/>
                </a:solidFill>
                <a:latin typeface="Microsoft YaHei"/>
              </a:rPr>
              <a:t>技术创新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29968"/>
            <a:ext cx="73152" cy="18288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8EEFC"/>
                </a:solidFill>
                <a:latin typeface="Microsoft YaHei"/>
              </a:rPr>
              <a:t>离线混合检索 RAG（149 块，Hit@1 90%）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07208"/>
            <a:ext cx="73152" cy="18288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8EEFC"/>
                </a:solidFill>
                <a:latin typeface="Microsoft YaHei"/>
              </a:rPr>
              <a:t>三级能力降级，AI 始终可用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584448"/>
            <a:ext cx="73152" cy="18288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8EEFC"/>
                </a:solidFill>
                <a:latin typeface="Microsoft YaHei"/>
              </a:rPr>
              <a:t>流式推理可视化（思考过程折叠）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361688"/>
            <a:ext cx="73152" cy="18288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8EEFC"/>
                </a:solidFill>
                <a:latin typeface="Microsoft YaHei"/>
              </a:rPr>
              <a:t>Function Calling 工具层（5 工具）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E8D9B0"/>
                </a:solidFill>
                <a:latin typeface="Microsoft YaHei"/>
              </a:rPr>
              <a:t>应用创新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029968"/>
            <a:ext cx="73152" cy="182880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8EEFC"/>
                </a:solidFill>
                <a:latin typeface="Microsoft YaHei"/>
              </a:rPr>
              <a:t>可溯源科普问答（角标 + 来源卡片）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807208"/>
            <a:ext cx="73152" cy="182880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697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8EEFC"/>
                </a:solidFill>
                <a:latin typeface="Microsoft YaHei"/>
              </a:rPr>
              <a:t>观星装备导购（预算约束推理）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3584448"/>
            <a:ext cx="73152" cy="182880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8EEFC"/>
                </a:solidFill>
                <a:latin typeface="Microsoft YaHei"/>
              </a:rPr>
              <a:t>内容-问答-3D 联动闭环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361688"/>
            <a:ext cx="73152" cy="182880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8EEFC"/>
                </a:solidFill>
                <a:latin typeface="Microsoft YaHei"/>
              </a:rPr>
              <a:t>零依赖交付（离线包 + 免安装包）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0292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D8F0"/>
                </a:solidFill>
                <a:latin typeface="Microsoft YaHei"/>
              </a:rPr>
              <a:t>VALUE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8D9B0"/>
                </a:solidFill>
                <a:latin typeface="Microsoft YaHei"/>
              </a:rPr>
              <a:t>社会价值与展望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8C4"/>
                </a:solidFill>
                <a:latin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9FD8F0"/>
                </a:solidFill>
                <a:latin typeface="Microsoft YaHei"/>
              </a:rPr>
              <a:t>社会价值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E8EEFC"/>
                </a:solidFill>
                <a:latin typeface="Microsoft YaHei"/>
              </a:rPr>
              <a:t>· 青少年天文启蒙，降低科普门槛
· 教师备课与科技馆导览的内容底座
· 离线可用，适配网络受限地区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9FD8F0"/>
                </a:solidFill>
                <a:latin typeface="Microsoft YaHei"/>
              </a:rPr>
              <a:t>商业潜力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E8EEFC"/>
                </a:solidFill>
                <a:latin typeface="Microsoft YaHei"/>
              </a:rPr>
              <a:t>· 科普机构内容中台
· 观测装备推荐与电商导流
· 教育 SaaS / 校园科普解决方案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D9B0"/>
                </a:solidFill>
                <a:latin typeface="Microsoft YaHei"/>
              </a:rPr>
              <a:t>下一步规划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947672"/>
            <a:ext cx="457200" cy="4572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E8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025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E8D9B0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94767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EFC"/>
                </a:solidFill>
                <a:latin typeface="Microsoft YaHei"/>
              </a:rPr>
              <a:t>语义 Embedding + 真向量库（sqlite-vec / FAISS）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697479"/>
            <a:ext cx="457200" cy="4572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E8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7523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E8D9B0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69747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EFC"/>
                </a:solidFill>
                <a:latin typeface="Microsoft YaHei"/>
              </a:rPr>
              <a:t>Function Calling → MCP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447287"/>
            <a:ext cx="457200" cy="4572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E8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50215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E8D9B0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447287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EFC"/>
                </a:solidFill>
                <a:latin typeface="Microsoft YaHei"/>
              </a:rPr>
              <a:t>多模态：图片问答 / 星空识图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197096"/>
            <a:ext cx="457200" cy="4572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E8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2519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E8D9B0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197096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EFC"/>
                </a:solidFill>
                <a:latin typeface="Microsoft YaHei"/>
              </a:rPr>
              <a:t>前端渐进式 TypeScript 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946904"/>
            <a:ext cx="457200" cy="4572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E8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017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E8D9B0"/>
                </a:solidFill>
                <a:latin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946904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EFC"/>
                </a:solidFill>
                <a:latin typeface="Microsoft YaHei"/>
              </a:rPr>
              <a:t>公网长期部署与用户反馈闭环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把天文知识做成
可问、可看、可玩的 AI 原生体验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91840"/>
            <a:ext cx="4206240" cy="36576"/>
          </a:xfrm>
          <a:prstGeom prst="rect">
            <a:avLst/>
          </a:prstGeom>
          <a:solidFill>
            <a:srgbClr val="E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C"/>
                </a:solidFill>
                <a:latin typeface="Microsoft YaHei"/>
              </a:rPr>
              <a:t>宇宙探索 · 天文科普网站系统　|　传智杯 AI WEB 网页开发挑战赛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AA8C4"/>
                </a:solidFill>
                <a:latin typeface="Microsoft YaHei"/>
              </a:rPr>
              <a:t>团队：唐乐乐　张妍　　指导教师：隋雪莉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FD8F0"/>
                </a:solidFill>
                <a:latin typeface="Microsoft YaHei"/>
              </a:rPr>
              <a:t>github.com/ttt123-ll/astro-exploration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8D9B0"/>
                </a:solidFill>
                <a:latin typeface="Microsoft YaHei"/>
              </a:rPr>
              <a:t>谢谢观看，欢迎提问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