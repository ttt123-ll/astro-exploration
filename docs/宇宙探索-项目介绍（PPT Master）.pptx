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stro_exploration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stro_exploration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6071c76e9e23b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24ad2265dc888b9d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279c25e0615fb0f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732d949e8e6557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93" name="page-content"/>
          <p:cNvGrpSpPr/>
          <p:nvPr/>
        </p:nvGrpSpPr>
        <p:grpSpPr>
          <a:xfrm>
            <a:off x="561975" y="32385"/>
            <a:ext cx="12345047" cy="6617970"/>
            <a:chOff x="561975" y="32385"/>
            <a:chExt cx="12345047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01 / 13</a:t>
                </a:r>
              </a:p>
            </p:txBody>
          </p:sp>
        </p:grpSp>
        <p:grpSp>
          <p:nvGrpSpPr>
            <p:cNvPr id="76" name="cover-orbit"/>
            <p:cNvGrpSpPr/>
            <p:nvPr/>
          </p:nvGrpSpPr>
          <p:grpSpPr>
            <a:xfrm>
              <a:off x="6142978" y="685800"/>
              <a:ext cx="6764044" cy="5486400"/>
              <a:chOff x="6142978" y="685800"/>
              <a:chExt cx="6764044" cy="5486400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7543800" y="1447800"/>
                <a:ext cx="3962400" cy="3962400"/>
              </a:xfrm>
              <a:prstGeom prst="ellipse">
                <a:avLst/>
              </a:prstGeom>
              <a:noFill/>
              <a:ln w="14288">
                <a:solidFill>
                  <a:srgbClr val="2D4B77">
                    <a:alpha val="55000"/>
                  </a:srgbClr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6781800" y="685800"/>
                <a:ext cx="5486400" cy="5486400"/>
              </a:xfrm>
              <a:prstGeom prst="ellipse">
                <a:avLst/>
              </a:prstGeom>
              <a:noFill/>
              <a:ln w="9525">
                <a:solidFill>
                  <a:srgbClr val="223A5E">
                    <a:alpha val="50000"/>
                  </a:srgbClr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9" name="Ellipse 69"/>
              <p:cNvSpPr/>
              <p:nvPr/>
            </p:nvSpPr>
            <p:spPr>
              <a:xfrm rot="-1080000">
                <a:off x="6334125" y="2305050"/>
                <a:ext cx="6381750" cy="2247900"/>
              </a:xfrm>
              <a:prstGeom prst="ellipse">
                <a:avLst/>
              </a:prstGeom>
              <a:noFill/>
              <a:ln w="11430">
                <a:solidFill>
                  <a:srgbClr val="2A5B8F">
                    <a:alpha val="55000"/>
                  </a:srgbClr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8420100" y="2324100"/>
                <a:ext cx="2209800" cy="2209800"/>
              </a:xfrm>
              <a:prstGeom prst="ellipse">
                <a:avLst/>
              </a:prstGeom>
              <a:solidFill>
                <a:srgbClr val="0C1A30"/>
              </a:solidFill>
              <a:ln w="11430">
                <a:solidFill>
                  <a:srgbClr val="3A5E8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8420100" y="2324100"/>
                <a:ext cx="2209800" cy="2209800"/>
              </a:xfrm>
              <a:prstGeom prst="ellipse">
                <a:avLst/>
              </a:prstGeom>
              <a:solidFill>
                <a:srgbClr val="122A4A">
                  <a:alpha val="5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10953750" y="2019300"/>
                <a:ext cx="285750" cy="285750"/>
              </a:xfrm>
              <a:prstGeom prst="ellipse">
                <a:avLst/>
              </a:prstGeom>
              <a:gradFill>
                <a:gsLst>
                  <a:gs pos="0">
                    <a:srgbClr val="F5D76E"/>
                  </a:gs>
                  <a:gs pos="100000">
                    <a:srgbClr val="F0A85C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7153275" y="4514850"/>
                <a:ext cx="190500" cy="190500"/>
              </a:xfrm>
              <a:prstGeom prst="ellipse">
                <a:avLst/>
              </a:prstGeom>
              <a:gradFill>
                <a:gsLst>
                  <a:gs pos="0">
                    <a:srgbClr val="22D3EE"/>
                  </a:gs>
                  <a:gs pos="100000">
                    <a:srgbClr val="A78BFA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11658600" y="4124325"/>
                <a:ext cx="133350" cy="133350"/>
              </a:xfrm>
              <a:prstGeom prst="ellipse">
                <a:avLst/>
              </a:prstGeom>
              <a:solidFill>
                <a:srgbClr val="DCE8FF">
                  <a:alpha val="8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9448800" y="3352800"/>
                <a:ext cx="152400" cy="152400"/>
              </a:xfrm>
              <a:prstGeom prst="ellipse">
                <a:avLst/>
              </a:prstGeom>
              <a:solidFill>
                <a:srgbClr val="DCE8FF">
                  <a:alpha val="3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832104" y="1352550"/>
              <a:ext cx="3885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spc="150" dirty="0">
                  <a:solidFill>
                    <a:srgbClr val="F5D76E"/>
                  </a:solidFill>
                  <a:latin typeface="+mn-lt"/>
                  <a:ea typeface="+mn-ea"/>
                  <a:cs typeface="+mn-cs"/>
                </a:rPr>
                <a:t>2026 第九届传智杯 · AI WEB 网页开发挑战赛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1050" y="1993900"/>
              <a:ext cx="3834384" cy="1362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7050" b="1" dirty="0">
                  <a:gradFill>
                    <a:gsLst>
                      <a:gs pos="0">
                        <a:srgbClr val="F7FAFF"/>
                      </a:gs>
                      <a:gs pos="62000">
                        <a:srgbClr val="CFE9FF"/>
                      </a:gs>
                      <a:gs pos="100000">
                        <a:srgbClr val="22D3EE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宇宙探索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3722" y="3219450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rgbClr val="D9E6F8"/>
                  </a:solidFill>
                  <a:latin typeface="+mn-lt"/>
                  <a:ea typeface="+mn-ea"/>
                  <a:cs typeface="+mn-cs"/>
                </a:rPr>
                <a:t>天文科普网站系统</a:t>
              </a:r>
            </a:p>
          </p:txBody>
        </p:sp>
        <p:sp>
          <p:nvSpPr>
            <p:cNvPr id="80" name="cover-rule"/>
            <p:cNvSpPr/>
            <p:nvPr/>
          </p:nvSpPr>
          <p:spPr>
            <a:xfrm>
              <a:off x="838200" y="3848100"/>
              <a:ext cx="2000250" cy="47625"/>
            </a:xfrm>
            <a:prstGeom prst="rect">
              <a:avLst/>
            </a:prstGeom>
            <a:gradFill>
              <a:gsLst>
                <a:gs pos="0">
                  <a:srgbClr val="22D3EE"/>
                </a:gs>
                <a:gs pos="100000">
                  <a:srgbClr val="A78BFA"/>
                </a:gs>
              </a:gsLst>
              <a:lin ang="0" scaled="1"/>
            </a:gradFill>
            <a:ln>
              <a:noFill/>
            </a:ln>
          </p:spPr>
          <p:txBody>
            <a:bodyPr wrap="none">
              <a:noAutofit/>
            </a:bodyPr>
            <a:p/>
          </p:txBody>
        </p:sp>
        <p:grpSp>
          <p:nvGrpSpPr>
            <p:cNvPr id="85" name="cover-desc"/>
            <p:cNvGrpSpPr/>
            <p:nvPr/>
          </p:nvGrpSpPr>
          <p:grpSpPr>
            <a:xfrm>
              <a:off x="830961" y="4127500"/>
              <a:ext cx="3646526" cy="1164527"/>
              <a:chOff x="830961" y="4127500"/>
              <a:chExt cx="3646526" cy="1164527"/>
            </a:xfrm>
          </p:grpSpPr>
          <p:sp>
            <p:nvSpPr>
              <p:cNvPr id="81" name="TextBox 81"/>
              <p:cNvSpPr txBox="1"/>
              <p:nvPr/>
            </p:nvSpPr>
            <p:spPr>
              <a:xfrm>
                <a:off x="830961" y="4127500"/>
                <a:ext cx="364652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把天文知识做成可读、可点、可玩、可问的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830961" y="4422775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交互体验。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30961" y="4718050"/>
                <a:ext cx="215745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结构化内容 + 可溯源 RAG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30961" y="5013325"/>
                <a:ext cx="98272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+ 可降级 AI</a:t>
                </a:r>
              </a:p>
            </p:txBody>
          </p:sp>
        </p:grpSp>
        <p:grpSp>
          <p:nvGrpSpPr>
            <p:cNvPr id="92" name="cover-tags"/>
            <p:cNvGrpSpPr/>
            <p:nvPr/>
          </p:nvGrpSpPr>
          <p:grpSpPr>
            <a:xfrm>
              <a:off x="838200" y="5619750"/>
              <a:ext cx="5200650" cy="361950"/>
              <a:chOff x="838200" y="5619750"/>
              <a:chExt cx="5200650" cy="36195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8200" y="5619750"/>
                <a:ext cx="1485900" cy="361950"/>
              </a:xfrm>
              <a:prstGeom prst="roundRect">
                <a:avLst>
                  <a:gd name="adj" fmla="val 50000"/>
                </a:avLst>
              </a:prstGeom>
              <a:solidFill>
                <a:srgbClr val="0F2438"/>
              </a:solidFill>
              <a:ln w="9525">
                <a:solidFill>
                  <a:srgbClr val="2A6B80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269335" y="5718175"/>
                <a:ext cx="6236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120" dirty="0">
                    <a:solidFill>
                      <a:srgbClr val="7FE3F5"/>
                    </a:solidFill>
                    <a:latin typeface="+mn-lt"/>
                    <a:ea typeface="+mn-ea"/>
                    <a:cs typeface="+mn-cs"/>
                  </a:rPr>
                  <a:t>RAG 问答</a:t>
                </a:r>
              </a:p>
            </p:txBody>
          </p:sp>
          <p:sp>
            <p:nvSpPr>
              <p:cNvPr id="88" name="Rectangle 88"/>
              <p:cNvSpPr/>
              <p:nvPr/>
            </p:nvSpPr>
            <p:spPr>
              <a:xfrm>
                <a:off x="2495550" y="5619750"/>
                <a:ext cx="1562100" cy="361950"/>
              </a:xfrm>
              <a:prstGeom prst="roundRect">
                <a:avLst>
                  <a:gd name="adj" fmla="val 50000"/>
                </a:avLst>
              </a:prstGeom>
              <a:solidFill>
                <a:srgbClr val="141C33"/>
              </a:solidFill>
              <a:ln w="9525">
                <a:solidFill>
                  <a:srgbClr val="5B4A8A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2676208" y="5718175"/>
                <a:ext cx="120078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en-US" sz="1120" dirty="0">
                    <a:solidFill>
                      <a:srgbClr val="C9B8FF"/>
                    </a:solidFill>
                    <a:latin typeface="+mn-lt"/>
                    <a:ea typeface="+mn-ea"/>
                    <a:cs typeface="+mn-cs"/>
                  </a:rPr>
                  <a:t>Vue 3 + Three.js</a:t>
                </a:r>
              </a:p>
            </p:txBody>
          </p:sp>
          <p:sp>
            <p:nvSpPr>
              <p:cNvPr id="90" name="Rectangle 90"/>
              <p:cNvSpPr/>
              <p:nvPr/>
            </p:nvSpPr>
            <p:spPr>
              <a:xfrm>
                <a:off x="4229100" y="5619750"/>
                <a:ext cx="1809750" cy="361950"/>
              </a:xfrm>
              <a:prstGeom prst="roundRect">
                <a:avLst>
                  <a:gd name="adj" fmla="val 50000"/>
                </a:avLst>
              </a:prstGeom>
              <a:solidFill>
                <a:srgbClr val="1C1A2E"/>
              </a:solidFill>
              <a:ln w="9525">
                <a:solidFill>
                  <a:srgbClr val="7A5C2E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4499364" y="5718175"/>
                <a:ext cx="12692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en-US" sz="1120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Express + MySQL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103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02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74750"/>
              <a:ext cx="1131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01 / 项目概览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074" y="1543050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从「看天文」到「问天文」</a:t>
              </a:r>
            </a:p>
          </p:txBody>
        </p:sp>
        <p:grpSp>
          <p:nvGrpSpPr>
            <p:cNvPr id="71" name="ov-lead"/>
            <p:cNvGrpSpPr/>
            <p:nvPr/>
          </p:nvGrpSpPr>
          <p:grpSpPr>
            <a:xfrm>
              <a:off x="601980" y="2298700"/>
              <a:ext cx="5669280" cy="617220"/>
              <a:chOff x="601980" y="2298700"/>
              <a:chExt cx="5669280" cy="617220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601980" y="2298700"/>
                <a:ext cx="53450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一个覆盖内容、AI、互动与交付的完整天文科普 Web 应用，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01980" y="2622550"/>
                <a:ext cx="56692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让用户按「我关心的问题」组织知识，而不是在页面之间迷路。</a:t>
                </a:r>
              </a:p>
            </p:txBody>
          </p:sp>
        </p:grpSp>
        <p:grpSp>
          <p:nvGrpSpPr>
            <p:cNvPr id="75" name="ov-stat-1"/>
            <p:cNvGrpSpPr/>
            <p:nvPr/>
          </p:nvGrpSpPr>
          <p:grpSpPr>
            <a:xfrm>
              <a:off x="609600" y="3238500"/>
              <a:ext cx="2514600" cy="1428750"/>
              <a:chOff x="609600" y="3238500"/>
              <a:chExt cx="2514600" cy="1428750"/>
            </a:xfrm>
          </p:grpSpPr>
          <p:sp>
            <p:nvSpPr>
              <p:cNvPr id="72" name="ov-card-1"/>
              <p:cNvSpPr/>
              <p:nvPr/>
            </p:nvSpPr>
            <p:spPr>
              <a:xfrm>
                <a:off x="609600" y="3238500"/>
                <a:ext cx="25146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20674" y="3397250"/>
                <a:ext cx="839693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45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20+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32104" y="409575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页面与互动场景</a:t>
                </a:r>
              </a:p>
            </p:txBody>
          </p:sp>
        </p:grpSp>
        <p:grpSp>
          <p:nvGrpSpPr>
            <p:cNvPr id="79" name="ov-stat-2"/>
            <p:cNvGrpSpPr/>
            <p:nvPr/>
          </p:nvGrpSpPr>
          <p:grpSpPr>
            <a:xfrm>
              <a:off x="3390900" y="3238500"/>
              <a:ext cx="2514600" cy="1428750"/>
              <a:chOff x="3390900" y="3238500"/>
              <a:chExt cx="2514600" cy="1428750"/>
            </a:xfrm>
          </p:grpSpPr>
          <p:sp>
            <p:nvSpPr>
              <p:cNvPr id="76" name="ov-card-2"/>
              <p:cNvSpPr/>
              <p:nvPr/>
            </p:nvSpPr>
            <p:spPr>
              <a:xfrm>
                <a:off x="3390900" y="3238500"/>
                <a:ext cx="25146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3601974" y="3397250"/>
                <a:ext cx="839693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450" b="1" dirty="0">
                    <a:solidFill>
                      <a:srgbClr val="A78BFA"/>
                    </a:solidFill>
                    <a:latin typeface="+mn-lt"/>
                    <a:ea typeface="+mn-ea"/>
                    <a:cs typeface="+mn-cs"/>
                  </a:rPr>
                  <a:t>149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3613404" y="4095750"/>
                <a:ext cx="13933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知识块 · 52 来源页</a:t>
                </a:r>
              </a:p>
            </p:txBody>
          </p:sp>
        </p:grpSp>
        <p:grpSp>
          <p:nvGrpSpPr>
            <p:cNvPr id="83" name="ov-stat-3"/>
            <p:cNvGrpSpPr/>
            <p:nvPr/>
          </p:nvGrpSpPr>
          <p:grpSpPr>
            <a:xfrm>
              <a:off x="6172200" y="3238500"/>
              <a:ext cx="2514600" cy="1428750"/>
              <a:chOff x="6172200" y="3238500"/>
              <a:chExt cx="2514600" cy="1428750"/>
            </a:xfrm>
          </p:grpSpPr>
          <p:sp>
            <p:nvSpPr>
              <p:cNvPr id="80" name="ov-card-3"/>
              <p:cNvSpPr/>
              <p:nvPr/>
            </p:nvSpPr>
            <p:spPr>
              <a:xfrm>
                <a:off x="6172200" y="3238500"/>
                <a:ext cx="25146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383274" y="3397250"/>
                <a:ext cx="303266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4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394704" y="4095750"/>
                <a:ext cx="16129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Function Calling 工具</a:t>
                </a:r>
              </a:p>
            </p:txBody>
          </p:sp>
        </p:grpSp>
        <p:grpSp>
          <p:nvGrpSpPr>
            <p:cNvPr id="87" name="ov-stat-4"/>
            <p:cNvGrpSpPr/>
            <p:nvPr/>
          </p:nvGrpSpPr>
          <p:grpSpPr>
            <a:xfrm>
              <a:off x="8953500" y="3238500"/>
              <a:ext cx="2514600" cy="1428750"/>
              <a:chOff x="8953500" y="3238500"/>
              <a:chExt cx="2514600" cy="1428750"/>
            </a:xfrm>
          </p:grpSpPr>
          <p:sp>
            <p:nvSpPr>
              <p:cNvPr id="84" name="ov-card-4"/>
              <p:cNvSpPr/>
              <p:nvPr/>
            </p:nvSpPr>
            <p:spPr>
              <a:xfrm>
                <a:off x="8953500" y="3238500"/>
                <a:ext cx="25146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164574" y="3397250"/>
                <a:ext cx="1107906" cy="6747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450" b="1" dirty="0">
                    <a:solidFill>
                      <a:srgbClr val="6EE7B7"/>
                    </a:solidFill>
                    <a:latin typeface="+mn-lt"/>
                    <a:ea typeface="+mn-ea"/>
                    <a:cs typeface="+mn-cs"/>
                  </a:rPr>
                  <a:t>500+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176004" y="409575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自动化测试断言</a:t>
                </a:r>
              </a:p>
            </p:txBody>
          </p:sp>
        </p:grpSp>
        <p:grpSp>
          <p:nvGrpSpPr>
            <p:cNvPr id="92" name="ov-pillar-1"/>
            <p:cNvGrpSpPr/>
            <p:nvPr/>
          </p:nvGrpSpPr>
          <p:grpSpPr>
            <a:xfrm>
              <a:off x="609600" y="5143500"/>
              <a:ext cx="3505200" cy="1047750"/>
              <a:chOff x="609600" y="5143500"/>
              <a:chExt cx="3505200" cy="1047750"/>
            </a:xfrm>
          </p:grpSpPr>
          <p:sp>
            <p:nvSpPr>
              <p:cNvPr id="88" name="ov-pillar-bg-1"/>
              <p:cNvSpPr/>
              <p:nvPr/>
            </p:nvSpPr>
            <p:spPr>
              <a:xfrm>
                <a:off x="609600" y="5143500"/>
                <a:ext cx="35052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9" name="ov-pillar-dot-1"/>
              <p:cNvSpPr/>
              <p:nvPr/>
            </p:nvSpPr>
            <p:spPr>
              <a:xfrm>
                <a:off x="819150" y="5410200"/>
                <a:ext cx="57150" cy="514350"/>
              </a:xfrm>
              <a:prstGeom prst="roundRect">
                <a:avLst>
                  <a:gd name="adj" fmla="val 50000"/>
                </a:avLst>
              </a:prstGeom>
              <a:solidFill>
                <a:srgbClr val="22D3E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39368" y="5321300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内容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1042035" y="5708650"/>
                <a:ext cx="23635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百科 · 星座 · 图集 · 时间线 · 新闻</a:t>
                </a:r>
              </a:p>
            </p:txBody>
          </p:sp>
        </p:grpSp>
        <p:grpSp>
          <p:nvGrpSpPr>
            <p:cNvPr id="97" name="ov-pillar-2"/>
            <p:cNvGrpSpPr/>
            <p:nvPr/>
          </p:nvGrpSpPr>
          <p:grpSpPr>
            <a:xfrm>
              <a:off x="4343400" y="5143500"/>
              <a:ext cx="3505200" cy="1047750"/>
              <a:chOff x="4343400" y="5143500"/>
              <a:chExt cx="3505200" cy="1047750"/>
            </a:xfrm>
          </p:grpSpPr>
          <p:sp>
            <p:nvSpPr>
              <p:cNvPr id="93" name="ov-pillar-bg-2"/>
              <p:cNvSpPr/>
              <p:nvPr/>
            </p:nvSpPr>
            <p:spPr>
              <a:xfrm>
                <a:off x="4343400" y="5143500"/>
                <a:ext cx="35052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4" name="ov-pillar-dot-2"/>
              <p:cNvSpPr/>
              <p:nvPr/>
            </p:nvSpPr>
            <p:spPr>
              <a:xfrm>
                <a:off x="4552950" y="5410200"/>
                <a:ext cx="57150" cy="514350"/>
              </a:xfrm>
              <a:prstGeom prst="roundRect">
                <a:avLst>
                  <a:gd name="adj" fmla="val 50000"/>
                </a:avLst>
              </a:prstGeom>
              <a:solidFill>
                <a:srgbClr val="A78BFA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4773168" y="5321300"/>
                <a:ext cx="2262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650" b="1" dirty="0">
                    <a:solidFill>
                      <a:srgbClr val="A78BFA"/>
                    </a:solidFill>
                    <a:latin typeface="+mn-lt"/>
                    <a:ea typeface="+mn-ea"/>
                    <a:cs typeface="+mn-cs"/>
                  </a:rPr>
                  <a:t>AI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4775835" y="5708650"/>
                <a:ext cx="14001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RAG 问答 · 工具调用</a:t>
                </a:r>
              </a:p>
            </p:txBody>
          </p:sp>
        </p:grpSp>
        <p:grpSp>
          <p:nvGrpSpPr>
            <p:cNvPr id="102" name="ov-pillar-3"/>
            <p:cNvGrpSpPr/>
            <p:nvPr/>
          </p:nvGrpSpPr>
          <p:grpSpPr>
            <a:xfrm>
              <a:off x="8077200" y="5143500"/>
              <a:ext cx="3505200" cy="1047750"/>
              <a:chOff x="8077200" y="5143500"/>
              <a:chExt cx="3505200" cy="1047750"/>
            </a:xfrm>
          </p:grpSpPr>
          <p:sp>
            <p:nvSpPr>
              <p:cNvPr id="98" name="ov-pillar-bg-3"/>
              <p:cNvSpPr/>
              <p:nvPr/>
            </p:nvSpPr>
            <p:spPr>
              <a:xfrm>
                <a:off x="8077200" y="5143500"/>
                <a:ext cx="35052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9" name="ov-pillar-dot-3"/>
              <p:cNvSpPr/>
              <p:nvPr/>
            </p:nvSpPr>
            <p:spPr>
              <a:xfrm>
                <a:off x="8286750" y="5410200"/>
                <a:ext cx="57150" cy="514350"/>
              </a:xfrm>
              <a:prstGeom prst="roundRect">
                <a:avLst>
                  <a:gd name="adj" fmla="val 50000"/>
                </a:avLst>
              </a:prstGeom>
              <a:solidFill>
                <a:srgbClr val="F5D76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8506968" y="5321300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6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互动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8509635" y="5708650"/>
                <a:ext cx="16366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3D 投影 · 竞赛 · 排行榜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106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03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74750"/>
              <a:ext cx="130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02 / 问题与解法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074" y="1543050"/>
              <a:ext cx="5143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三个现实问题，一套解法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1980" y="229870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科普不缺内容，缺的是「按问题组织」与「事实可信」。</a:t>
              </a:r>
            </a:p>
          </p:txBody>
        </p:sp>
        <p:grpSp>
          <p:nvGrpSpPr>
            <p:cNvPr id="81" name="pb-card-1"/>
            <p:cNvGrpSpPr/>
            <p:nvPr/>
          </p:nvGrpSpPr>
          <p:grpSpPr>
            <a:xfrm>
              <a:off x="609600" y="3048000"/>
              <a:ext cx="3505200" cy="2914650"/>
              <a:chOff x="609600" y="3048000"/>
              <a:chExt cx="3505200" cy="2914650"/>
            </a:xfrm>
          </p:grpSpPr>
          <p:sp>
            <p:nvSpPr>
              <p:cNvPr id="70" name="pb-bg-1"/>
              <p:cNvSpPr/>
              <p:nvPr/>
            </p:nvSpPr>
            <p:spPr>
              <a:xfrm>
                <a:off x="609600" y="3048000"/>
                <a:ext cx="3505200" cy="2914650"/>
              </a:xfrm>
              <a:prstGeom prst="roundRect">
                <a:avLst>
                  <a:gd name="adj" fmla="val 6536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51535" y="3384550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b="1" dirty="0">
                    <a:solidFill>
                      <a:srgbClr val="22D3E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47725" y="3714750"/>
                <a:ext cx="1031392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内容分散</a:t>
                </a:r>
              </a:p>
            </p:txBody>
          </p:sp>
          <p:grpSp>
            <p:nvGrpSpPr>
              <p:cNvPr id="75" name="pb-pdesc-1"/>
              <p:cNvGrpSpPr/>
              <p:nvPr/>
            </p:nvGrpSpPr>
            <p:grpSpPr>
              <a:xfrm>
                <a:off x="851154" y="4152900"/>
                <a:ext cx="2596896" cy="482346"/>
                <a:chOff x="851154" y="4152900"/>
                <a:chExt cx="2596896" cy="482346"/>
              </a:xfrm>
            </p:grpSpPr>
            <p:sp>
              <p:nvSpPr>
                <p:cNvPr id="73" name="TextBox 73"/>
                <p:cNvSpPr txBox="1"/>
                <p:nvPr/>
              </p:nvSpPr>
              <p:spPr>
                <a:xfrm>
                  <a:off x="851154" y="4152900"/>
                  <a:ext cx="259689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百科、图集、视频、新闻各自为政，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51154" y="4400550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用户难以形成完整认知。</a:t>
                  </a:r>
                </a:p>
              </p:txBody>
            </p:sp>
          </p:grpSp>
          <p:sp>
            <p:nvSpPr>
              <p:cNvPr id="76" name="pb-rule-1"/>
              <p:cNvSpPr/>
              <p:nvPr/>
            </p:nvSpPr>
            <p:spPr>
              <a:xfrm>
                <a:off x="857250" y="4857750"/>
                <a:ext cx="5334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22D3E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50392" y="5092700"/>
                <a:ext cx="10846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→ 结构化内容</a:t>
                </a:r>
              </a:p>
            </p:txBody>
          </p:sp>
          <p:grpSp>
            <p:nvGrpSpPr>
              <p:cNvPr id="80" name="pb-sdesc-1"/>
              <p:cNvGrpSpPr/>
              <p:nvPr/>
            </p:nvGrpSpPr>
            <p:grpSpPr>
              <a:xfrm>
                <a:off x="851916" y="5454650"/>
                <a:ext cx="1749285" cy="433959"/>
                <a:chOff x="851916" y="5454650"/>
                <a:chExt cx="1749285" cy="433959"/>
              </a:xfrm>
            </p:grpSpPr>
            <p:sp>
              <p:nvSpPr>
                <p:cNvPr id="78" name="TextBox 78"/>
                <p:cNvSpPr txBox="1"/>
                <p:nvPr/>
              </p:nvSpPr>
              <p:spPr>
                <a:xfrm>
                  <a:off x="851916" y="5454650"/>
                  <a:ext cx="174928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专题 + 时间线 + 关联推荐，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51916" y="5683250"/>
                  <a:ext cx="174221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按探索路径组织 20+ 页面。</a:t>
                  </a:r>
                </a:p>
              </p:txBody>
            </p:sp>
          </p:grpSp>
        </p:grpSp>
        <p:grpSp>
          <p:nvGrpSpPr>
            <p:cNvPr id="93" name="pb-card-2"/>
            <p:cNvGrpSpPr/>
            <p:nvPr/>
          </p:nvGrpSpPr>
          <p:grpSpPr>
            <a:xfrm>
              <a:off x="4343400" y="3048000"/>
              <a:ext cx="3505200" cy="2914650"/>
              <a:chOff x="4343400" y="3048000"/>
              <a:chExt cx="3505200" cy="2914650"/>
            </a:xfrm>
          </p:grpSpPr>
          <p:sp>
            <p:nvSpPr>
              <p:cNvPr id="82" name="pb-bg-2"/>
              <p:cNvSpPr/>
              <p:nvPr/>
            </p:nvSpPr>
            <p:spPr>
              <a:xfrm>
                <a:off x="4343400" y="3048000"/>
                <a:ext cx="3505200" cy="2914650"/>
              </a:xfrm>
              <a:prstGeom prst="roundRect">
                <a:avLst>
                  <a:gd name="adj" fmla="val 6536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585335" y="3384550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b="1" dirty="0">
                    <a:solidFill>
                      <a:srgbClr val="A78BFA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4581525" y="3714750"/>
                <a:ext cx="1101206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AI 会编造</a:t>
                </a:r>
              </a:p>
            </p:txBody>
          </p:sp>
          <p:grpSp>
            <p:nvGrpSpPr>
              <p:cNvPr id="87" name="pb-pdesc-2"/>
              <p:cNvGrpSpPr/>
              <p:nvPr/>
            </p:nvGrpSpPr>
            <p:grpSpPr>
              <a:xfrm>
                <a:off x="4584954" y="4152900"/>
                <a:ext cx="2435352" cy="482346"/>
                <a:chOff x="4584954" y="4152900"/>
                <a:chExt cx="2435352" cy="482346"/>
              </a:xfrm>
            </p:grpSpPr>
            <p:sp>
              <p:nvSpPr>
                <p:cNvPr id="85" name="TextBox 85"/>
                <p:cNvSpPr txBox="1"/>
                <p:nvPr/>
              </p:nvSpPr>
              <p:spPr>
                <a:xfrm>
                  <a:off x="4584954" y="4152900"/>
                  <a:ext cx="227380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通用大模型在垂直领域容易编造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4584954" y="4400550"/>
                  <a:ext cx="243535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术语与数据，科普场景不能接受。</a:t>
                  </a:r>
                </a:p>
              </p:txBody>
            </p:sp>
          </p:grpSp>
          <p:sp>
            <p:nvSpPr>
              <p:cNvPr id="88" name="pb-rule-2"/>
              <p:cNvSpPr/>
              <p:nvPr/>
            </p:nvSpPr>
            <p:spPr>
              <a:xfrm>
                <a:off x="4591050" y="4857750"/>
                <a:ext cx="5334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A78BFA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4584192" y="5092700"/>
                <a:ext cx="10846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b="1" dirty="0">
                    <a:solidFill>
                      <a:srgbClr val="A78BFA"/>
                    </a:solidFill>
                    <a:latin typeface="+mn-lt"/>
                    <a:ea typeface="+mn-ea"/>
                    <a:cs typeface="+mn-cs"/>
                  </a:rPr>
                  <a:t>→ 可溯源问答</a:t>
                </a:r>
              </a:p>
            </p:txBody>
          </p:sp>
          <p:grpSp>
            <p:nvGrpSpPr>
              <p:cNvPr id="92" name="pb-sdesc-2"/>
              <p:cNvGrpSpPr/>
              <p:nvPr/>
            </p:nvGrpSpPr>
            <p:grpSpPr>
              <a:xfrm>
                <a:off x="4585716" y="5454650"/>
                <a:ext cx="2208676" cy="433959"/>
                <a:chOff x="4585716" y="5454650"/>
                <a:chExt cx="2208676" cy="433959"/>
              </a:xfrm>
            </p:grpSpPr>
            <p:sp>
              <p:nvSpPr>
                <p:cNvPr id="90" name="TextBox 90"/>
                <p:cNvSpPr txBox="1"/>
                <p:nvPr/>
              </p:nvSpPr>
              <p:spPr>
                <a:xfrm>
                  <a:off x="4585716" y="5454650"/>
                  <a:ext cx="22086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回答带【n】角标，点开即见来源；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4585716" y="5683250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不确定就说明不确定。</a:t>
                  </a:r>
                </a:p>
              </p:txBody>
            </p:sp>
          </p:grpSp>
        </p:grpSp>
        <p:grpSp>
          <p:nvGrpSpPr>
            <p:cNvPr id="105" name="pb-card-3"/>
            <p:cNvGrpSpPr/>
            <p:nvPr/>
          </p:nvGrpSpPr>
          <p:grpSpPr>
            <a:xfrm>
              <a:off x="8077200" y="3048000"/>
              <a:ext cx="3505200" cy="2914650"/>
              <a:chOff x="8077200" y="3048000"/>
              <a:chExt cx="3505200" cy="2914650"/>
            </a:xfrm>
          </p:grpSpPr>
          <p:sp>
            <p:nvSpPr>
              <p:cNvPr id="94" name="pb-bg-3"/>
              <p:cNvSpPr/>
              <p:nvPr/>
            </p:nvSpPr>
            <p:spPr>
              <a:xfrm>
                <a:off x="8077200" y="3048000"/>
                <a:ext cx="3505200" cy="2914650"/>
              </a:xfrm>
              <a:prstGeom prst="roundRect">
                <a:avLst>
                  <a:gd name="adj" fmla="val 6536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319135" y="3384550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b="1" dirty="0">
                    <a:solidFill>
                      <a:srgbClr val="F5D7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315325" y="3714750"/>
                <a:ext cx="1284478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环境不确定</a:t>
                </a:r>
              </a:p>
            </p:txBody>
          </p:sp>
          <p:grpSp>
            <p:nvGrpSpPr>
              <p:cNvPr id="99" name="pb-pdesc-3"/>
              <p:cNvGrpSpPr/>
              <p:nvPr/>
            </p:nvGrpSpPr>
            <p:grpSpPr>
              <a:xfrm>
                <a:off x="8318754" y="4152900"/>
                <a:ext cx="2212543" cy="482346"/>
                <a:chOff x="8318754" y="4152900"/>
                <a:chExt cx="2212543" cy="482346"/>
              </a:xfrm>
            </p:grpSpPr>
            <p:sp>
              <p:nvSpPr>
                <p:cNvPr id="97" name="TextBox 97"/>
                <p:cNvSpPr txBox="1"/>
                <p:nvPr/>
              </p:nvSpPr>
              <p:spPr>
                <a:xfrm>
                  <a:off x="8318754" y="4152900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评审现场可能没有网络、</a:t>
                  </a:r>
                </a:p>
              </p:txBody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8318754" y="4400550"/>
                  <a:ext cx="22125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没有 Key，甚至没有 Docker。</a:t>
                  </a:r>
                </a:p>
              </p:txBody>
            </p:sp>
          </p:grpSp>
          <p:sp>
            <p:nvSpPr>
              <p:cNvPr id="100" name="pb-rule-3"/>
              <p:cNvSpPr/>
              <p:nvPr/>
            </p:nvSpPr>
            <p:spPr>
              <a:xfrm>
                <a:off x="8324850" y="4857750"/>
                <a:ext cx="5334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F5D76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8317992" y="5092700"/>
                <a:ext cx="12663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→ 三级降级兜底</a:t>
                </a:r>
              </a:p>
            </p:txBody>
          </p:sp>
          <p:grpSp>
            <p:nvGrpSpPr>
              <p:cNvPr id="104" name="pb-sdesc-3"/>
              <p:cNvGrpSpPr/>
              <p:nvPr/>
            </p:nvGrpSpPr>
            <p:grpSpPr>
              <a:xfrm>
                <a:off x="8319516" y="5454650"/>
                <a:ext cx="2173338" cy="433959"/>
                <a:chOff x="8319516" y="5454650"/>
                <a:chExt cx="2173338" cy="433959"/>
              </a:xfrm>
            </p:grpSpPr>
            <p:sp>
              <p:nvSpPr>
                <p:cNvPr id="102" name="TextBox 102"/>
                <p:cNvSpPr txBox="1"/>
                <p:nvPr/>
              </p:nvSpPr>
              <p:spPr>
                <a:xfrm>
                  <a:off x="8319516" y="5454650"/>
                  <a:ext cx="217333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大模型 → 本地知识库 → 引导兜底；</a:t>
                  </a:r>
                </a:p>
              </p:txBody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8319516" y="5683250"/>
                  <a:ext cx="205912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Docker / 免安装包可直接运行。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105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04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131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03 / 系统架构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62276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四层架构：内容、AI、交付一体</a:t>
              </a:r>
            </a:p>
          </p:txBody>
        </p:sp>
        <p:grpSp>
          <p:nvGrpSpPr>
            <p:cNvPr id="74" name="ar-layer-1"/>
            <p:cNvGrpSpPr/>
            <p:nvPr/>
          </p:nvGrpSpPr>
          <p:grpSpPr>
            <a:xfrm>
              <a:off x="838200" y="2705100"/>
              <a:ext cx="7524750" cy="742950"/>
              <a:chOff x="838200" y="2705100"/>
              <a:chExt cx="7524750" cy="742950"/>
            </a:xfrm>
          </p:grpSpPr>
          <p:sp>
            <p:nvSpPr>
              <p:cNvPr id="69" name="ar-l-bg-1"/>
              <p:cNvSpPr/>
              <p:nvPr/>
            </p:nvSpPr>
            <p:spPr>
              <a:xfrm>
                <a:off x="838200" y="2705100"/>
                <a:ext cx="7524750" cy="742950"/>
              </a:xfrm>
              <a:prstGeom prst="roundRect">
                <a:avLst>
                  <a:gd name="adj" fmla="val 1794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0" name="ar-l-dot-1"/>
              <p:cNvSpPr/>
              <p:nvPr/>
            </p:nvSpPr>
            <p:spPr>
              <a:xfrm>
                <a:off x="838200" y="2705100"/>
                <a:ext cx="66675" cy="742950"/>
              </a:xfrm>
              <a:prstGeom prst="roundRect">
                <a:avLst>
                  <a:gd name="adj" fmla="val 42857"/>
                </a:avLst>
              </a:prstGeom>
              <a:solidFill>
                <a:srgbClr val="22D3E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96899" y="2838450"/>
                <a:ext cx="10795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前端展示层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99566" y="3159125"/>
                <a:ext cx="15700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Vue 3 · Vite · Three.js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482334" y="3000375"/>
                <a:ext cx="17152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20+ 页面 / 3D / 移动端</a:t>
                </a:r>
              </a:p>
            </p:txBody>
          </p:sp>
        </p:grpSp>
        <p:grpSp>
          <p:nvGrpSpPr>
            <p:cNvPr id="80" name="ar-layer-2"/>
            <p:cNvGrpSpPr/>
            <p:nvPr/>
          </p:nvGrpSpPr>
          <p:grpSpPr>
            <a:xfrm>
              <a:off x="838200" y="3619500"/>
              <a:ext cx="7524750" cy="742950"/>
              <a:chOff x="838200" y="3619500"/>
              <a:chExt cx="7524750" cy="742950"/>
            </a:xfrm>
          </p:grpSpPr>
          <p:sp>
            <p:nvSpPr>
              <p:cNvPr id="75" name="ar-l-bg-2"/>
              <p:cNvSpPr/>
              <p:nvPr/>
            </p:nvSpPr>
            <p:spPr>
              <a:xfrm>
                <a:off x="838200" y="3619500"/>
                <a:ext cx="7524750" cy="742950"/>
              </a:xfrm>
              <a:prstGeom prst="roundRect">
                <a:avLst>
                  <a:gd name="adj" fmla="val 1794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6" name="ar-l-dot-2"/>
              <p:cNvSpPr/>
              <p:nvPr/>
            </p:nvSpPr>
            <p:spPr>
              <a:xfrm>
                <a:off x="838200" y="3619500"/>
                <a:ext cx="66675" cy="742950"/>
              </a:xfrm>
              <a:prstGeom prst="roundRect">
                <a:avLst>
                  <a:gd name="adj" fmla="val 42857"/>
                </a:avLst>
              </a:prstGeom>
              <a:solidFill>
                <a:srgbClr val="A78BFA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96899" y="3752850"/>
                <a:ext cx="12922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A78BFA"/>
                    </a:solidFill>
                    <a:latin typeface="+mn-lt"/>
                    <a:ea typeface="+mn-ea"/>
                    <a:cs typeface="+mn-cs"/>
                  </a:rPr>
                  <a:t>服务与数据层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99566" y="4073525"/>
                <a:ext cx="17580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Express · MySQL 8 · JWT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5826862" y="3914775"/>
                <a:ext cx="23707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账号 / 社区 / 成绩 / 新闻 / 留言</a:t>
                </a:r>
              </a:p>
            </p:txBody>
          </p:sp>
        </p:grpSp>
        <p:grpSp>
          <p:nvGrpSpPr>
            <p:cNvPr id="86" name="ar-layer-3"/>
            <p:cNvGrpSpPr/>
            <p:nvPr/>
          </p:nvGrpSpPr>
          <p:grpSpPr>
            <a:xfrm>
              <a:off x="838200" y="4533900"/>
              <a:ext cx="7524750" cy="742950"/>
              <a:chOff x="838200" y="4533900"/>
              <a:chExt cx="7524750" cy="742950"/>
            </a:xfrm>
          </p:grpSpPr>
          <p:sp>
            <p:nvSpPr>
              <p:cNvPr id="81" name="ar-l-bg-3"/>
              <p:cNvSpPr/>
              <p:nvPr/>
            </p:nvSpPr>
            <p:spPr>
              <a:xfrm>
                <a:off x="838200" y="4533900"/>
                <a:ext cx="7524750" cy="742950"/>
              </a:xfrm>
              <a:prstGeom prst="roundRect">
                <a:avLst>
                  <a:gd name="adj" fmla="val 1794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2" name="ar-l-dot-3"/>
              <p:cNvSpPr/>
              <p:nvPr/>
            </p:nvSpPr>
            <p:spPr>
              <a:xfrm>
                <a:off x="838200" y="4533900"/>
                <a:ext cx="66675" cy="742950"/>
              </a:xfrm>
              <a:prstGeom prst="roundRect">
                <a:avLst>
                  <a:gd name="adj" fmla="val 42857"/>
                </a:avLst>
              </a:prstGeom>
              <a:solidFill>
                <a:srgbClr val="F5D76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096899" y="4667250"/>
                <a:ext cx="925473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AI 服务层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99566" y="4987925"/>
                <a:ext cx="190951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RAG · Function Calling · SSE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061100" y="4829175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混合检索 / 5 工具 / 三级降级</a:t>
                </a:r>
              </a:p>
            </p:txBody>
          </p:sp>
        </p:grpSp>
        <p:grpSp>
          <p:nvGrpSpPr>
            <p:cNvPr id="92" name="ar-layer-4"/>
            <p:cNvGrpSpPr/>
            <p:nvPr/>
          </p:nvGrpSpPr>
          <p:grpSpPr>
            <a:xfrm>
              <a:off x="838200" y="5448300"/>
              <a:ext cx="7524750" cy="742950"/>
              <a:chOff x="838200" y="5448300"/>
              <a:chExt cx="7524750" cy="742950"/>
            </a:xfrm>
          </p:grpSpPr>
          <p:sp>
            <p:nvSpPr>
              <p:cNvPr id="87" name="ar-l-bg-4"/>
              <p:cNvSpPr/>
              <p:nvPr/>
            </p:nvSpPr>
            <p:spPr>
              <a:xfrm>
                <a:off x="838200" y="5448300"/>
                <a:ext cx="7524750" cy="742950"/>
              </a:xfrm>
              <a:prstGeom prst="roundRect">
                <a:avLst>
                  <a:gd name="adj" fmla="val 1794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8" name="ar-l-dot-4"/>
              <p:cNvSpPr/>
              <p:nvPr/>
            </p:nvSpPr>
            <p:spPr>
              <a:xfrm>
                <a:off x="838200" y="5448300"/>
                <a:ext cx="66675" cy="742950"/>
              </a:xfrm>
              <a:prstGeom prst="roundRect">
                <a:avLst>
                  <a:gd name="adj" fmla="val 42857"/>
                </a:avLst>
              </a:prstGeom>
              <a:solidFill>
                <a:srgbClr val="6EE7B7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096899" y="5581650"/>
                <a:ext cx="12922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6EE7B7"/>
                    </a:solidFill>
                    <a:latin typeface="+mn-lt"/>
                    <a:ea typeface="+mn-ea"/>
                    <a:cs typeface="+mn-cs"/>
                  </a:rPr>
                  <a:t>交付与部署层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99566" y="5902325"/>
                <a:ext cx="16590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Docker · 免安装包 · PWA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036869" y="5743575"/>
                <a:ext cx="21607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一键启动 / 离线运行 / 可演示</a:t>
                </a:r>
              </a:p>
            </p:txBody>
          </p:sp>
        </p:grpSp>
        <p:grpSp>
          <p:nvGrpSpPr>
            <p:cNvPr id="104" name="ar-side"/>
            <p:cNvGrpSpPr/>
            <p:nvPr/>
          </p:nvGrpSpPr>
          <p:grpSpPr>
            <a:xfrm>
              <a:off x="8851392" y="2730500"/>
              <a:ext cx="2731008" cy="3575050"/>
              <a:chOff x="8851392" y="2730500"/>
              <a:chExt cx="2731008" cy="3575050"/>
            </a:xfrm>
          </p:grpSpPr>
          <p:sp>
            <p:nvSpPr>
              <p:cNvPr id="93" name="TextBox 93"/>
              <p:cNvSpPr txBox="1"/>
              <p:nvPr/>
            </p:nvSpPr>
            <p:spPr>
              <a:xfrm>
                <a:off x="8852916" y="2730500"/>
                <a:ext cx="7777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spc="112" dirty="0">
                    <a:solidFill>
                      <a:srgbClr val="7C8DA6"/>
                    </a:solidFill>
                    <a:latin typeface="+mn-lt"/>
                    <a:ea typeface="+mn-ea"/>
                    <a:cs typeface="+mn-cs"/>
                  </a:rPr>
                  <a:t>核心数据流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851392" y="3111500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CFE9FF"/>
                    </a:solidFill>
                    <a:latin typeface="+mn-lt"/>
                    <a:ea typeface="+mn-ea"/>
                    <a:cs typeface="+mn-cs"/>
                  </a:rPr>
                  <a:t>提问 → 检索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851392" y="3397250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CFE9FF"/>
                    </a:solidFill>
                    <a:latin typeface="+mn-lt"/>
                    <a:ea typeface="+mn-ea"/>
                    <a:cs typeface="+mn-cs"/>
                  </a:rPr>
                  <a:t>→ 生成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852154" y="3790950"/>
                <a:ext cx="4725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CFE9FF"/>
                    </a:solidFill>
                    <a:latin typeface="+mn-lt"/>
                    <a:ea typeface="+mn-ea"/>
                    <a:cs typeface="+mn-cs"/>
                  </a:rPr>
                  <a:t>① 规划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852154" y="4076700"/>
                <a:ext cx="4725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CFE9FF"/>
                    </a:solidFill>
                    <a:latin typeface="+mn-lt"/>
                    <a:ea typeface="+mn-ea"/>
                    <a:cs typeface="+mn-cs"/>
                  </a:rPr>
                  <a:t>② 执行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8852154" y="4362450"/>
                <a:ext cx="7956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CFE9FF"/>
                    </a:solidFill>
                    <a:latin typeface="+mn-lt"/>
                    <a:ea typeface="+mn-ea"/>
                    <a:cs typeface="+mn-cs"/>
                  </a:rPr>
                  <a:t>③ 注入证据</a:t>
                </a:r>
              </a:p>
            </p:txBody>
          </p:sp>
          <p:sp>
            <p:nvSpPr>
              <p:cNvPr id="99" name="Rectangle 99"/>
              <p:cNvSpPr/>
              <p:nvPr/>
            </p:nvSpPr>
            <p:spPr>
              <a:xfrm>
                <a:off x="8858250" y="4838700"/>
                <a:ext cx="2724150" cy="1466850"/>
              </a:xfrm>
              <a:prstGeom prst="roundRect">
                <a:avLst>
                  <a:gd name="adj" fmla="val 9091"/>
                </a:avLst>
              </a:prstGeom>
              <a:solidFill>
                <a:srgbClr val="0D1B2E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9062085" y="5003800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离线兜底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061704" y="529590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大模型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9061704" y="558165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→ 知识库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9061704" y="5867400"/>
                <a:ext cx="7956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→ 兜底引导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100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05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664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04 / AI 核心 · RAG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676980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可溯源 RAG：让每个回答都有出处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2361" y="2184400"/>
              <a:ext cx="67703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自研 1024 维哈希向量 + 词法 TF-IDF 混合检索，不依赖外部 Embedding 服务。</a:t>
              </a:r>
            </a:p>
          </p:txBody>
        </p:sp>
        <p:grpSp>
          <p:nvGrpSpPr>
            <p:cNvPr id="74" name="rg-step-1"/>
            <p:cNvGrpSpPr/>
            <p:nvPr/>
          </p:nvGrpSpPr>
          <p:grpSpPr>
            <a:xfrm>
              <a:off x="604266" y="3127375"/>
              <a:ext cx="2630424" cy="892175"/>
              <a:chOff x="604266" y="3127375"/>
              <a:chExt cx="2630424" cy="892175"/>
            </a:xfrm>
          </p:grpSpPr>
          <p:sp>
            <p:nvSpPr>
              <p:cNvPr id="70" name="TextBox 70"/>
              <p:cNvSpPr txBox="1"/>
              <p:nvPr/>
            </p:nvSpPr>
            <p:spPr>
              <a:xfrm>
                <a:off x="604266" y="3187700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b="1" dirty="0">
                    <a:solidFill>
                      <a:srgbClr val="22D3EE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38987" y="3127375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72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知识切片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41654" y="3495675"/>
                <a:ext cx="21930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149 个知识块 / 52 个来源页面</a:t>
                </a:r>
              </a:p>
            </p:txBody>
          </p:sp>
          <p:sp>
            <p:nvSpPr>
              <p:cNvPr id="73" name="Freeform 73"/>
              <p:cNvSpPr/>
              <p:nvPr/>
            </p:nvSpPr>
            <p:spPr>
              <a:xfrm>
                <a:off x="1047750" y="38100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solidFill>
                <a:srgbClr val="000000"/>
              </a:solidFill>
              <a:ln w="14288">
                <a:solidFill>
                  <a:srgbClr val="2A5B8F"/>
                </a:solidFill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79" name="rg-step-2"/>
            <p:cNvGrpSpPr/>
            <p:nvPr/>
          </p:nvGrpSpPr>
          <p:grpSpPr>
            <a:xfrm>
              <a:off x="604266" y="4117975"/>
              <a:ext cx="2977744" cy="892175"/>
              <a:chOff x="604266" y="4117975"/>
              <a:chExt cx="2977744" cy="892175"/>
            </a:xfrm>
          </p:grpSpPr>
          <p:sp>
            <p:nvSpPr>
              <p:cNvPr id="75" name="TextBox 75"/>
              <p:cNvSpPr txBox="1"/>
              <p:nvPr/>
            </p:nvSpPr>
            <p:spPr>
              <a:xfrm>
                <a:off x="604266" y="4178300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b="1" dirty="0">
                    <a:solidFill>
                      <a:srgbClr val="A78BFA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038987" y="4117975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72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混合检索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41654" y="4486275"/>
                <a:ext cx="25403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词法 0.62 + 向量 0.38，阈值 0.26</a:t>
                </a:r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1047750" y="48006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solidFill>
                <a:srgbClr val="000000"/>
              </a:solidFill>
              <a:ln w="14288">
                <a:solidFill>
                  <a:srgbClr val="2A5B8F"/>
                </a:solidFill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83" name="rg-step-3"/>
            <p:cNvGrpSpPr/>
            <p:nvPr/>
          </p:nvGrpSpPr>
          <p:grpSpPr>
            <a:xfrm>
              <a:off x="604266" y="5108575"/>
              <a:ext cx="3280181" cy="602996"/>
              <a:chOff x="604266" y="5108575"/>
              <a:chExt cx="3280181" cy="602996"/>
            </a:xfrm>
          </p:grpSpPr>
          <p:sp>
            <p:nvSpPr>
              <p:cNvPr id="80" name="TextBox 80"/>
              <p:cNvSpPr txBox="1"/>
              <p:nvPr/>
            </p:nvSpPr>
            <p:spPr>
              <a:xfrm>
                <a:off x="604266" y="5168900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b="1" dirty="0">
                    <a:solidFill>
                      <a:srgbClr val="F5D76E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038987" y="5108575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72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注入生成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041654" y="5476875"/>
                <a:ext cx="28427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2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Top-K 证据进入 Prompt，带【n】角标</a:t>
                </a:r>
              </a:p>
            </p:txBody>
          </p:sp>
        </p:grpSp>
        <p:grpSp>
          <p:nvGrpSpPr>
            <p:cNvPr id="88" name="rg-metric-1"/>
            <p:cNvGrpSpPr/>
            <p:nvPr/>
          </p:nvGrpSpPr>
          <p:grpSpPr>
            <a:xfrm>
              <a:off x="6667500" y="3048000"/>
              <a:ext cx="4914900" cy="838200"/>
              <a:chOff x="6667500" y="3048000"/>
              <a:chExt cx="4914900" cy="838200"/>
            </a:xfrm>
          </p:grpSpPr>
          <p:sp>
            <p:nvSpPr>
              <p:cNvPr id="84" name="rg-m-bg-1"/>
              <p:cNvSpPr/>
              <p:nvPr/>
            </p:nvSpPr>
            <p:spPr>
              <a:xfrm>
                <a:off x="6667500" y="3048000"/>
                <a:ext cx="49149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880860" y="3175000"/>
                <a:ext cx="81497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90%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041892" y="3263900"/>
                <a:ext cx="499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Hit@1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9043797" y="3581400"/>
                <a:ext cx="192945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10 个问题里 9 个第一条来源正确</a:t>
                </a:r>
              </a:p>
            </p:txBody>
          </p:sp>
        </p:grpSp>
        <p:grpSp>
          <p:nvGrpSpPr>
            <p:cNvPr id="93" name="rg-metric-2"/>
            <p:cNvGrpSpPr/>
            <p:nvPr/>
          </p:nvGrpSpPr>
          <p:grpSpPr>
            <a:xfrm>
              <a:off x="6667500" y="4038600"/>
              <a:ext cx="4914900" cy="838200"/>
              <a:chOff x="6667500" y="4038600"/>
              <a:chExt cx="4914900" cy="838200"/>
            </a:xfrm>
          </p:grpSpPr>
          <p:sp>
            <p:nvSpPr>
              <p:cNvPr id="89" name="rg-m-bg-2"/>
              <p:cNvSpPr/>
              <p:nvPr/>
            </p:nvSpPr>
            <p:spPr>
              <a:xfrm>
                <a:off x="6667500" y="4038600"/>
                <a:ext cx="49149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880860" y="4165600"/>
                <a:ext cx="1048207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rgbClr val="A78BFA"/>
                    </a:solidFill>
                    <a:latin typeface="+mn-lt"/>
                    <a:ea typeface="+mn-ea"/>
                    <a:cs typeface="+mn-cs"/>
                  </a:rPr>
                  <a:t>100%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9041892" y="4254500"/>
                <a:ext cx="499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Hit@3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9043797" y="4572000"/>
                <a:ext cx="146111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前三条来源必含正确答案</a:t>
                </a:r>
              </a:p>
            </p:txBody>
          </p:sp>
        </p:grpSp>
        <p:grpSp>
          <p:nvGrpSpPr>
            <p:cNvPr id="98" name="rg-metric-3"/>
            <p:cNvGrpSpPr/>
            <p:nvPr/>
          </p:nvGrpSpPr>
          <p:grpSpPr>
            <a:xfrm>
              <a:off x="6667500" y="5029200"/>
              <a:ext cx="4914900" cy="838200"/>
              <a:chOff x="6667500" y="5029200"/>
              <a:chExt cx="4914900" cy="838200"/>
            </a:xfrm>
          </p:grpSpPr>
          <p:sp>
            <p:nvSpPr>
              <p:cNvPr id="94" name="rg-m-bg-3"/>
              <p:cNvSpPr/>
              <p:nvPr/>
            </p:nvSpPr>
            <p:spPr>
              <a:xfrm>
                <a:off x="6667500" y="5029200"/>
                <a:ext cx="4914900" cy="838200"/>
              </a:xfrm>
              <a:prstGeom prst="roundRect">
                <a:avLst>
                  <a:gd name="adj" fmla="val 1590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6880860" y="5156200"/>
                <a:ext cx="1196626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00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0.950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9041892" y="5245100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MRR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9043797" y="556260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正确答案平均排在第 1 位附近</a:t>
                </a:r>
              </a:p>
            </p:txBody>
          </p:sp>
        </p:grpSp>
        <p:sp>
          <p:nvSpPr>
            <p:cNvPr id="99" name="TextBox 99"/>
            <p:cNvSpPr txBox="1"/>
            <p:nvPr/>
          </p:nvSpPr>
          <p:spPr>
            <a:xfrm>
              <a:off x="603885" y="6013450"/>
              <a:ext cx="4729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离线可运行：哈希向量本地生成，断网、无 Key 时检索链路仍然完整。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82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06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30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05 / 可溯源问答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回答可点开来源，而不是「听起来对」</a:t>
              </a:r>
            </a:p>
          </p:txBody>
        </p:sp>
        <p:grpSp>
          <p:nvGrpSpPr>
            <p:cNvPr id="73" name="tr-body"/>
            <p:cNvGrpSpPr/>
            <p:nvPr/>
          </p:nvGrpSpPr>
          <p:grpSpPr>
            <a:xfrm>
              <a:off x="601980" y="2489200"/>
              <a:ext cx="4161282" cy="1664970"/>
              <a:chOff x="601980" y="2489200"/>
              <a:chExt cx="4161282" cy="1664970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601980" y="2489200"/>
                <a:ext cx="40740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回答中的【1】【2】角标对应下方来源卡片，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01980" y="2832100"/>
                <a:ext cx="40538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点击即可回到原文页面，核对数据与上下文。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01980" y="3517900"/>
                <a:ext cx="38822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流式输出 + 可折叠推理过程，等待不焦虑；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601980" y="3860800"/>
                <a:ext cx="4161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工具调用会显示徽标，用户知道 AI 做了什么。</a:t>
                </a:r>
              </a:p>
            </p:txBody>
          </p:sp>
        </p:grpSp>
        <p:grpSp>
          <p:nvGrpSpPr>
            <p:cNvPr id="77" name="tr-quote"/>
            <p:cNvGrpSpPr/>
            <p:nvPr/>
          </p:nvGrpSpPr>
          <p:grpSpPr>
            <a:xfrm>
              <a:off x="609600" y="4762500"/>
              <a:ext cx="4953000" cy="819150"/>
              <a:chOff x="609600" y="4762500"/>
              <a:chExt cx="4953000" cy="8191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609600" y="4762500"/>
                <a:ext cx="49530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0D1B2E"/>
              </a:solidFill>
              <a:ln w="9525">
                <a:solidFill>
                  <a:srgbClr val="2A4B73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31342" y="4940300"/>
                <a:ext cx="32849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「先给结论，再给证据，最后给来源。」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32866" y="5264150"/>
                <a:ext cx="4912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—— 星穹</a:t>
                </a:r>
              </a:p>
            </p:txBody>
          </p:sp>
        </p:grpSp>
        <p:grpSp>
          <p:nvGrpSpPr>
            <p:cNvPr id="80" name="tr-shot"/>
            <p:cNvGrpSpPr/>
            <p:nvPr/>
          </p:nvGrpSpPr>
          <p:grpSpPr>
            <a:xfrm>
              <a:off x="6096000" y="2552700"/>
              <a:ext cx="5486400" cy="3429000"/>
              <a:chOff x="6096000" y="2552700"/>
              <a:chExt cx="5486400" cy="342900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6096000" y="2552700"/>
                <a:ext cx="5486400" cy="3429000"/>
              </a:xfrm>
              <a:prstGeom prst="roundRect">
                <a:avLst>
                  <a:gd name="adj" fmla="val 5000"/>
                </a:avLst>
              </a:prstGeom>
              <a:solidFill>
                <a:srgbClr val="0A1220"/>
              </a:solidFill>
              <a:ln w="9525">
                <a:solidFill>
                  <a:srgbClr val="2A4B73"/>
                </a:solidFill>
              </a:ln>
            </p:spPr>
            <p:txBody>
              <a:bodyPr wrap="none">
                <a:noAutofit/>
              </a:bodyPr>
              <a:p/>
            </p:txBody>
          </p:sp>
          <p:pic>
            <p:nvPicPr>
              <p:cNvPr id="79" name="Image 79"/>
              <p:cNvPicPr>
                <a:picLocks noChangeAspect="1"/>
              </p:cNvPicPr>
              <p:nvPr/>
            </p:nvPicPr>
            <p:blipFill>
              <a:blip r:embed="rId2"/>
              <a:srcRect l="0" t="9792" r="0" b="9792"/>
              <a:stretch>
                <a:fillRect/>
              </a:stretch>
            </p:blipFill>
            <p:spPr>
              <a:xfrm>
                <a:off x="6172200" y="2628900"/>
                <a:ext cx="5334000" cy="3276600"/>
              </a:xfrm>
              <a:prstGeom prst="rect">
                <a:avLst/>
              </a:prstGeom>
            </p:spPr>
          </p:pic>
        </p:grpSp>
        <p:sp>
          <p:nvSpPr>
            <p:cNvPr id="81" name="TextBox 81"/>
            <p:cNvSpPr txBox="1"/>
            <p:nvPr/>
          </p:nvSpPr>
          <p:spPr>
            <a:xfrm>
              <a:off x="6090666" y="6045200"/>
              <a:ext cx="3292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AI 助手：受众切换、模型切换、来源角标与工具徽标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110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07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981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06 / Function Calling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5587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5 个工具，让 AI 会「做事」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2361" y="2184400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模型先规划要调用哪个工具，服务端执行本地工具，再把结果注入最终回答。</a:t>
              </a:r>
            </a:p>
          </p:txBody>
        </p:sp>
        <p:grpSp>
          <p:nvGrpSpPr>
            <p:cNvPr id="74" name="tl-flow-1"/>
            <p:cNvGrpSpPr/>
            <p:nvPr/>
          </p:nvGrpSpPr>
          <p:grpSpPr>
            <a:xfrm>
              <a:off x="609600" y="2857500"/>
              <a:ext cx="2743200" cy="819150"/>
              <a:chOff x="609600" y="2857500"/>
              <a:chExt cx="2743200" cy="819150"/>
            </a:xfrm>
          </p:grpSpPr>
          <p:sp>
            <p:nvSpPr>
              <p:cNvPr id="70" name="tl-f-bg-1"/>
              <p:cNvSpPr/>
              <p:nvPr/>
            </p:nvSpPr>
            <p:spPr>
              <a:xfrm>
                <a:off x="609600" y="2857500"/>
                <a:ext cx="24765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92861" y="3003550"/>
                <a:ext cx="6778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01 规划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95147" y="3321050"/>
                <a:ext cx="158644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en-US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tools + tool_choice:auto</a:t>
                </a:r>
              </a:p>
            </p:txBody>
          </p:sp>
          <p:sp>
            <p:nvSpPr>
              <p:cNvPr id="73" name="Freeform 73"/>
              <p:cNvSpPr/>
              <p:nvPr/>
            </p:nvSpPr>
            <p:spPr>
              <a:xfrm>
                <a:off x="3105150" y="326707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solidFill>
                <a:srgbClr val="000000"/>
              </a:solidFill>
              <a:ln w="14288">
                <a:solidFill>
                  <a:srgbClr val="2A5B8F"/>
                </a:solidFill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79" name="tl-flow-2"/>
            <p:cNvGrpSpPr/>
            <p:nvPr/>
          </p:nvGrpSpPr>
          <p:grpSpPr>
            <a:xfrm>
              <a:off x="3390900" y="2857500"/>
              <a:ext cx="2743200" cy="819150"/>
              <a:chOff x="3390900" y="2857500"/>
              <a:chExt cx="2743200" cy="819150"/>
            </a:xfrm>
          </p:grpSpPr>
          <p:sp>
            <p:nvSpPr>
              <p:cNvPr id="75" name="tl-f-bg-2"/>
              <p:cNvSpPr/>
              <p:nvPr/>
            </p:nvSpPr>
            <p:spPr>
              <a:xfrm>
                <a:off x="3390900" y="2857500"/>
                <a:ext cx="24765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3574161" y="3003550"/>
                <a:ext cx="6778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02 执行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3576447" y="3333750"/>
                <a:ext cx="12170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本地工具 · 断网可用</a:t>
                </a:r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5886450" y="326707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solidFill>
                <a:srgbClr val="000000"/>
              </a:solidFill>
              <a:ln w="14288">
                <a:solidFill>
                  <a:srgbClr val="2A5B8F"/>
                </a:solidFill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84" name="tl-flow-3"/>
            <p:cNvGrpSpPr/>
            <p:nvPr/>
          </p:nvGrpSpPr>
          <p:grpSpPr>
            <a:xfrm>
              <a:off x="6172200" y="2857500"/>
              <a:ext cx="2743200" cy="819150"/>
              <a:chOff x="6172200" y="2857500"/>
              <a:chExt cx="2743200" cy="819150"/>
            </a:xfrm>
          </p:grpSpPr>
          <p:sp>
            <p:nvSpPr>
              <p:cNvPr id="80" name="tl-f-bg-3"/>
              <p:cNvSpPr/>
              <p:nvPr/>
            </p:nvSpPr>
            <p:spPr>
              <a:xfrm>
                <a:off x="6172200" y="2857500"/>
                <a:ext cx="24765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355461" y="3003550"/>
                <a:ext cx="6778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03 生成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357747" y="3333750"/>
                <a:ext cx="10653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结果作为证据注入</a:t>
                </a:r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8667750" y="326707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solidFill>
                <a:srgbClr val="000000"/>
              </a:solidFill>
              <a:ln w="14288">
                <a:solidFill>
                  <a:srgbClr val="2A5B8F"/>
                </a:solidFill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88" name="tl-flow-4"/>
            <p:cNvGrpSpPr/>
            <p:nvPr/>
          </p:nvGrpSpPr>
          <p:grpSpPr>
            <a:xfrm>
              <a:off x="8953500" y="2857500"/>
              <a:ext cx="2476500" cy="819150"/>
              <a:chOff x="8953500" y="2857500"/>
              <a:chExt cx="2476500" cy="819150"/>
            </a:xfrm>
          </p:grpSpPr>
          <p:sp>
            <p:nvSpPr>
              <p:cNvPr id="85" name="tl-f-bg-4"/>
              <p:cNvSpPr/>
              <p:nvPr/>
            </p:nvSpPr>
            <p:spPr>
              <a:xfrm>
                <a:off x="8953500" y="2857500"/>
                <a:ext cx="2476500" cy="819150"/>
              </a:xfrm>
              <a:prstGeom prst="roundRect">
                <a:avLst>
                  <a:gd name="adj" fmla="val 16279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9136761" y="3003550"/>
                <a:ext cx="6778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04 展示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9139047" y="3333750"/>
                <a:ext cx="10653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回答下方工具徽标</a:t>
                </a:r>
              </a:p>
            </p:txBody>
          </p:sp>
        </p:grpSp>
        <p:grpSp>
          <p:nvGrpSpPr>
            <p:cNvPr id="92" name="tl-tool-1"/>
            <p:cNvGrpSpPr/>
            <p:nvPr/>
          </p:nvGrpSpPr>
          <p:grpSpPr>
            <a:xfrm>
              <a:off x="609600" y="4095750"/>
              <a:ext cx="2038350" cy="1447800"/>
              <a:chOff x="609600" y="4095750"/>
              <a:chExt cx="2038350" cy="1447800"/>
            </a:xfrm>
          </p:grpSpPr>
          <p:sp>
            <p:nvSpPr>
              <p:cNvPr id="89" name="tl-t-bg-1"/>
              <p:cNvSpPr/>
              <p:nvPr/>
            </p:nvSpPr>
            <p:spPr>
              <a:xfrm>
                <a:off x="609600" y="4095750"/>
                <a:ext cx="2038350" cy="1447800"/>
              </a:xfrm>
              <a:prstGeom prst="roundRect">
                <a:avLst>
                  <a:gd name="adj" fmla="val 10526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73811" y="4337050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月相计算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776288" y="4724400"/>
                <a:ext cx="11181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任意日期 · 月龄亮度</a:t>
                </a:r>
              </a:p>
            </p:txBody>
          </p:sp>
        </p:grpSp>
        <p:grpSp>
          <p:nvGrpSpPr>
            <p:cNvPr id="96" name="tl-tool-2"/>
            <p:cNvGrpSpPr/>
            <p:nvPr/>
          </p:nvGrpSpPr>
          <p:grpSpPr>
            <a:xfrm>
              <a:off x="2800350" y="4095750"/>
              <a:ext cx="2038350" cy="1447800"/>
              <a:chOff x="2800350" y="4095750"/>
              <a:chExt cx="2038350" cy="1447800"/>
            </a:xfrm>
          </p:grpSpPr>
          <p:sp>
            <p:nvSpPr>
              <p:cNvPr id="93" name="tl-t-bg-2"/>
              <p:cNvSpPr/>
              <p:nvPr/>
            </p:nvSpPr>
            <p:spPr>
              <a:xfrm>
                <a:off x="2800350" y="4095750"/>
                <a:ext cx="2038350" cy="1447800"/>
              </a:xfrm>
              <a:prstGeom prst="roundRect">
                <a:avLst>
                  <a:gd name="adj" fmla="val 10526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2964561" y="4337050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今夜观星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2967038" y="4724400"/>
                <a:ext cx="11181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位置天气 · 可见目标</a:t>
                </a:r>
              </a:p>
            </p:txBody>
          </p:sp>
        </p:grpSp>
        <p:grpSp>
          <p:nvGrpSpPr>
            <p:cNvPr id="100" name="tl-tool-3"/>
            <p:cNvGrpSpPr/>
            <p:nvPr/>
          </p:nvGrpSpPr>
          <p:grpSpPr>
            <a:xfrm>
              <a:off x="4991100" y="4095750"/>
              <a:ext cx="2038350" cy="1447800"/>
              <a:chOff x="4991100" y="4095750"/>
              <a:chExt cx="2038350" cy="1447800"/>
            </a:xfrm>
          </p:grpSpPr>
          <p:sp>
            <p:nvSpPr>
              <p:cNvPr id="97" name="tl-t-bg-3"/>
              <p:cNvSpPr/>
              <p:nvPr/>
            </p:nvSpPr>
            <p:spPr>
              <a:xfrm>
                <a:off x="4991100" y="4095750"/>
                <a:ext cx="2038350" cy="1447800"/>
              </a:xfrm>
              <a:prstGeom prst="roundRect">
                <a:avLst>
                  <a:gd name="adj" fmla="val 10526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5155311" y="4337050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装备导购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5157788" y="4724400"/>
                <a:ext cx="11181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预算用途 · 具体型号</a:t>
                </a:r>
              </a:p>
            </p:txBody>
          </p:sp>
        </p:grpSp>
        <p:grpSp>
          <p:nvGrpSpPr>
            <p:cNvPr id="104" name="tl-tool-4"/>
            <p:cNvGrpSpPr/>
            <p:nvPr/>
          </p:nvGrpSpPr>
          <p:grpSpPr>
            <a:xfrm>
              <a:off x="7181850" y="4095750"/>
              <a:ext cx="2038350" cy="1447800"/>
              <a:chOff x="7181850" y="4095750"/>
              <a:chExt cx="2038350" cy="1447800"/>
            </a:xfrm>
          </p:grpSpPr>
          <p:sp>
            <p:nvSpPr>
              <p:cNvPr id="101" name="tl-t-bg-4"/>
              <p:cNvSpPr/>
              <p:nvPr/>
            </p:nvSpPr>
            <p:spPr>
              <a:xfrm>
                <a:off x="7181850" y="4095750"/>
                <a:ext cx="2038350" cy="1447800"/>
              </a:xfrm>
              <a:prstGeom prst="roundRect">
                <a:avLst>
                  <a:gd name="adj" fmla="val 10526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7346061" y="4337050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知识检索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7348538" y="4724400"/>
                <a:ext cx="9969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站内资料 · 带来源</a:t>
                </a:r>
              </a:p>
            </p:txBody>
          </p:sp>
        </p:grpSp>
        <p:grpSp>
          <p:nvGrpSpPr>
            <p:cNvPr id="108" name="tl-tool-5"/>
            <p:cNvGrpSpPr/>
            <p:nvPr/>
          </p:nvGrpSpPr>
          <p:grpSpPr>
            <a:xfrm>
              <a:off x="9372600" y="4095750"/>
              <a:ext cx="2038350" cy="1447800"/>
              <a:chOff x="9372600" y="4095750"/>
              <a:chExt cx="2038350" cy="1447800"/>
            </a:xfrm>
          </p:grpSpPr>
          <p:sp>
            <p:nvSpPr>
              <p:cNvPr id="105" name="tl-t-bg-5"/>
              <p:cNvSpPr/>
              <p:nvPr/>
            </p:nvSpPr>
            <p:spPr>
              <a:xfrm>
                <a:off x="9372600" y="4095750"/>
                <a:ext cx="2038350" cy="1447800"/>
              </a:xfrm>
              <a:prstGeom prst="roundRect">
                <a:avLst>
                  <a:gd name="adj" fmla="val 10526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9536811" y="4337050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页面导航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9539288" y="472440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0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一句话直达页面</a:t>
                </a:r>
              </a:p>
            </p:txBody>
          </p:sp>
        </p:grpSp>
        <p:sp>
          <p:nvSpPr>
            <p:cNvPr id="109" name="TextBox 109"/>
            <p:cNvSpPr txBox="1"/>
            <p:nvPr/>
          </p:nvSpPr>
          <p:spPr>
            <a:xfrm>
              <a:off x="603885" y="5822950"/>
              <a:ext cx="5454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推理模型不支持 tools 时自动跳过规划，规则工具兜底；五个工具全部本地实现。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101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08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30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07 / 多受众表达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同一个问题，三种讲法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2361" y="2184400"/>
              <a:ext cx="63801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42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问「木星有多大？」，儿童 / 业余爱好者 / 专业人士得到明显不同的回答。</a:t>
              </a:r>
            </a:p>
          </p:txBody>
        </p:sp>
        <p:grpSp>
          <p:nvGrpSpPr>
            <p:cNvPr id="79" name="au-col-1"/>
            <p:cNvGrpSpPr/>
            <p:nvPr/>
          </p:nvGrpSpPr>
          <p:grpSpPr>
            <a:xfrm>
              <a:off x="609600" y="2952750"/>
              <a:ext cx="3505200" cy="3048000"/>
              <a:chOff x="609600" y="2952750"/>
              <a:chExt cx="3505200" cy="3048000"/>
            </a:xfrm>
          </p:grpSpPr>
          <p:sp>
            <p:nvSpPr>
              <p:cNvPr id="70" name="au-bg-1"/>
              <p:cNvSpPr/>
              <p:nvPr/>
            </p:nvSpPr>
            <p:spPr>
              <a:xfrm>
                <a:off x="609600" y="2952750"/>
                <a:ext cx="3505200" cy="3048000"/>
              </a:xfrm>
              <a:prstGeom prst="roundRect">
                <a:avLst>
                  <a:gd name="adj" fmla="val 5625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29056" y="317500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儿童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2866" y="3549650"/>
                <a:ext cx="11838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俏皮 · 比喻 · 短句</a:t>
                </a:r>
              </a:p>
            </p:txBody>
          </p:sp>
          <p:sp>
            <p:nvSpPr>
              <p:cNvPr id="73" name="au-rule-1"/>
              <p:cNvSpPr/>
              <p:nvPr/>
            </p:nvSpPr>
            <p:spPr>
              <a:xfrm>
                <a:off x="838200" y="3886200"/>
                <a:ext cx="4953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22D3E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grpSp>
            <p:nvGrpSpPr>
              <p:cNvPr id="77" name="au-quote-1"/>
              <p:cNvGrpSpPr/>
              <p:nvPr/>
            </p:nvGrpSpPr>
            <p:grpSpPr>
              <a:xfrm>
                <a:off x="832485" y="4089400"/>
                <a:ext cx="1669948" cy="715328"/>
                <a:chOff x="832485" y="4089400"/>
                <a:chExt cx="1669948" cy="715328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832485" y="4089400"/>
                  <a:ext cx="166994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「木星像个超级大胖子，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32485" y="4337050"/>
                  <a:ext cx="15191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肚子圆滚滚的，能装下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32485" y="4584700"/>
                  <a:ext cx="144378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1300 多个地球呢！」</a:t>
                  </a:r>
                </a:p>
              </p:txBody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833247" y="5086350"/>
                <a:ext cx="156005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80–150 字 · 结尾俏皮提问</a:t>
                </a:r>
              </a:p>
            </p:txBody>
          </p:sp>
        </p:grpSp>
        <p:grpSp>
          <p:nvGrpSpPr>
            <p:cNvPr id="89" name="au-col-2"/>
            <p:cNvGrpSpPr/>
            <p:nvPr/>
          </p:nvGrpSpPr>
          <p:grpSpPr>
            <a:xfrm>
              <a:off x="4343400" y="2952750"/>
              <a:ext cx="3505200" cy="3048000"/>
              <a:chOff x="4343400" y="2952750"/>
              <a:chExt cx="3505200" cy="3048000"/>
            </a:xfrm>
          </p:grpSpPr>
          <p:sp>
            <p:nvSpPr>
              <p:cNvPr id="80" name="au-bg-2"/>
              <p:cNvSpPr/>
              <p:nvPr/>
            </p:nvSpPr>
            <p:spPr>
              <a:xfrm>
                <a:off x="4343400" y="2952750"/>
                <a:ext cx="3505200" cy="3048000"/>
              </a:xfrm>
              <a:prstGeom prst="roundRect">
                <a:avLst>
                  <a:gd name="adj" fmla="val 5625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4562856" y="317500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A78BFA"/>
                    </a:solidFill>
                    <a:latin typeface="+mn-lt"/>
                    <a:ea typeface="+mn-ea"/>
                    <a:cs typeface="+mn-cs"/>
                  </a:rPr>
                  <a:t>业余爱好者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4566666" y="3549650"/>
                <a:ext cx="10213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结论 + 关键参数</a:t>
                </a:r>
              </a:p>
            </p:txBody>
          </p:sp>
          <p:sp>
            <p:nvSpPr>
              <p:cNvPr id="83" name="au-rule-2"/>
              <p:cNvSpPr/>
              <p:nvPr/>
            </p:nvSpPr>
            <p:spPr>
              <a:xfrm>
                <a:off x="4572000" y="3886200"/>
                <a:ext cx="4953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A78BFA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grpSp>
            <p:nvGrpSpPr>
              <p:cNvPr id="87" name="au-quote-2"/>
              <p:cNvGrpSpPr/>
              <p:nvPr/>
            </p:nvGrpSpPr>
            <p:grpSpPr>
              <a:xfrm>
                <a:off x="4566285" y="4089400"/>
                <a:ext cx="1775490" cy="715328"/>
                <a:chOff x="4566285" y="4089400"/>
                <a:chExt cx="1775490" cy="715328"/>
              </a:xfrm>
            </p:grpSpPr>
            <p:sp>
              <p:nvSpPr>
                <p:cNvPr id="84" name="TextBox 84"/>
                <p:cNvSpPr txBox="1"/>
                <p:nvPr/>
              </p:nvSpPr>
              <p:spPr>
                <a:xfrm>
                  <a:off x="4566285" y="4089400"/>
                  <a:ext cx="173779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「直径约 139,820 公里，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4566285" y="4337050"/>
                  <a:ext cx="177549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约地球 11 倍；气态巨行星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4566285" y="4584700"/>
                  <a:ext cx="153425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（以氢、氦为主）……」</a:t>
                  </a:r>
                </a:p>
              </p:txBody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4567047" y="5086350"/>
                <a:ext cx="132918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术语首次出现括号解释</a:t>
                </a:r>
              </a:p>
            </p:txBody>
          </p:sp>
        </p:grpSp>
        <p:grpSp>
          <p:nvGrpSpPr>
            <p:cNvPr id="99" name="au-col-3"/>
            <p:cNvGrpSpPr/>
            <p:nvPr/>
          </p:nvGrpSpPr>
          <p:grpSpPr>
            <a:xfrm>
              <a:off x="8077200" y="2952750"/>
              <a:ext cx="3505200" cy="3048000"/>
              <a:chOff x="8077200" y="2952750"/>
              <a:chExt cx="3505200" cy="3048000"/>
            </a:xfrm>
          </p:grpSpPr>
          <p:sp>
            <p:nvSpPr>
              <p:cNvPr id="90" name="au-bg-3"/>
              <p:cNvSpPr/>
              <p:nvPr/>
            </p:nvSpPr>
            <p:spPr>
              <a:xfrm>
                <a:off x="8077200" y="2952750"/>
                <a:ext cx="3505200" cy="3048000"/>
              </a:xfrm>
              <a:prstGeom prst="roundRect">
                <a:avLst>
                  <a:gd name="adj" fmla="val 5625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296656" y="317500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专业人士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300466" y="3549650"/>
                <a:ext cx="14665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定量 · 机制 · 不确定性</a:t>
                </a:r>
              </a:p>
            </p:txBody>
          </p:sp>
          <p:sp>
            <p:nvSpPr>
              <p:cNvPr id="93" name="au-rule-3"/>
              <p:cNvSpPr/>
              <p:nvPr/>
            </p:nvSpPr>
            <p:spPr>
              <a:xfrm>
                <a:off x="8305800" y="3886200"/>
                <a:ext cx="495300" cy="28575"/>
              </a:xfrm>
              <a:prstGeom prst="roundRect">
                <a:avLst>
                  <a:gd name="adj" fmla="val 33333"/>
                </a:avLst>
              </a:prstGeom>
              <a:solidFill>
                <a:srgbClr val="F5D76E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grpSp>
            <p:nvGrpSpPr>
              <p:cNvPr id="97" name="au-quote-3"/>
              <p:cNvGrpSpPr/>
              <p:nvPr/>
            </p:nvGrpSpPr>
            <p:grpSpPr>
              <a:xfrm>
                <a:off x="8300085" y="4089400"/>
                <a:ext cx="1700103" cy="715328"/>
                <a:chOff x="8300085" y="4089400"/>
                <a:chExt cx="1700103" cy="715328"/>
              </a:xfrm>
            </p:grpSpPr>
            <p:sp>
              <p:nvSpPr>
                <p:cNvPr id="94" name="TextBox 94"/>
                <p:cNvSpPr txBox="1"/>
                <p:nvPr/>
              </p:nvSpPr>
              <p:spPr>
                <a:xfrm>
                  <a:off x="8300085" y="4089400"/>
                  <a:ext cx="170010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「质量 1.898×10²⁷ kg；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8300085" y="4337050"/>
                  <a:ext cx="153425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直径指 1 bar 等压面；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8300085" y="4584700"/>
                  <a:ext cx="1421171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120" dirty="0">
                      <a:solidFill>
                        <a:srgbClr val="E8EEFC"/>
                      </a:solidFill>
                      <a:latin typeface="+mn-lt"/>
                      <a:ea typeface="+mn-ea"/>
                      <a:cs typeface="+mn-cs"/>
                    </a:rPr>
                    <a:t>自转约 9.9 小时……」</a:t>
                  </a:r>
                </a:p>
              </p:txBody>
            </p:sp>
          </p:grpSp>
          <p:sp>
            <p:nvSpPr>
              <p:cNvPr id="98" name="TextBox 98"/>
              <p:cNvSpPr txBox="1"/>
              <p:nvPr/>
            </p:nvSpPr>
            <p:spPr>
              <a:xfrm>
                <a:off x="8300847" y="5086350"/>
                <a:ext cx="163261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350–550 字 · 数据口径核对</a:t>
                </a:r>
              </a:p>
            </p:txBody>
          </p:sp>
        </p:grpSp>
        <p:sp>
          <p:nvSpPr>
            <p:cNvPr id="100" name="TextBox 100"/>
            <p:cNvSpPr txBox="1"/>
            <p:nvPr/>
          </p:nvSpPr>
          <p:spPr>
            <a:xfrm>
              <a:off x="604266" y="602615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05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提示词按受众重写；离线知识库也有三套不同文案。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90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09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1121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08 / 3D 互动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把太阳系装进浏览器</a:t>
              </a:r>
            </a:p>
          </p:txBody>
        </p:sp>
        <p:grpSp>
          <p:nvGrpSpPr>
            <p:cNvPr id="71" name="d3-shot"/>
            <p:cNvGrpSpPr/>
            <p:nvPr/>
          </p:nvGrpSpPr>
          <p:grpSpPr>
            <a:xfrm>
              <a:off x="609600" y="2552700"/>
              <a:ext cx="6858000" cy="3429000"/>
              <a:chOff x="609600" y="2552700"/>
              <a:chExt cx="6858000" cy="34290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609600" y="2552700"/>
                <a:ext cx="6858000" cy="3429000"/>
              </a:xfrm>
              <a:prstGeom prst="roundRect">
                <a:avLst>
                  <a:gd name="adj" fmla="val 5000"/>
                </a:avLst>
              </a:prstGeom>
              <a:solidFill>
                <a:srgbClr val="0A1220"/>
              </a:solidFill>
              <a:ln w="9525">
                <a:solidFill>
                  <a:srgbClr val="2A4B73"/>
                </a:solidFill>
              </a:ln>
            </p:spPr>
            <p:txBody>
              <a:bodyPr wrap="none">
                <a:noAutofit/>
              </a:bodyPr>
              <a:p/>
            </p:txBody>
          </p:sp>
          <p:pic>
            <p:nvPicPr>
              <p:cNvPr id="70" name="Image 70"/>
              <p:cNvPicPr>
                <a:picLocks noChangeAspect="1"/>
              </p:cNvPicPr>
              <p:nvPr/>
            </p:nvPicPr>
            <p:blipFill>
              <a:blip r:embed="rId2"/>
              <a:srcRect l="0" t="10909" r="0" b="10909"/>
              <a:stretch>
                <a:fillRect/>
              </a:stretch>
            </p:blipFill>
            <p:spPr>
              <a:xfrm>
                <a:off x="685800" y="2628900"/>
                <a:ext cx="6705600" cy="3276600"/>
              </a:xfrm>
              <a:prstGeom prst="rect">
                <a:avLst/>
              </a:prstGeom>
            </p:spPr>
          </p:pic>
        </p:grpSp>
        <p:grpSp>
          <p:nvGrpSpPr>
            <p:cNvPr id="77" name="d3-item-1"/>
            <p:cNvGrpSpPr/>
            <p:nvPr/>
          </p:nvGrpSpPr>
          <p:grpSpPr>
            <a:xfrm>
              <a:off x="7848600" y="2705100"/>
              <a:ext cx="3733800" cy="952500"/>
              <a:chOff x="7848600" y="2705100"/>
              <a:chExt cx="3733800" cy="952500"/>
            </a:xfrm>
          </p:grpSpPr>
          <p:sp>
            <p:nvSpPr>
              <p:cNvPr id="72" name="d3-bg-1"/>
              <p:cNvSpPr/>
              <p:nvPr/>
            </p:nvSpPr>
            <p:spPr>
              <a:xfrm>
                <a:off x="7848600" y="2705100"/>
                <a:ext cx="37338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069199" y="2857500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星球投影</a:t>
                </a:r>
              </a:p>
            </p:txBody>
          </p:sp>
          <p:grpSp>
            <p:nvGrpSpPr>
              <p:cNvPr id="76" name="d3-desc-1"/>
              <p:cNvGrpSpPr/>
              <p:nvPr/>
            </p:nvGrpSpPr>
            <p:grpSpPr>
              <a:xfrm>
                <a:off x="8071866" y="3206750"/>
                <a:ext cx="2384831" cy="405384"/>
                <a:chOff x="8071866" y="3206750"/>
                <a:chExt cx="2384831" cy="405384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8071866" y="3206750"/>
                  <a:ext cx="23848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点击行星或太阳，生成 3D 全息投影，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071866" y="3406775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可拖拽旋转、滚轮缩放。</a:t>
                  </a:r>
                </a:p>
              </p:txBody>
            </p:sp>
          </p:grpSp>
        </p:grpSp>
        <p:grpSp>
          <p:nvGrpSpPr>
            <p:cNvPr id="83" name="d3-item-2"/>
            <p:cNvGrpSpPr/>
            <p:nvPr/>
          </p:nvGrpSpPr>
          <p:grpSpPr>
            <a:xfrm>
              <a:off x="7848600" y="3810000"/>
              <a:ext cx="3733800" cy="952500"/>
              <a:chOff x="7848600" y="3810000"/>
              <a:chExt cx="3733800" cy="952500"/>
            </a:xfrm>
          </p:grpSpPr>
          <p:sp>
            <p:nvSpPr>
              <p:cNvPr id="78" name="d3-bg-2"/>
              <p:cNvSpPr/>
              <p:nvPr/>
            </p:nvSpPr>
            <p:spPr>
              <a:xfrm>
                <a:off x="7848600" y="3810000"/>
                <a:ext cx="37338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069199" y="3962400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遨游太空</a:t>
                </a:r>
              </a:p>
            </p:txBody>
          </p:sp>
          <p:grpSp>
            <p:nvGrpSpPr>
              <p:cNvPr id="82" name="d3-desc-2"/>
              <p:cNvGrpSpPr/>
              <p:nvPr/>
            </p:nvGrpSpPr>
            <p:grpSpPr>
              <a:xfrm>
                <a:off x="8071866" y="4311650"/>
                <a:ext cx="1989582" cy="405384"/>
                <a:chOff x="8071866" y="4311650"/>
                <a:chExt cx="1989582" cy="405384"/>
              </a:xfrm>
            </p:grpSpPr>
            <p:sp>
              <p:nvSpPr>
                <p:cNvPr id="80" name="TextBox 80"/>
                <p:cNvSpPr txBox="1"/>
                <p:nvPr/>
              </p:nvSpPr>
              <p:spPr>
                <a:xfrm>
                  <a:off x="8071866" y="4311650"/>
                  <a:ext cx="198958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拖动旋转，点击天体标签飞掠，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8071866" y="4511675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信息面板随点随出。</a:t>
                  </a:r>
                </a:p>
              </p:txBody>
            </p:sp>
          </p:grpSp>
        </p:grpSp>
        <p:grpSp>
          <p:nvGrpSpPr>
            <p:cNvPr id="89" name="d3-item-3"/>
            <p:cNvGrpSpPr/>
            <p:nvPr/>
          </p:nvGrpSpPr>
          <p:grpSpPr>
            <a:xfrm>
              <a:off x="7848600" y="4914900"/>
              <a:ext cx="3733800" cy="952500"/>
              <a:chOff x="7848600" y="4914900"/>
              <a:chExt cx="3733800" cy="952500"/>
            </a:xfrm>
          </p:grpSpPr>
          <p:sp>
            <p:nvSpPr>
              <p:cNvPr id="84" name="d3-bg-3"/>
              <p:cNvSpPr/>
              <p:nvPr/>
            </p:nvSpPr>
            <p:spPr>
              <a:xfrm>
                <a:off x="7848600" y="4914900"/>
                <a:ext cx="373380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069199" y="5067300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移动适配</a:t>
                </a:r>
              </a:p>
            </p:txBody>
          </p:sp>
          <p:grpSp>
            <p:nvGrpSpPr>
              <p:cNvPr id="88" name="d3-desc-3"/>
              <p:cNvGrpSpPr/>
              <p:nvPr/>
            </p:nvGrpSpPr>
            <p:grpSpPr>
              <a:xfrm>
                <a:off x="8071866" y="5416550"/>
                <a:ext cx="1925974" cy="405384"/>
                <a:chOff x="8071866" y="5416550"/>
                <a:chExt cx="1925974" cy="405384"/>
              </a:xfrm>
            </p:grpSpPr>
            <p:sp>
              <p:nvSpPr>
                <p:cNvPr id="86" name="TextBox 86"/>
                <p:cNvSpPr txBox="1"/>
                <p:nvPr/>
              </p:nvSpPr>
              <p:spPr>
                <a:xfrm>
                  <a:off x="8071866" y="5416550"/>
                  <a:ext cx="19259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触屏旋转/缩放；信息面板改为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8071866" y="5616575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no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8B98B5"/>
                      </a:solidFill>
                      <a:latin typeface="+mn-lt"/>
                      <a:ea typeface="+mn-ea"/>
                      <a:cs typeface="+mn-cs"/>
                    </a:rPr>
                    <a:t>底部可滚动卡片，不遮按钮。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96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10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30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09 / 内容与社区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58298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20+ 页面，构成一条探索路径</a:t>
              </a:r>
            </a:p>
          </p:txBody>
        </p:sp>
        <p:grpSp>
          <p:nvGrpSpPr>
            <p:cNvPr id="71" name="ct-stat-1"/>
            <p:cNvGrpSpPr/>
            <p:nvPr/>
          </p:nvGrpSpPr>
          <p:grpSpPr>
            <a:xfrm>
              <a:off x="595884" y="2584450"/>
              <a:ext cx="657151" cy="713359"/>
              <a:chOff x="595884" y="2584450"/>
              <a:chExt cx="657151" cy="713359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595884" y="2584450"/>
                <a:ext cx="65715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20+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04266" y="309245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页面</a:t>
                </a:r>
              </a:p>
            </p:txBody>
          </p:sp>
        </p:grpSp>
        <p:grpSp>
          <p:nvGrpSpPr>
            <p:cNvPr id="74" name="ct-stat-2"/>
            <p:cNvGrpSpPr/>
            <p:nvPr/>
          </p:nvGrpSpPr>
          <p:grpSpPr>
            <a:xfrm>
              <a:off x="2119884" y="2584450"/>
              <a:ext cx="447244" cy="713359"/>
              <a:chOff x="2119884" y="2584450"/>
              <a:chExt cx="447244" cy="713359"/>
            </a:xfrm>
          </p:grpSpPr>
          <p:sp>
            <p:nvSpPr>
              <p:cNvPr id="72" name="TextBox 72"/>
              <p:cNvSpPr txBox="1"/>
              <p:nvPr/>
            </p:nvSpPr>
            <p:spPr>
              <a:xfrm>
                <a:off x="2119884" y="258445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24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2128266" y="309245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条新闻</a:t>
                </a:r>
              </a:p>
            </p:txBody>
          </p:sp>
        </p:grpSp>
        <p:grpSp>
          <p:nvGrpSpPr>
            <p:cNvPr id="77" name="ct-stat-3"/>
            <p:cNvGrpSpPr/>
            <p:nvPr/>
          </p:nvGrpSpPr>
          <p:grpSpPr>
            <a:xfrm>
              <a:off x="3643884" y="2584450"/>
              <a:ext cx="584454" cy="713359"/>
              <a:chOff x="3643884" y="2584450"/>
              <a:chExt cx="584454" cy="713359"/>
            </a:xfrm>
          </p:grpSpPr>
          <p:sp>
            <p:nvSpPr>
              <p:cNvPr id="75" name="TextBox 75"/>
              <p:cNvSpPr txBox="1"/>
              <p:nvPr/>
            </p:nvSpPr>
            <p:spPr>
              <a:xfrm>
                <a:off x="3643884" y="2584450"/>
                <a:ext cx="23733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3652266" y="30924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科普视频</a:t>
                </a:r>
              </a:p>
            </p:txBody>
          </p:sp>
        </p:grpSp>
        <p:grpSp>
          <p:nvGrpSpPr>
            <p:cNvPr id="80" name="ct-stat-4"/>
            <p:cNvGrpSpPr/>
            <p:nvPr/>
          </p:nvGrpSpPr>
          <p:grpSpPr>
            <a:xfrm>
              <a:off x="5167884" y="2584450"/>
              <a:ext cx="584454" cy="713359"/>
              <a:chOff x="5167884" y="2584450"/>
              <a:chExt cx="584454" cy="713359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5167884" y="258445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27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20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5176266" y="30924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0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道竞赛题</a:t>
                </a:r>
              </a:p>
            </p:txBody>
          </p:sp>
        </p:grpSp>
        <p:grpSp>
          <p:nvGrpSpPr>
            <p:cNvPr id="83" name="ct-shot"/>
            <p:cNvGrpSpPr/>
            <p:nvPr/>
          </p:nvGrpSpPr>
          <p:grpSpPr>
            <a:xfrm>
              <a:off x="609600" y="3619500"/>
              <a:ext cx="5334000" cy="2571750"/>
              <a:chOff x="609600" y="3619500"/>
              <a:chExt cx="5334000" cy="257175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609600" y="3619500"/>
                <a:ext cx="5334000" cy="2571750"/>
              </a:xfrm>
              <a:prstGeom prst="roundRect">
                <a:avLst>
                  <a:gd name="adj" fmla="val 5926"/>
                </a:avLst>
              </a:prstGeom>
              <a:solidFill>
                <a:srgbClr val="0A1220"/>
              </a:solidFill>
              <a:ln w="9525">
                <a:solidFill>
                  <a:srgbClr val="2A4B73"/>
                </a:solidFill>
              </a:ln>
            </p:spPr>
            <p:txBody>
              <a:bodyPr wrap="none">
                <a:noAutofit/>
              </a:bodyPr>
              <a:p/>
            </p:txBody>
          </p:sp>
          <p:pic>
            <p:nvPicPr>
              <p:cNvPr id="82" name="Image 82"/>
              <p:cNvPicPr>
                <a:picLocks noChangeAspect="1"/>
              </p:cNvPicPr>
              <p:nvPr/>
            </p:nvPicPr>
            <p:blipFill>
              <a:blip r:embed="rId2"/>
              <a:srcRect l="0" t="12647" r="0" b="12647"/>
              <a:stretch>
                <a:fillRect/>
              </a:stretch>
            </p:blipFill>
            <p:spPr>
              <a:xfrm>
                <a:off x="685800" y="3695700"/>
                <a:ext cx="5181600" cy="2419350"/>
              </a:xfrm>
              <a:prstGeom prst="rect">
                <a:avLst/>
              </a:prstGeom>
            </p:spPr>
          </p:pic>
        </p:grpSp>
        <p:grpSp>
          <p:nvGrpSpPr>
            <p:cNvPr id="87" name="ct-path-1"/>
            <p:cNvGrpSpPr/>
            <p:nvPr/>
          </p:nvGrpSpPr>
          <p:grpSpPr>
            <a:xfrm>
              <a:off x="6477000" y="3810000"/>
              <a:ext cx="5105400" cy="704850"/>
              <a:chOff x="6477000" y="3810000"/>
              <a:chExt cx="5105400" cy="704850"/>
            </a:xfrm>
          </p:grpSpPr>
          <p:sp>
            <p:nvSpPr>
              <p:cNvPr id="84" name="ct-p-bg-1"/>
              <p:cNvSpPr/>
              <p:nvPr/>
            </p:nvSpPr>
            <p:spPr>
              <a:xfrm>
                <a:off x="6477000" y="3810000"/>
                <a:ext cx="5105400" cy="704850"/>
              </a:xfrm>
              <a:prstGeom prst="roundRect">
                <a:avLst>
                  <a:gd name="adj" fmla="val 16216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696456" y="403225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看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7232142" y="4083050"/>
                <a:ext cx="15221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百科 / 图集 / 视频</a:t>
                </a:r>
              </a:p>
            </p:txBody>
          </p:sp>
        </p:grpSp>
        <p:grpSp>
          <p:nvGrpSpPr>
            <p:cNvPr id="91" name="ct-path-2"/>
            <p:cNvGrpSpPr/>
            <p:nvPr/>
          </p:nvGrpSpPr>
          <p:grpSpPr>
            <a:xfrm>
              <a:off x="6477000" y="4686300"/>
              <a:ext cx="5105400" cy="704850"/>
              <a:chOff x="6477000" y="4686300"/>
              <a:chExt cx="5105400" cy="704850"/>
            </a:xfrm>
          </p:grpSpPr>
          <p:sp>
            <p:nvSpPr>
              <p:cNvPr id="88" name="ct-p-bg-2"/>
              <p:cNvSpPr/>
              <p:nvPr/>
            </p:nvSpPr>
            <p:spPr>
              <a:xfrm>
                <a:off x="6477000" y="4686300"/>
                <a:ext cx="5105400" cy="704850"/>
              </a:xfrm>
              <a:prstGeom prst="roundRect">
                <a:avLst>
                  <a:gd name="adj" fmla="val 16216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696456" y="490855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问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232142" y="4959350"/>
                <a:ext cx="11704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AI 助手 / 工具</a:t>
                </a:r>
              </a:p>
            </p:txBody>
          </p:sp>
        </p:grpSp>
        <p:grpSp>
          <p:nvGrpSpPr>
            <p:cNvPr id="95" name="ct-path-3"/>
            <p:cNvGrpSpPr/>
            <p:nvPr/>
          </p:nvGrpSpPr>
          <p:grpSpPr>
            <a:xfrm>
              <a:off x="6477000" y="5562600"/>
              <a:ext cx="5105400" cy="704850"/>
              <a:chOff x="6477000" y="5562600"/>
              <a:chExt cx="5105400" cy="704850"/>
            </a:xfrm>
          </p:grpSpPr>
          <p:sp>
            <p:nvSpPr>
              <p:cNvPr id="92" name="ct-p-bg-3"/>
              <p:cNvSpPr/>
              <p:nvPr/>
            </p:nvSpPr>
            <p:spPr>
              <a:xfrm>
                <a:off x="6477000" y="5562600"/>
                <a:ext cx="5105400" cy="704850"/>
              </a:xfrm>
              <a:prstGeom prst="roundRect">
                <a:avLst>
                  <a:gd name="adj" fmla="val 16216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6696456" y="5784850"/>
                <a:ext cx="26060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80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玩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7232142" y="5835650"/>
                <a:ext cx="809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3D / 竞赛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98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11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30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10 / 工程与质量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能演示，也能被验证</a:t>
              </a:r>
            </a:p>
          </p:txBody>
        </p:sp>
        <p:grpSp>
          <p:nvGrpSpPr>
            <p:cNvPr id="72" name="ql-m-1"/>
            <p:cNvGrpSpPr/>
            <p:nvPr/>
          </p:nvGrpSpPr>
          <p:grpSpPr>
            <a:xfrm>
              <a:off x="609600" y="2552700"/>
              <a:ext cx="2514600" cy="1200150"/>
              <a:chOff x="609600" y="2552700"/>
              <a:chExt cx="2514600" cy="1200150"/>
            </a:xfrm>
          </p:grpSpPr>
          <p:sp>
            <p:nvSpPr>
              <p:cNvPr id="69" name="ql-m-bg-1"/>
              <p:cNvSpPr/>
              <p:nvPr/>
            </p:nvSpPr>
            <p:spPr>
              <a:xfrm>
                <a:off x="609600" y="2552700"/>
                <a:ext cx="2514600" cy="1200150"/>
              </a:xfrm>
              <a:prstGeom prst="roundRect">
                <a:avLst>
                  <a:gd name="adj" fmla="val 12698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03148" y="2749550"/>
                <a:ext cx="1011566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1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500+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13435" y="33464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自动化断言</a:t>
                </a:r>
              </a:p>
            </p:txBody>
          </p:sp>
        </p:grpSp>
        <p:grpSp>
          <p:nvGrpSpPr>
            <p:cNvPr id="76" name="ql-m-2"/>
            <p:cNvGrpSpPr/>
            <p:nvPr/>
          </p:nvGrpSpPr>
          <p:grpSpPr>
            <a:xfrm>
              <a:off x="3390900" y="2552700"/>
              <a:ext cx="2514600" cy="1200150"/>
              <a:chOff x="3390900" y="2552700"/>
              <a:chExt cx="2514600" cy="1200150"/>
            </a:xfrm>
          </p:grpSpPr>
          <p:sp>
            <p:nvSpPr>
              <p:cNvPr id="73" name="ql-m-bg-2"/>
              <p:cNvSpPr/>
              <p:nvPr/>
            </p:nvSpPr>
            <p:spPr>
              <a:xfrm>
                <a:off x="3390900" y="2552700"/>
                <a:ext cx="2514600" cy="1200150"/>
              </a:xfrm>
              <a:prstGeom prst="roundRect">
                <a:avLst>
                  <a:gd name="adj" fmla="val 12698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3584448" y="2749550"/>
                <a:ext cx="766676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1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30+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594735" y="3346450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测试脚本</a:t>
                </a:r>
              </a:p>
            </p:txBody>
          </p:sp>
        </p:grpSp>
        <p:grpSp>
          <p:nvGrpSpPr>
            <p:cNvPr id="80" name="ql-m-3"/>
            <p:cNvGrpSpPr/>
            <p:nvPr/>
          </p:nvGrpSpPr>
          <p:grpSpPr>
            <a:xfrm>
              <a:off x="6172200" y="2552700"/>
              <a:ext cx="2514600" cy="1200150"/>
              <a:chOff x="6172200" y="2552700"/>
              <a:chExt cx="2514600" cy="1200150"/>
            </a:xfrm>
          </p:grpSpPr>
          <p:sp>
            <p:nvSpPr>
              <p:cNvPr id="77" name="ql-m-bg-3"/>
              <p:cNvSpPr/>
              <p:nvPr/>
            </p:nvSpPr>
            <p:spPr>
              <a:xfrm>
                <a:off x="6172200" y="2552700"/>
                <a:ext cx="2514600" cy="1200150"/>
              </a:xfrm>
              <a:prstGeom prst="roundRect">
                <a:avLst>
                  <a:gd name="adj" fmla="val 12698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365748" y="2749550"/>
                <a:ext cx="766676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1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230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376035" y="3346450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项浏览器视觉走查</a:t>
                </a:r>
              </a:p>
            </p:txBody>
          </p:sp>
        </p:grpSp>
        <p:grpSp>
          <p:nvGrpSpPr>
            <p:cNvPr id="84" name="ql-m-4"/>
            <p:cNvGrpSpPr/>
            <p:nvPr/>
          </p:nvGrpSpPr>
          <p:grpSpPr>
            <a:xfrm>
              <a:off x="8953500" y="2552700"/>
              <a:ext cx="2514600" cy="1200150"/>
              <a:chOff x="8953500" y="2552700"/>
              <a:chExt cx="2514600" cy="1200150"/>
            </a:xfrm>
          </p:grpSpPr>
          <p:sp>
            <p:nvSpPr>
              <p:cNvPr id="81" name="ql-m-bg-4"/>
              <p:cNvSpPr/>
              <p:nvPr/>
            </p:nvSpPr>
            <p:spPr>
              <a:xfrm>
                <a:off x="8953500" y="2552700"/>
                <a:ext cx="2514600" cy="1200150"/>
              </a:xfrm>
              <a:prstGeom prst="roundRect">
                <a:avLst>
                  <a:gd name="adj" fmla="val 12698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147048" y="2749550"/>
                <a:ext cx="276895" cy="6160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315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157335" y="3346450"/>
                <a:ext cx="83236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ESLint 告警</a:t>
                </a:r>
              </a:p>
            </p:txBody>
          </p:sp>
        </p:grpSp>
        <p:grpSp>
          <p:nvGrpSpPr>
            <p:cNvPr id="88" name="ql-box-1"/>
            <p:cNvGrpSpPr/>
            <p:nvPr/>
          </p:nvGrpSpPr>
          <p:grpSpPr>
            <a:xfrm>
              <a:off x="609600" y="4305300"/>
              <a:ext cx="3505200" cy="1352550"/>
              <a:chOff x="609600" y="4305300"/>
              <a:chExt cx="3505200" cy="1352550"/>
            </a:xfrm>
          </p:grpSpPr>
          <p:sp>
            <p:nvSpPr>
              <p:cNvPr id="85" name="ql-b-bg-1"/>
              <p:cNvSpPr/>
              <p:nvPr/>
            </p:nvSpPr>
            <p:spPr>
              <a:xfrm>
                <a:off x="609600" y="4305300"/>
                <a:ext cx="350520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11530" y="4508500"/>
                <a:ext cx="13915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Docker 离线包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3435" y="4870450"/>
                <a:ext cx="30979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App + MySQL 一键启动，适配比赛网络环境。</a:t>
                </a:r>
              </a:p>
            </p:txBody>
          </p:sp>
        </p:grpSp>
        <p:grpSp>
          <p:nvGrpSpPr>
            <p:cNvPr id="92" name="ql-box-2"/>
            <p:cNvGrpSpPr/>
            <p:nvPr/>
          </p:nvGrpSpPr>
          <p:grpSpPr>
            <a:xfrm>
              <a:off x="4343400" y="4305300"/>
              <a:ext cx="3505200" cy="1352550"/>
              <a:chOff x="4343400" y="4305300"/>
              <a:chExt cx="3505200" cy="1352550"/>
            </a:xfrm>
          </p:grpSpPr>
          <p:sp>
            <p:nvSpPr>
              <p:cNvPr id="89" name="ql-b-bg-2"/>
              <p:cNvSpPr/>
              <p:nvPr/>
            </p:nvSpPr>
            <p:spPr>
              <a:xfrm>
                <a:off x="4343400" y="4305300"/>
                <a:ext cx="350520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4545330" y="450850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免安装演示包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4547235" y="4870450"/>
                <a:ext cx="243938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双击启动，无需 Docker / MySQL。</a:t>
                </a:r>
              </a:p>
            </p:txBody>
          </p:sp>
        </p:grpSp>
        <p:grpSp>
          <p:nvGrpSpPr>
            <p:cNvPr id="96" name="ql-box-3"/>
            <p:cNvGrpSpPr/>
            <p:nvPr/>
          </p:nvGrpSpPr>
          <p:grpSpPr>
            <a:xfrm>
              <a:off x="8077200" y="4305300"/>
              <a:ext cx="3505200" cy="1352550"/>
              <a:chOff x="8077200" y="4305300"/>
              <a:chExt cx="3505200" cy="1352550"/>
            </a:xfrm>
          </p:grpSpPr>
          <p:sp>
            <p:nvSpPr>
              <p:cNvPr id="93" name="ql-b-bg-3"/>
              <p:cNvSpPr/>
              <p:nvPr/>
            </p:nvSpPr>
            <p:spPr>
              <a:xfrm>
                <a:off x="8077200" y="4305300"/>
                <a:ext cx="3505200" cy="1352550"/>
              </a:xfrm>
              <a:prstGeom prst="roundRect">
                <a:avLst>
                  <a:gd name="adj" fmla="val 11268"/>
                </a:avLst>
              </a:prstGeom>
              <a:solidFill>
                <a:srgbClr val="111C30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279130" y="45085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00" b="1" dirty="0">
                    <a:solidFill>
                      <a:srgbClr val="22D3EE"/>
                    </a:solidFill>
                    <a:latin typeface="+mn-lt"/>
                    <a:ea typeface="+mn-ea"/>
                    <a:cs typeface="+mn-cs"/>
                  </a:rPr>
                  <a:t>公网演示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281035" y="4870450"/>
                <a:ext cx="2597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桌面 / 移动双入口，二维码扫码访问。</a:t>
                </a:r>
              </a:p>
            </p:txBody>
          </p:sp>
        </p:grpSp>
        <p:sp>
          <p:nvSpPr>
            <p:cNvPr id="97" name="TextBox 97"/>
            <p:cNvSpPr txBox="1"/>
            <p:nvPr/>
          </p:nvSpPr>
          <p:spPr>
            <a:xfrm>
              <a:off x="603885" y="5956300"/>
              <a:ext cx="3550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8B98B5"/>
                  </a:solidFill>
                  <a:latin typeface="+mn-lt"/>
                  <a:ea typeface="+mn-ea"/>
                  <a:cs typeface="+mn-cs"/>
                </a:rPr>
                <a:t>GitHub Public · MIT · 76 次 Conventional Commits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87" name="page-content"/>
          <p:cNvGrpSpPr/>
          <p:nvPr/>
        </p:nvGrpSpPr>
        <p:grpSpPr>
          <a:xfrm>
            <a:off x="561975" y="32385"/>
            <a:ext cx="11504295" cy="6617970"/>
            <a:chOff x="561975" y="32385"/>
            <a:chExt cx="11504295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12 / 13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603885" y="1117600"/>
              <a:ext cx="1644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spc="15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11 / 双入口与移动端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836" y="146050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E8EEFC"/>
                  </a:solidFill>
                  <a:latin typeface="+mn-lt"/>
                  <a:ea typeface="+mn-ea"/>
                  <a:cs typeface="+mn-cs"/>
                </a:rPr>
                <a:t>桌面与移动端，两个入口</a:t>
              </a:r>
            </a:p>
          </p:txBody>
        </p:sp>
        <p:grpSp>
          <p:nvGrpSpPr>
            <p:cNvPr id="71" name="mb-lead"/>
            <p:cNvGrpSpPr/>
            <p:nvPr/>
          </p:nvGrpSpPr>
          <p:grpSpPr>
            <a:xfrm>
              <a:off x="602742" y="2197100"/>
              <a:ext cx="3993756" cy="549783"/>
              <a:chOff x="602742" y="2197100"/>
              <a:chExt cx="3993756" cy="549783"/>
            </a:xfrm>
          </p:grpSpPr>
          <p:sp>
            <p:nvSpPr>
              <p:cNvPr id="69" name="TextBox 69"/>
              <p:cNvSpPr txBox="1"/>
              <p:nvPr/>
            </p:nvSpPr>
            <p:spPr>
              <a:xfrm>
                <a:off x="602742" y="2197100"/>
                <a:ext cx="26398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桌面版访问 /；移动端入口 /m。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02742" y="2482850"/>
                <a:ext cx="39937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35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电脑打开 /m 是手机预览，手机自动进入移动版。</a:t>
                </a:r>
              </a:p>
            </p:txBody>
          </p:sp>
        </p:grpSp>
        <p:grpSp>
          <p:nvGrpSpPr>
            <p:cNvPr id="74" name="mb-shot"/>
            <p:cNvGrpSpPr/>
            <p:nvPr/>
          </p:nvGrpSpPr>
          <p:grpSpPr>
            <a:xfrm>
              <a:off x="7543800" y="2381250"/>
              <a:ext cx="2209800" cy="4038600"/>
              <a:chOff x="7543800" y="2381250"/>
              <a:chExt cx="2209800" cy="40386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7543800" y="2381250"/>
                <a:ext cx="2209800" cy="4038600"/>
              </a:xfrm>
              <a:prstGeom prst="roundRect">
                <a:avLst>
                  <a:gd name="adj" fmla="val 12931"/>
                </a:avLst>
              </a:prstGeom>
              <a:solidFill>
                <a:srgbClr val="111A2C"/>
              </a:solidFill>
              <a:ln w="19050">
                <a:solidFill>
                  <a:srgbClr val="2A4B73"/>
                </a:solidFill>
              </a:ln>
            </p:spPr>
            <p:txBody>
              <a:bodyPr wrap="none">
                <a:noAutofit/>
              </a:bodyPr>
              <a:p/>
            </p:txBody>
          </p:sp>
          <p:pic>
            <p:nvPicPr>
              <p:cNvPr id="73" name="Image 73"/>
              <p:cNvPicPr>
                <a:picLocks noChangeAspect="1"/>
              </p:cNvPicPr>
              <p:nvPr/>
            </p:nvPicPr>
            <p:blipFill>
              <a:blip r:embed="rId2"/>
              <a:srcRect l="0" t="5568" r="0" b="5569"/>
              <a:stretch>
                <a:fillRect/>
              </a:stretch>
            </p:blipFill>
            <p:spPr>
              <a:xfrm>
                <a:off x="7658100" y="2495550"/>
                <a:ext cx="1981200" cy="3810000"/>
              </a:xfrm>
              <a:prstGeom prst="rect">
                <a:avLst/>
              </a:prstGeom>
            </p:spPr>
          </p:pic>
        </p:grpSp>
        <p:grpSp>
          <p:nvGrpSpPr>
            <p:cNvPr id="78" name="mb-b-1"/>
            <p:cNvGrpSpPr/>
            <p:nvPr/>
          </p:nvGrpSpPr>
          <p:grpSpPr>
            <a:xfrm>
              <a:off x="609600" y="2762250"/>
              <a:ext cx="6096000" cy="990600"/>
              <a:chOff x="609600" y="2762250"/>
              <a:chExt cx="6096000" cy="990600"/>
            </a:xfrm>
          </p:grpSpPr>
          <p:sp>
            <p:nvSpPr>
              <p:cNvPr id="75" name="mb-bg-1"/>
              <p:cNvSpPr/>
              <p:nvPr/>
            </p:nvSpPr>
            <p:spPr>
              <a:xfrm>
                <a:off x="609600" y="2762250"/>
                <a:ext cx="60960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30199" y="2952750"/>
                <a:ext cx="10795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响应式布局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32485" y="3289300"/>
                <a:ext cx="39466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390 / 768 / 1024 断点，导航收进汉堡菜单，无横向溢出。</a:t>
                </a:r>
              </a:p>
            </p:txBody>
          </p:sp>
        </p:grpSp>
        <p:grpSp>
          <p:nvGrpSpPr>
            <p:cNvPr id="82" name="mb-b-2"/>
            <p:cNvGrpSpPr/>
            <p:nvPr/>
          </p:nvGrpSpPr>
          <p:grpSpPr>
            <a:xfrm>
              <a:off x="609600" y="3905250"/>
              <a:ext cx="6096000" cy="990600"/>
              <a:chOff x="609600" y="3905250"/>
              <a:chExt cx="6096000" cy="990600"/>
            </a:xfrm>
          </p:grpSpPr>
          <p:sp>
            <p:nvSpPr>
              <p:cNvPr id="79" name="mb-bg-2"/>
              <p:cNvSpPr/>
              <p:nvPr/>
            </p:nvSpPr>
            <p:spPr>
              <a:xfrm>
                <a:off x="609600" y="3905250"/>
                <a:ext cx="60960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30199" y="4095750"/>
                <a:ext cx="885121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底部 Tab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32485" y="4432300"/>
                <a:ext cx="297087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首页 / 星座 / 图集 / AI / 社区，一键切换。</a:t>
                </a:r>
              </a:p>
            </p:txBody>
          </p:sp>
        </p:grpSp>
        <p:grpSp>
          <p:nvGrpSpPr>
            <p:cNvPr id="86" name="mb-b-3"/>
            <p:cNvGrpSpPr/>
            <p:nvPr/>
          </p:nvGrpSpPr>
          <p:grpSpPr>
            <a:xfrm>
              <a:off x="609600" y="5048250"/>
              <a:ext cx="6096000" cy="990600"/>
              <a:chOff x="609600" y="5048250"/>
              <a:chExt cx="6096000" cy="990600"/>
            </a:xfrm>
          </p:grpSpPr>
          <p:sp>
            <p:nvSpPr>
              <p:cNvPr id="83" name="mb-bg-3"/>
              <p:cNvSpPr/>
              <p:nvPr/>
            </p:nvSpPr>
            <p:spPr>
              <a:xfrm>
                <a:off x="609600" y="5048250"/>
                <a:ext cx="6096000" cy="990600"/>
              </a:xfrm>
              <a:prstGeom prst="roundRect">
                <a:avLst>
                  <a:gd name="adj" fmla="val 13462"/>
                </a:avLst>
              </a:prstGeom>
              <a:solidFill>
                <a:srgbClr val="0E1626"/>
              </a:solidFill>
              <a:ln w="9525">
                <a:solidFill>
                  <a:srgbClr val="24344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30199" y="5238750"/>
                <a:ext cx="10795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F5D76E"/>
                    </a:solidFill>
                    <a:latin typeface="+mn-lt"/>
                    <a:ea typeface="+mn-ea"/>
                    <a:cs typeface="+mn-cs"/>
                  </a:rPr>
                  <a:t>添加到桌面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32485" y="5575300"/>
                <a:ext cx="26081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1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HTTPS 下可添加到主屏幕，离线缓存。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1C33"/>
            </a:gs>
            <a:gs pos="58000">
              <a:srgbClr val="0B1322"/>
            </a:gs>
            <a:gs pos="100000">
              <a:srgbClr val="05060A"/>
            </a:gs>
          </a:gsLst>
          <a:path path="circle">
            <a:fillToRect l="50000" t="26000" r="50000" b="74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2438400" y="0"/>
                </a:moveTo>
                <a:lnTo>
                  <a:pt x="2438400" y="6858000"/>
                </a:lnTo>
                <a:moveTo>
                  <a:pt x="4876800" y="0"/>
                </a:moveTo>
                <a:lnTo>
                  <a:pt x="4876800" y="6858000"/>
                </a:lnTo>
                <a:moveTo>
                  <a:pt x="7315200" y="0"/>
                </a:moveTo>
                <a:lnTo>
                  <a:pt x="7315200" y="6858000"/>
                </a:lnTo>
                <a:moveTo>
                  <a:pt x="9753600" y="0"/>
                </a:moveTo>
                <a:lnTo>
                  <a:pt x="9753600" y="6858000"/>
                </a:lnTo>
              </a:path>
            </a:pathLst>
          </a:custGeom>
          <a:noFill/>
          <a:ln w="9525">
            <a:solidFill>
              <a:srgbClr val="16233D">
                <a:alpha val="35000"/>
              </a:srgbClr>
            </a:solidFill>
          </a:ln>
        </p:spPr>
        <p:txBody>
          <a:bodyPr wrap="none">
            <a:noAutofit/>
          </a:bodyPr>
          <a:p/>
        </p:txBody>
      </p:sp>
      <p:grpSp>
        <p:nvGrpSpPr>
          <p:cNvPr id="81" name="page-content"/>
          <p:cNvGrpSpPr/>
          <p:nvPr/>
        </p:nvGrpSpPr>
        <p:grpSpPr>
          <a:xfrm>
            <a:off x="561975" y="32385"/>
            <a:ext cx="11859946" cy="6617970"/>
            <a:chOff x="561975" y="32385"/>
            <a:chExt cx="11859946" cy="6617970"/>
          </a:xfrm>
        </p:grpSpPr>
        <p:grpSp>
          <p:nvGrpSpPr>
            <p:cNvPr id="57" name="bg-stars"/>
            <p:cNvGrpSpPr/>
            <p:nvPr/>
          </p:nvGrpSpPr>
          <p:grpSpPr>
            <a:xfrm>
              <a:off x="712470" y="32385"/>
              <a:ext cx="11353800" cy="6617970"/>
              <a:chOff x="712470" y="32385"/>
              <a:chExt cx="11353800" cy="6617970"/>
            </a:xfrm>
          </p:grpSpPr>
          <p:sp>
            <p:nvSpPr>
              <p:cNvPr id="3" name="Ellipse 3"/>
              <p:cNvSpPr/>
              <p:nvPr/>
            </p:nvSpPr>
            <p:spPr>
              <a:xfrm>
                <a:off x="10618470" y="21316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712470" y="502729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5255895" y="118872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8029575" y="1371600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1598295" y="2266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6814185" y="4280535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1765935" y="518160"/>
                <a:ext cx="30480" cy="3048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7648575" y="4810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4671060" y="2937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1820525" y="63341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3632835" y="32385"/>
                <a:ext cx="30480" cy="3048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499485" y="2556510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3926205" y="12496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364980" y="235458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7679055" y="48215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573905" y="8972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259955" y="6877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8446770" y="59797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6113145" y="931545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970145" y="50749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193655" y="5240655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867525" y="64484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1579245" y="3695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8913495" y="1455420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8195" y="364617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059930" y="41262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6219825" y="12763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12051030" y="1811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1617345" y="2807970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11313795" y="16744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4665345" y="4808220"/>
                <a:ext cx="22860" cy="2286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31180" y="257365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4802505" y="3297555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179820" y="65131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8761095" y="123634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926330" y="168783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717155" y="335280"/>
                <a:ext cx="15240" cy="1524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239000" y="28670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4773930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2143125" y="62198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2581275" y="485775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9096375" y="294322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11134725" y="5705475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9993630" y="2621280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971550" y="1571625"/>
                <a:ext cx="19050" cy="1905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783080" y="6374130"/>
                <a:ext cx="15240" cy="1524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5581650" y="5105400"/>
                <a:ext cx="19050" cy="1905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4499610" y="413385"/>
                <a:ext cx="30480" cy="3048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9027795" y="4531995"/>
                <a:ext cx="22860" cy="22860"/>
              </a:xfrm>
              <a:prstGeom prst="ellipse">
                <a:avLst/>
              </a:prstGeom>
              <a:solidFill>
                <a:srgbClr val="DCE7FF">
                  <a:alpha val="4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953875" y="2381250"/>
                <a:ext cx="19050" cy="19050"/>
              </a:xfrm>
              <a:prstGeom prst="ellipse">
                <a:avLst/>
              </a:prstGeom>
              <a:solidFill>
                <a:srgbClr val="DCE7FF">
                  <a:alpha val="60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8332470" y="66274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22920" y="4646295"/>
                <a:ext cx="22860" cy="2286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1354455" y="12973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1154430" y="2630805"/>
                <a:ext cx="15240" cy="15240"/>
              </a:xfrm>
              <a:prstGeom prst="ellipse">
                <a:avLst/>
              </a:prstGeom>
              <a:solidFill>
                <a:srgbClr val="DCE7FF">
                  <a:alpha val="25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grpSp>
          <p:nvGrpSpPr>
            <p:cNvPr id="63" name="page-header"/>
            <p:cNvGrpSpPr/>
            <p:nvPr/>
          </p:nvGrpSpPr>
          <p:grpSpPr>
            <a:xfrm>
              <a:off x="561975" y="466725"/>
              <a:ext cx="10949178" cy="347091"/>
              <a:chOff x="561975" y="466725"/>
              <a:chExt cx="10949178" cy="347091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561975" y="466725"/>
                <a:ext cx="323850" cy="323850"/>
              </a:xfrm>
              <a:prstGeom prst="ellipse">
                <a:avLst/>
              </a:prstGeom>
              <a:solidFill>
                <a:srgbClr val="E7EEFF">
                  <a:alpha val="12000"/>
                </a:srgbClr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09600" y="514350"/>
                <a:ext cx="228600" cy="228600"/>
              </a:xfrm>
              <a:prstGeom prst="ellipse">
                <a:avLst/>
              </a:prstGeom>
              <a:solidFill>
                <a:srgbClr val="DCE8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38175" y="5429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63549" y="504825"/>
                <a:ext cx="86680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580" b="1" dirty="0">
                    <a:solidFill>
                      <a:srgbClr val="E8EEFC"/>
                    </a:solidFill>
                    <a:latin typeface="+mn-lt"/>
                    <a:ea typeface="+mn-ea"/>
                    <a:cs typeface="+mn-cs"/>
                  </a:rPr>
                  <a:t>宇宙探索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335483" y="571500"/>
                <a:ext cx="217567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spc="112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项目介绍 / 答辩演示 · 2026-10</a:t>
                </a:r>
              </a:p>
            </p:txBody>
          </p:sp>
        </p:grpSp>
        <p:grpSp>
          <p:nvGrpSpPr>
            <p:cNvPr id="66" name="page-footer"/>
            <p:cNvGrpSpPr/>
            <p:nvPr/>
          </p:nvGrpSpPr>
          <p:grpSpPr>
            <a:xfrm>
              <a:off x="604647" y="6419850"/>
              <a:ext cx="10906506" cy="191643"/>
              <a:chOff x="604647" y="6419850"/>
              <a:chExt cx="10906506" cy="191643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604647" y="6419850"/>
                <a:ext cx="17447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宇宙探索 · 天文科普网站系统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93326" y="6419850"/>
                <a:ext cx="51782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r"/>
                <a:r>
                  <a:rPr lang="zh-CN" sz="980" dirty="0">
                    <a:solidFill>
                      <a:srgbClr val="7FE3F5"/>
                    </a:solidFill>
                    <a:latin typeface="Consolas"/>
                    <a:ea typeface="Consolas"/>
                    <a:cs typeface="Consolas"/>
                  </a:rPr>
                  <a:t>13 / 13</a:t>
                </a:r>
              </a:p>
            </p:txBody>
          </p:sp>
        </p:grpSp>
        <p:grpSp>
          <p:nvGrpSpPr>
            <p:cNvPr id="73" name="end-orbit"/>
            <p:cNvGrpSpPr/>
            <p:nvPr/>
          </p:nvGrpSpPr>
          <p:grpSpPr>
            <a:xfrm>
              <a:off x="6247079" y="971550"/>
              <a:ext cx="6174842" cy="4914900"/>
              <a:chOff x="6247079" y="971550"/>
              <a:chExt cx="6174842" cy="4914900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7562850" y="1657350"/>
                <a:ext cx="3543300" cy="3543300"/>
              </a:xfrm>
              <a:prstGeom prst="ellipse">
                <a:avLst/>
              </a:prstGeom>
              <a:noFill/>
              <a:ln w="14288">
                <a:solidFill>
                  <a:srgbClr val="2D4B77">
                    <a:alpha val="50000"/>
                  </a:srgbClr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6877050" y="971550"/>
                <a:ext cx="4914900" cy="4914900"/>
              </a:xfrm>
              <a:prstGeom prst="ellipse">
                <a:avLst/>
              </a:prstGeom>
              <a:noFill/>
              <a:ln w="9525">
                <a:solidFill>
                  <a:srgbClr val="223A5E">
                    <a:alpha val="45000"/>
                  </a:srgbClr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69" name="Ellipse 69"/>
              <p:cNvSpPr/>
              <p:nvPr/>
            </p:nvSpPr>
            <p:spPr>
              <a:xfrm rot="1200000">
                <a:off x="6381750" y="2514600"/>
                <a:ext cx="5905500" cy="1828800"/>
              </a:xfrm>
              <a:prstGeom prst="ellipse">
                <a:avLst/>
              </a:prstGeom>
              <a:noFill/>
              <a:ln w="11430">
                <a:solidFill>
                  <a:srgbClr val="2A5B8F">
                    <a:alpha val="50000"/>
                  </a:srgbClr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8458200" y="2552700"/>
                <a:ext cx="1752600" cy="1752600"/>
              </a:xfrm>
              <a:prstGeom prst="ellipse">
                <a:avLst/>
              </a:prstGeom>
              <a:solidFill>
                <a:srgbClr val="0C1A30"/>
              </a:solidFill>
              <a:ln w="9525">
                <a:solidFill>
                  <a:srgbClr val="3A5E8F"/>
                </a:solidFill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10801350" y="2266950"/>
                <a:ext cx="266700" cy="266700"/>
              </a:xfrm>
              <a:prstGeom prst="ellipse">
                <a:avLst/>
              </a:prstGeom>
              <a:gradFill>
                <a:gsLst>
                  <a:gs pos="0">
                    <a:srgbClr val="F5D76E"/>
                  </a:gs>
                  <a:gs pos="100000">
                    <a:srgbClr val="F0A85C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7277100" y="4267200"/>
                <a:ext cx="152400" cy="152400"/>
              </a:xfrm>
              <a:prstGeom prst="ellipse">
                <a:avLst/>
              </a:prstGeom>
              <a:gradFill>
                <a:gsLst>
                  <a:gs pos="0">
                    <a:srgbClr val="22D3EE"/>
                  </a:gs>
                  <a:gs pos="100000">
                    <a:srgbClr val="A78BFA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>
                <a:noAutofit/>
              </a:bodyPr>
              <a:p/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832485" y="1955800"/>
              <a:ext cx="26406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1120" b="1" spc="225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THANK YOU FOR WATCHING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1050" y="2444750"/>
              <a:ext cx="310743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5700" b="1" dirty="0">
                  <a:gradFill>
                    <a:gsLst>
                      <a:gs pos="0">
                        <a:srgbClr val="F7FAFF"/>
                      </a:gs>
                      <a:gs pos="62000">
                        <a:srgbClr val="CFE9FF"/>
                      </a:gs>
                      <a:gs pos="100000">
                        <a:srgbClr val="22D3EE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谢谢观看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8294" y="3587750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D9E6F8"/>
                  </a:solidFill>
                  <a:latin typeface="+mn-lt"/>
                  <a:ea typeface="+mn-ea"/>
                  <a:cs typeface="+mn-cs"/>
                </a:rPr>
                <a:t>让天文知识更好读、可问、可玩</a:t>
              </a:r>
            </a:p>
          </p:txBody>
        </p:sp>
        <p:grpSp>
          <p:nvGrpSpPr>
            <p:cNvPr id="79" name="end-note"/>
            <p:cNvGrpSpPr/>
            <p:nvPr/>
          </p:nvGrpSpPr>
          <p:grpSpPr>
            <a:xfrm>
              <a:off x="830961" y="4508500"/>
              <a:ext cx="4028846" cy="602552"/>
              <a:chOff x="830961" y="4508500"/>
              <a:chExt cx="4028846" cy="602552"/>
            </a:xfrm>
          </p:grpSpPr>
          <p:sp>
            <p:nvSpPr>
              <p:cNvPr id="77" name="TextBox 77"/>
              <p:cNvSpPr txBox="1"/>
              <p:nvPr/>
            </p:nvSpPr>
            <p:spPr>
              <a:xfrm>
                <a:off x="830961" y="4508500"/>
                <a:ext cx="253779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演示账号：admin / admin123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830961" y="4832350"/>
                <a:ext cx="402884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1420" dirty="0">
                    <a:solidFill>
                      <a:srgbClr val="8B98B5"/>
                    </a:solidFill>
                    <a:latin typeface="+mn-lt"/>
                    <a:ea typeface="+mn-ea"/>
                    <a:cs typeface="+mn-cs"/>
                  </a:rPr>
                  <a:t>在线地址与二维码见《使用指南》与提交材料。</a:t>
                </a:r>
              </a:p>
            </p:txBody>
          </p:sp>
        </p:grpSp>
        <p:sp>
          <p:nvSpPr>
            <p:cNvPr id="80" name="TextBox 80"/>
            <p:cNvSpPr txBox="1"/>
            <p:nvPr/>
          </p:nvSpPr>
          <p:spPr>
            <a:xfrm>
              <a:off x="832485" y="5956300"/>
              <a:ext cx="3057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F5D76E"/>
                  </a:solidFill>
                  <a:latin typeface="+mn-lt"/>
                  <a:ea typeface="+mn-ea"/>
                  <a:cs typeface="+mn-cs"/>
                </a:rPr>
                <a:t>2026 第九届传智杯 · AI WEB 网页开发挑战赛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stro_exploration_intro">
  <a:themeElements>
    <a:clrScheme name="astro_exploration_in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tro_exploration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stro_exploration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2026-10-30T12:10:09Z</dcterms:created>
  <dcterms:modified xsi:type="dcterms:W3CDTF">2026-10-30T12:10:09Z</dcterms:modified>
  <cp:category/>
  <cp:contentStatus/>
</cp:coreProperties>
</file>